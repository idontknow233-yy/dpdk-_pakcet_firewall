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3"/>
  </p:handoutMasterIdLst>
  <p:sldIdLst>
    <p:sldId id="1396" r:id="rId3"/>
    <p:sldId id="1397" r:id="rId5"/>
    <p:sldId id="1398" r:id="rId6"/>
    <p:sldId id="1399" r:id="rId7"/>
    <p:sldId id="1400" r:id="rId8"/>
    <p:sldId id="1401" r:id="rId9"/>
    <p:sldId id="1402" r:id="rId10"/>
    <p:sldId id="1403" r:id="rId11"/>
    <p:sldId id="1404" r:id="rId12"/>
    <p:sldId id="1405" r:id="rId13"/>
    <p:sldId id="1406" r:id="rId14"/>
    <p:sldId id="1407" r:id="rId15"/>
    <p:sldId id="1408" r:id="rId16"/>
    <p:sldId id="1409" r:id="rId17"/>
    <p:sldId id="1410" r:id="rId18"/>
    <p:sldId id="1411" r:id="rId19"/>
    <p:sldId id="1412" r:id="rId20"/>
    <p:sldId id="1413" r:id="rId21"/>
    <p:sldId id="1414" r:id="rId22"/>
    <p:sldId id="1415" r:id="rId23"/>
    <p:sldId id="1416" r:id="rId24"/>
    <p:sldId id="1417" r:id="rId25"/>
    <p:sldId id="1418" r:id="rId26"/>
    <p:sldId id="1419" r:id="rId27"/>
    <p:sldId id="1420" r:id="rId28"/>
    <p:sldId id="1421" r:id="rId29"/>
    <p:sldId id="1422" r:id="rId30"/>
    <p:sldId id="1423" r:id="rId31"/>
    <p:sldId id="1424" r:id="rId32"/>
    <p:sldId id="1425" r:id="rId33"/>
    <p:sldId id="1426" r:id="rId34"/>
    <p:sldId id="1427" r:id="rId35"/>
    <p:sldId id="1428" r:id="rId36"/>
    <p:sldId id="1429" r:id="rId37"/>
    <p:sldId id="1430" r:id="rId38"/>
    <p:sldId id="1431" r:id="rId39"/>
    <p:sldId id="1432" r:id="rId40"/>
    <p:sldId id="1433" r:id="rId41"/>
    <p:sldId id="1434" r:id="rId42"/>
  </p:sldIdLst>
  <p:sldSz cx="9144000" cy="5143500" type="screen16x9"/>
  <p:notesSz cx="6858000" cy="9144000"/>
  <p:custDataLst>
    <p:tags r:id="rId47"/>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等线"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等线"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等线"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等线"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等线" panose="02010600030101010101" pitchFamily="2" charset="-122"/>
        <a:cs typeface="+mn-cs"/>
      </a:defRPr>
    </a:lvl9pPr>
  </p:defaultTextStyle>
  <p:extLst>
    <p:ext uri="{EFAFB233-063F-42B5-8137-9DF3F51BA10A}">
      <p15:sldGuideLst xmlns:p15="http://schemas.microsoft.com/office/powerpoint/2012/main">
        <p15:guide id="1" orient="horz" pos="2120" userDrawn="1">
          <p15:clr>
            <a:srgbClr val="A4A3A4"/>
          </p15:clr>
        </p15:guide>
        <p15:guide id="2" orient="horz" pos="2393" userDrawn="1">
          <p15:clr>
            <a:srgbClr val="A4A3A4"/>
          </p15:clr>
        </p15:guide>
        <p15:guide id="3" pos="1828" userDrawn="1">
          <p15:clr>
            <a:srgbClr val="A4A3A4"/>
          </p15:clr>
        </p15:guide>
        <p15:guide id="4" pos="42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1E24"/>
    <a:srgbClr val="C55A11"/>
    <a:srgbClr val="4C65AB"/>
    <a:srgbClr val="EF9404"/>
    <a:srgbClr val="EE9304"/>
    <a:srgbClr val="04808E"/>
    <a:srgbClr val="C4C4C4"/>
    <a:srgbClr val="F4F4F4"/>
    <a:srgbClr val="00AFF3"/>
    <a:srgbClr val="252E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4" autoAdjust="0"/>
    <p:restoredTop sz="95314" autoAdjust="0"/>
  </p:normalViewPr>
  <p:slideViewPr>
    <p:cSldViewPr snapToGrid="0" showGuides="1">
      <p:cViewPr varScale="1">
        <p:scale>
          <a:sx n="83" d="100"/>
          <a:sy n="83" d="100"/>
        </p:scale>
        <p:origin x="220" y="40"/>
      </p:cViewPr>
      <p:guideLst>
        <p:guide orient="horz" pos="2120"/>
        <p:guide orient="horz" pos="2393"/>
        <p:guide pos="1828"/>
        <p:guide pos="42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744"/>
    </p:cViewPr>
  </p:sorterViewPr>
  <p:notesViewPr>
    <p:cSldViewPr snapToGrid="0">
      <p:cViewPr varScale="1">
        <p:scale>
          <a:sx n="83" d="100"/>
          <a:sy n="83" d="100"/>
        </p:scale>
        <p:origin x="3832"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187.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F453E1EB-7AC8-4084-AB66-AFB5B8F3CC39}" type="datetimeFigureOut">
              <a:rPr lang="zh-CN" altLang="en-US">
                <a:latin typeface="Times New Roman" panose="02020603050405020304" pitchFamily="18" charset="0"/>
                <a:ea typeface="微软雅黑" panose="020B0503020204020204" pitchFamily="34" charset="-122"/>
                <a:cs typeface="微软雅黑" panose="020B0503020204020204" pitchFamily="34" charset="-122"/>
              </a:rPr>
            </a:fld>
            <a:endParaRPr lang="zh-CN" altLang="en-US">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C5A47039-2502-4794-BD72-1CA8C942DD4D}" type="slidenum">
              <a:rPr lang="zh-CN" altLang="en-US">
                <a:latin typeface="Times New Roman" panose="02020603050405020304" pitchFamily="18" charset="0"/>
                <a:ea typeface="微软雅黑" panose="020B0503020204020204" pitchFamily="34" charset="-122"/>
                <a:cs typeface="微软雅黑" panose="020B0503020204020204" pitchFamily="34" charset="-122"/>
              </a:rPr>
            </a:fld>
            <a:endParaRPr lang="zh-CN" altLang="en-US">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6:14:42"/>
    </inkml:context>
    <inkml:brush xml:id="br0">
      <inkml:brushProperty name="width" value="0.35" units="cm"/>
      <inkml:brushProperty name="height" value="0.35" units="cm"/>
      <inkml:brushProperty name="color" value="#ffffff"/>
    </inkml:brush>
  </inkml:definitions>
  <inkml:trace contextRef="#ctx0" brushRef="#br0">342.000 10.000 24575,'314.000'-2.000'0,"755.000"22.000"0,-1034.000-18.000 0,-18.000-2.000 0,-1.000 1.000 0,1.000 1.000 0,0.000 0.000 0,-1.000 1.000 0,1.000 0.000 0,17.000 7.000 0,-28.000-1.000 0,-17.000 0.000 0,-15.000 0.000 0,-1.000-1.000 0,0.000-1.000 0,0.000-2.000 0,-38.000 4.000 0,20.000-3.000 0,-268.000 34.000 0,-416.000 1.000 0,714.000-41.000 0,1.000 0.000 0,0.000 0.000 0,0.000-2.000 0,0.000 0.000 0,-24.000-6.000 0,35.000 7.000 0,0.000 0.000 0,0.000-1.000 0,0.000 1.000 0,0.000-1.000 0,0.000 0.000 0,0.000 0.000 0,1.000 0.000 0,-1.000 0.000 0,1.000 0.000 0,-1.000-1.000 0,1.000 1.000 0,0.000-1.000 0,0.000 1.000 0,0.000-1.000 0,0.000 0.000 0,0.000 0.000 0,0.000 0.000 0,1.000 0.000 0,0.000 0.000 0,-1.000 0.000 0,1.000 0.000 0,0.000-1.000 0,1.000 1.000 0,-1.000 0.000 0,1.000-1.000 0,-1.000 1.000 0,1.000-7.000 0,0.000-8.000 0,-5.000-25.000 0,5.000 42.000 0,-1.000-1.000 0,0.000 0.000 0,0.000 0.000 0,-1.000 0.000 0,1.000 0.000 0,0.000 1.000 0,-1.000-1.000 0,1.000 1.000 0,-1.000-1.000 0,1.000 1.000 0,-1.000 0.000 0,1.000-1.000 0,-1.000 1.000 0,0.000 0.000 0,0.000 0.000 0,0.000 0.000 0,0.000 0.000 0,0.000 0.000 0,-3.000 0.000 0,-8.000-3.000 0,0.000 1.000 0,0.000 0.000 0,0.000 1.000 0,-1.000 1.000 0,1.000 0.000 0,0.000 1.000 0,-1.000 0.000 0,1.000 1.000 0,0.000 0.000 0,-22.000 6.000 0,31.000-5.000 0,1.000 0.000 0,-1.000 0.000 0,1.000 1.000 0,-1.000-1.000 0,1.000 1.000 0,0.000 0.000 0,0.000 0.000 0,1.000 0.000 0,-1.000 1.000 0,0.000-1.000 0,1.000 1.000 0,0.000-1.000 0,0.000 1.000 0,0.000 0.000 0,0.000-1.000 0,1.000 1.000 0,-1.000 0.000 0,1.000 0.000 0,0.000 0.000 0,0.000 1.000 0,1.000-1.000 0,-1.000 0.000 0,1.000 7.000 0,-1.000 12.000 0,1.000-1.000 0,5.000 44.000 0,-5.000-64.000 0,0.000 0.000 0,0.000 0.000 0,1.000 0.000 0,-1.000 0.000 0,1.000 0.000 0,-1.000 0.000 0,1.000 0.000 0,0.000 0.000 0,0.000 0.000 0,-1.000 0.000 0,1.000 0.000 0,1.000-1.000 0,-1.000 1.000 0,0.000 0.000 0,0.000-1.000 0,1.000 1.000 0,-1.000-1.000 0,1.000 1.000 0,-1.000-1.000 0,1.000 0.000 0,-1.000 1.000 0,1.000-1.000 0,0.000 0.000 0,0.000 0.000 0,0.000 0.000 0,0.000-1.000 0,-1.000 1.000 0,1.000 0.000 0,0.000-1.000 0,0.000 1.000 0,0.000-1.000 0,0.000 1.000 0,1.000-1.000 0,2.000 0.000 0,-2.000 0.000 0,0.000-1.000 0,0.000 1.000 0,-1.000-1.000 0,1.000 0.000 0,-1.000 1.000 0,1.000-1.000 0,0.000 0.000 0,-1.000 0.000 0,1.000-1.000 0,-1.000 1.000 0,0.000-1.000 0,0.000 1.000 0,1.000-1.000 0,-1.000 0.000 0,0.000 1.000 0,0.000-1.000 0,0.000 0.000 0,-1.000 0.000 0,1.000-1.000 0,0.000 1.000 0,-1.000 0.000 0,0.000-1.000 0,1.000 1.000 0,-1.000-1.000 0,0.000 1.000 0,1.000-4.000 0,0.000 1.000 0,-1.000 0.000 0,0.000 0.000 0,0.000 0.000 0,0.000 0.000 0,0.000 0.000 0,-1.000 0.000 0,0.000 0.000 0,0.000-1.000 0,0.000 1.000 0,-1.000 0.000 0,0.000 0.000 0,0.000 0.000 0,-3.000-8.000 0,3.000 11.000 0,0.000 0.000 0,0.000 0.000 0,-1.000 0.000 0,1.000 0.000 0,-1.000 1.000 0,1.000-1.000 0,-1.000 0.000 0,0.000 1.000 0,1.000 0.000 0,-1.000-1.000 0,0.000 1.000 0,0.000 0.000 0,0.000 0.000 0,0.000 0.000 0,0.000 0.000 0,0.000 0.000 0,0.000 0.000 0,-1.000 1.000 0,1.000-1.000 0,0.000 1.000 0,0.000 0.000 0,-1.000-1.000 0,1.000 1.000 0,0.000 0.000 0,0.000 0.000 0,-1.000 1.000 0,1.000-1.000 0,0.000 0.000 0,0.000 1.000 0,-1.000-1.000 0,1.000 1.000 0,-4.000 1.000 0,-7.000 2.000 0,0.000 1.000 0,1.000 0.000 0,-1.000 1.000 0,1.000 0.000 0,0.000 1.000 0,1.000 1.000 0,0.000-1.000 0,0.000 2.000 0,0.000-1.000 0,1.000 2.000 0,0.000-1.000 0,1.000 1.000 0,0.000 1.000 0,1.000 0.000 0,-11.000 17.000 0,9.000-11.000 0,1.000 1.000 0,0.000 0.000 0,1.000 0.000 0,1.000 1.000 0,1.000-1.000 0,1.000 2.000 0,1.000-1.000 0,0.000 0.000 0,1.000 1.000 0,0.000 24.000 0,3.000-40.000 0,0.000-1.000 0,0.000 0.000 0,0.000 1.000 0,0.000-1.000 0,0.000 0.000 0,1.000 1.000 0,0.000-1.000 0,0.000 0.000 0,0.000 1.000 0,0.000-1.000 0,0.000 0.000 0,1.000 0.000 0,-1.000 0.000 0,1.000 0.000 0,0.000 0.000 0,0.000 0.000 0,0.000-1.000 0,0.000 1.000 0,0.000-1.000 0,1.000 1.000 0,-1.000-1.000 0,1.000 0.000 0,0.000 0.000 0,0.000 0.000 0,-1.000 0.000 0,1.000 0.000 0,0.000-1.000 0,0.000 1.000 0,1.000-1.000 0,-1.000 0.000 0,4.000 1.000 0,9.000 1.000 0,1.000 0.000 0,-1.000-2.000 0,0.000 0.000 0,1.000-1.000 0,21.000-2.000 0,-1.000 1.000 0,-1.000-1.000 0,0.000-1.000 0,0.000-2.000 0,-1.000-2.000 0,0.000-1.000 0,0.000-2.000 0,0.000-1.000 0,-2.000-2.000 0,1.000-1.000 0,40.000-24.000 0,-55.000 29.000 0,1.000 1.000 0,0.000 0.000 0,0.000 1.000 0,1.000 1.000 0,-1.000 1.000 0,35.000-3.000 0,126.000 3.000 0,-148.000 6.000 0,2.000-2.000 0,25.000 1.000 0,-45.000 2.000 0,-22.000 1.000 0,-2.000 0.000 0,10.000 0.000 0,17.000 0.000 0,34.000-2.000 0,66.000-4.000 0,436.000-8.000 0,-377.000-6.000 0,3346.000 17.000 0,-3389.000 6.000 0,216.000 35.000 0,521.000 54.000 0,-704.000-77.000 0,84.000 4.000 0,-78.000-23.000 0,-10.000 0.000 0,168.000 20.000 0,-120.000-3.000 0,241.000-12.000 0,-234.000-6.000 0,29.000 0.000 0,265.000 4.000 0,-248.000 25.000 0,-165.000-14.000 0,131.000 1.000 0,224.000 5.000 0,-179.000-3.000 0,612.000 2.000 0,-687.000-16.000 0,208.000-4.000 0,-391.000-2.000 0,-38.000-2.000 0,-210.000-23.000 0,81.000 12.000 0,-130.000-25.000 0,-190.000-21.000 0,180.000 60.000 0,156.000 5.000 0,-975.000-2.000 0,4081.000 0.000 0,-2925.000-2.000 0,79.000-14.000 0,-79.000 8.000 0,88.000-3.000 0,37.000 11.000 0,368.000 16.000 0,-503.000-14.000 0,-8.000 0.000 0,-25.000-2.000 0,-11.000 0.000 0,-345.000 0.000 0,3446.000 0.000 0,-3049.000 2.000 0,-1.000 2.000 0,75.000 18.000 0,-65.000-11.000 0,65.000 6.000 0,-5.000 1.000 98,-52.000-7.000-1561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fld id="{AABD5E24-F3CF-4792-B0B9-6E36DE4F8A10}"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fld id="{1F0C2649-ED73-406C-B2E0-6513218D1264}"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92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5F096452-94E2-4F1B-AF69-B761A7CEE78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215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D2E8AE4-4E1B-4377-84F9-82D41E001EBC}"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215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D2E8AE4-4E1B-4377-84F9-82D41E001EBC}" type="slidenum">
              <a:rPr kumimoji="0" lang="zh-CN" altLang="en-US" sz="12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rPr>
            </a:fld>
            <a:endParaRPr kumimoji="0" lang="zh-CN" altLang="en-US" sz="12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56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256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B90B4466-210A-4F06-8D6F-DD439F66144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276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C7532FD1-07BE-4628-9A59-06E655C81B81}"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31748" name="灯片编号占位符 3"/>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r" defTabSz="914400" eaLnBrk="1" fontAlgn="base" hangingPunct="1"/>
            <a:fld id="{E4D96405-8D38-4C15-93A8-30F753765BC9}" type="slidenum">
              <a:rPr lang="zh-CN" altLang="en-US" sz="1200">
                <a:latin typeface="Times New Roman" panose="02020603050405020304" pitchFamily="18" charset="0"/>
                <a:ea typeface="微软雅黑" panose="020B0503020204020204" pitchFamily="34" charset="-122"/>
                <a:cs typeface="微软雅黑" panose="020B0503020204020204" pitchFamily="34" charset="-122"/>
              </a:rPr>
            </a:fld>
            <a:endParaRPr lang="zh-CN" altLang="en-US" sz="1200">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358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10BA5FC1-052D-4667-9FB6-466FBFCFA6E4}"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645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E3C44D7B-92FD-4B13-AC9E-B2D828BECD75}"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460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A7CECB78-43C6-470E-8650-BA12FE6A422D}"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558DA6E-87D5-4C73-92B7-A774733518A7}"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558DA6E-87D5-4C73-92B7-A774733518A7}"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475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
        <p:nvSpPr>
          <p:cNvPr id="747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fontAlgn="base">
              <a:spcBef>
                <a:spcPct val="0"/>
              </a:spcBef>
              <a:spcAft>
                <a:spcPct val="0"/>
              </a:spcAft>
            </a:pPr>
            <a:fld id="{47C457D2-A7CE-41B8-94D2-3C65FAAAB956}" type="slidenum">
              <a:rPr lang="zh-CN" altLang="en-US">
                <a:ea typeface="微软雅黑" panose="020B0503020204020204" pitchFamily="34" charset="-122"/>
              </a:rPr>
            </a:fld>
            <a:endParaRPr lang="zh-CN" altLang="en-US">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FDBF9904-C0DA-4652-9CA7-7FF5C10A801F}"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2C83FF5A-E9C8-4170-9FB1-603E3B2596F0}"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4792F8A8-8736-49DF-B7C7-43EFC73D05F2}"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21E1FACA-81EA-42C8-8EF9-92E947042A97}"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lvl1pPr>
              <a:defRPr/>
            </a:lvl1pPr>
          </a:lstStyle>
          <a:p>
            <a:pPr>
              <a:defRPr/>
            </a:pPr>
            <a:fld id="{FEC3DEA3-F532-4296-8410-782B15684FC7}"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7C6C93B9-0E0A-4CE0-AC7F-B260C68BC3D2}"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fld id="{1AC2976B-A5ED-4B3E-A86C-E6E87A79A3E1}" type="datetime1">
              <a:rPr lang="zh-CN" altLang="en-US" smtClean="0"/>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6E02106-F6F8-4FCE-B876-F0B83504BB47}"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fld id="{C5459708-4069-4DAA-9D75-B428673ED9B7}" type="datetime1">
              <a:rPr lang="zh-CN" altLang="en-US" smtClean="0"/>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466FA622-7E50-4E8B-9A8A-78A6B3E0BC4A}"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F018184C-8989-4A17-A985-BB919149B338}" type="datetime1">
              <a:rPr lang="zh-CN" altLang="en-US" smtClean="0"/>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1AB400F9-733E-40CF-902A-1BCF22F148F3}"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1C6F18A-20B1-41CD-87A6-6C95403CC62C}" type="datetime1">
              <a:rPr lang="zh-CN" altLang="en-US" smtClean="0"/>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9D7FB50A-21F2-458D-A866-C28238552B96}"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3"/>
          <p:cNvSpPr>
            <a:spLocks noGrp="1"/>
          </p:cNvSpPr>
          <p:nvPr>
            <p:ph type="dt" sz="half" idx="10"/>
          </p:nvPr>
        </p:nvSpPr>
        <p:spPr/>
        <p:txBody>
          <a:bodyPr/>
          <a:lstStyle>
            <a:lvl1pPr>
              <a:defRPr/>
            </a:lvl1pPr>
          </a:lstStyle>
          <a:p>
            <a:pPr>
              <a:defRPr/>
            </a:pPr>
            <a:fld id="{3C5ACE0E-1305-4225-8F43-FC171DFEC07B}" type="datetime1">
              <a:rPr lang="zh-CN" altLang="en-US" smtClean="0"/>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3E9F1574-C53B-434E-B2FB-0521E6320F40}"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3"/>
          <p:cNvSpPr>
            <a:spLocks noGrp="1"/>
          </p:cNvSpPr>
          <p:nvPr>
            <p:ph type="dt" sz="half" idx="10"/>
          </p:nvPr>
        </p:nvSpPr>
        <p:spPr/>
        <p:txBody>
          <a:bodyPr/>
          <a:lstStyle>
            <a:lvl1pPr>
              <a:defRPr/>
            </a:lvl1pPr>
          </a:lstStyle>
          <a:p>
            <a:pPr>
              <a:defRPr/>
            </a:pPr>
            <a:fld id="{B97C9CC6-5B56-4A97-90AF-4D377CF99C3F}" type="datetime1">
              <a:rPr lang="zh-CN" altLang="en-US" smtClean="0"/>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0E187E92-E9A7-43D1-B7E6-D77A1C0952A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8AFD4DAF-216F-481B-A33C-48764F81C2B6}"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95BA799E-7F11-4696-8A59-BF3641B5C8DD}"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2BECE9BD-80C0-4F2F-8B70-B5E24744B169}"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D3C14811-26DE-4B86-9009-1F624F4BFCC5}"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直接连接符 37"/>
          <p:cNvSpPr>
            <a:spLocks noChangeShapeType="1"/>
          </p:cNvSpPr>
          <p:nvPr userDrawn="1"/>
        </p:nvSpPr>
        <p:spPr bwMode="auto">
          <a:xfrm>
            <a:off x="828675" y="615950"/>
            <a:ext cx="5751513" cy="0"/>
          </a:xfrm>
          <a:prstGeom prst="line">
            <a:avLst/>
          </a:prstGeom>
          <a:noFill/>
          <a:ln w="28575" cap="flat" cmpd="sng">
            <a:solidFill>
              <a:srgbClr val="002060"/>
            </a:solidFill>
            <a:bevel/>
          </a:ln>
        </p:spPr>
        <p:txBody>
          <a:bodyPr/>
          <a:lstStyle/>
          <a:p>
            <a:pPr eaLnBrk="1" fontAlgn="auto" hangingPunct="1">
              <a:spcBef>
                <a:spcPts val="0"/>
              </a:spcBef>
              <a:spcAft>
                <a:spcPts val="0"/>
              </a:spcAft>
              <a:defRPr/>
            </a:pPr>
            <a:endParaRPr lang="zh-CN" altLang="en-US" sz="1015">
              <a:latin typeface="+mn-lt"/>
              <a:ea typeface="+mn-ea"/>
              <a:cs typeface="微软雅黑" panose="020B0503020204020204" pitchFamily="34" charset="-122"/>
            </a:endParaRPr>
          </a:p>
        </p:txBody>
      </p:sp>
      <p:grpSp>
        <p:nvGrpSpPr>
          <p:cNvPr id="3" name="组合 2"/>
          <p:cNvGrpSpPr/>
          <p:nvPr userDrawn="1"/>
        </p:nvGrpSpPr>
        <p:grpSpPr>
          <a:xfrm>
            <a:off x="411662" y="386744"/>
            <a:ext cx="373553" cy="297405"/>
            <a:chOff x="4025524" y="1796336"/>
            <a:chExt cx="527539" cy="560004"/>
          </a:xfrm>
          <a:solidFill>
            <a:schemeClr val="accent5">
              <a:lumMod val="75000"/>
            </a:schemeClr>
          </a:solidFill>
        </p:grpSpPr>
        <p:sp>
          <p:nvSpPr>
            <p:cNvPr id="4" name="矩形 3"/>
            <p:cNvSpPr/>
            <p:nvPr/>
          </p:nvSpPr>
          <p:spPr>
            <a:xfrm>
              <a:off x="4201370" y="1796336"/>
              <a:ext cx="351693" cy="373335"/>
            </a:xfrm>
            <a:prstGeom prst="rect">
              <a:avLst/>
            </a:prstGeom>
            <a:grpFill/>
            <a:ln>
              <a:solidFill>
                <a:schemeClr val="bg1"/>
              </a:solidFill>
            </a:ln>
          </p:spPr>
          <p:style>
            <a:lnRef idx="3">
              <a:schemeClr val="lt1"/>
            </a:lnRef>
            <a:fillRef idx="1">
              <a:schemeClr val="accent6"/>
            </a:fillRef>
            <a:effectRef idx="1">
              <a:schemeClr val="accent6"/>
            </a:effectRef>
            <a:fontRef idx="minor">
              <a:schemeClr val="lt1"/>
            </a:fontRef>
          </p:style>
          <p:txBody>
            <a:bodyPr anchor="ctr"/>
            <a:lstStyle/>
            <a:p>
              <a:pPr algn="ctr" eaLnBrk="1" fontAlgn="auto" hangingPunct="1">
                <a:spcBef>
                  <a:spcPts val="0"/>
                </a:spcBef>
                <a:spcAft>
                  <a:spcPts val="0"/>
                </a:spcAft>
                <a:defRPr/>
              </a:pPr>
              <a:endParaRPr lang="zh-CN" altLang="en-US" sz="1350">
                <a:cs typeface="微软雅黑" panose="020B0503020204020204" pitchFamily="34" charset="-122"/>
              </a:endParaRPr>
            </a:p>
          </p:txBody>
        </p:sp>
        <p:sp>
          <p:nvSpPr>
            <p:cNvPr id="5" name="矩形 4"/>
            <p:cNvSpPr/>
            <p:nvPr/>
          </p:nvSpPr>
          <p:spPr>
            <a:xfrm>
              <a:off x="4025524" y="1983004"/>
              <a:ext cx="351692" cy="373336"/>
            </a:xfrm>
            <a:prstGeom prst="rect">
              <a:avLst/>
            </a:prstGeom>
            <a:grpFill/>
            <a:ln>
              <a:solidFill>
                <a:schemeClr val="bg1"/>
              </a:solidFill>
            </a:ln>
          </p:spPr>
          <p:style>
            <a:lnRef idx="3">
              <a:schemeClr val="lt1"/>
            </a:lnRef>
            <a:fillRef idx="1">
              <a:schemeClr val="accent6"/>
            </a:fillRef>
            <a:effectRef idx="1">
              <a:schemeClr val="accent6"/>
            </a:effectRef>
            <a:fontRef idx="minor">
              <a:schemeClr val="lt1"/>
            </a:fontRef>
          </p:style>
          <p:txBody>
            <a:bodyPr anchor="ctr"/>
            <a:lstStyle/>
            <a:p>
              <a:pPr algn="ctr" eaLnBrk="1" fontAlgn="auto" hangingPunct="1">
                <a:spcBef>
                  <a:spcPts val="0"/>
                </a:spcBef>
                <a:spcAft>
                  <a:spcPts val="0"/>
                </a:spcAft>
                <a:defRPr/>
              </a:pPr>
              <a:endParaRPr lang="zh-CN" altLang="en-US" sz="1350">
                <a:cs typeface="微软雅黑" panose="020B0503020204020204" pitchFamily="34" charset="-122"/>
              </a:endParaRPr>
            </a:p>
          </p:txBody>
        </p:sp>
      </p:grpSp>
      <p:sp>
        <p:nvSpPr>
          <p:cNvPr id="9" name="bk object 17"/>
          <p:cNvSpPr/>
          <p:nvPr userDrawn="1"/>
        </p:nvSpPr>
        <p:spPr>
          <a:xfrm>
            <a:off x="8751888" y="84138"/>
            <a:ext cx="357187" cy="633412"/>
          </a:xfrm>
          <a:prstGeom prst="rect">
            <a:avLst/>
          </a:prstGeom>
          <a:blipFill>
            <a:blip r:embed="rId2" cstate="print"/>
            <a:stretch>
              <a:fillRect/>
            </a:stretch>
          </a:blipFill>
        </p:spPr>
        <p:txBody>
          <a:bodyPr lIns="0" tIns="0" rIns="0" bIns="0"/>
          <a:lstStyle/>
          <a:p>
            <a:pPr eaLnBrk="1" fontAlgn="auto" hangingPunct="1">
              <a:spcBef>
                <a:spcPts val="0"/>
              </a:spcBef>
              <a:spcAft>
                <a:spcPts val="0"/>
              </a:spcAft>
              <a:defRPr/>
            </a:pPr>
            <a:endParaRPr sz="1350">
              <a:latin typeface="+mn-lt"/>
              <a:ea typeface="微软雅黑" panose="020B0503020204020204" pitchFamily="34" charset="-122"/>
              <a:cs typeface="微软雅黑" panose="020B0503020204020204" pitchFamily="34" charset="-122"/>
            </a:endParaRPr>
          </a:p>
        </p:txBody>
      </p:sp>
      <p:sp>
        <p:nvSpPr>
          <p:cNvPr id="10" name="日期占位符 4"/>
          <p:cNvSpPr>
            <a:spLocks noGrp="1"/>
          </p:cNvSpPr>
          <p:nvPr>
            <p:ph type="dt" sz="half" idx="10"/>
          </p:nvPr>
        </p:nvSpPr>
        <p:spPr/>
        <p:txBody>
          <a:bodyPr/>
          <a:lstStyle>
            <a:lvl1pPr>
              <a:defRPr/>
            </a:lvl1pPr>
          </a:lstStyle>
          <a:p>
            <a:pPr>
              <a:defRPr/>
            </a:pPr>
            <a:fld id="{C0A7460A-6650-4954-8770-359A11600282}" type="datetime1">
              <a:rPr lang="zh-CN" altLang="en-US" smtClean="0"/>
            </a:fld>
            <a:endParaRPr lang="zh-CN" altLang="en-US"/>
          </a:p>
        </p:txBody>
      </p:sp>
      <p:sp>
        <p:nvSpPr>
          <p:cNvPr id="11" name="页脚占位符 5"/>
          <p:cNvSpPr>
            <a:spLocks noGrp="1"/>
          </p:cNvSpPr>
          <p:nvPr>
            <p:ph type="ftr" sz="quarter" idx="11"/>
          </p:nvPr>
        </p:nvSpPr>
        <p:spPr/>
        <p:txBody>
          <a:bodyPr/>
          <a:lstStyle>
            <a:lvl1pPr>
              <a:defRPr dirty="0"/>
            </a:lvl1pPr>
          </a:lstStyle>
          <a:p>
            <a:pPr>
              <a:defRPr/>
            </a:pPr>
            <a:endParaRPr lang="zh-CN" altLang="en-US"/>
          </a:p>
        </p:txBody>
      </p:sp>
      <p:pic>
        <p:nvPicPr>
          <p:cNvPr id="12" name="图片 11" descr="徽标, 公司名称&#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rcRect t="39104" b="19615"/>
          <a:stretch>
            <a:fillRect/>
          </a:stretch>
        </p:blipFill>
        <p:spPr>
          <a:xfrm>
            <a:off x="6882095" y="84138"/>
            <a:ext cx="1745275" cy="6334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结尾">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ltLang="zh-CN"/>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eaLnBrk="1" fontAlgn="auto" hangingPunct="1">
              <a:spcBef>
                <a:spcPts val="0"/>
              </a:spcBef>
              <a:spcAft>
                <a:spcPts val="0"/>
              </a:spcAft>
              <a:defRPr sz="900" smtClean="0">
                <a:solidFill>
                  <a:schemeClr val="tx1">
                    <a:tint val="75000"/>
                  </a:schemeClr>
                </a:solidFill>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fld id="{DB15BEF1-0C3C-4DEE-B9A3-420E85E6E4EE}" type="datetime1">
              <a:rPr lang="zh-CN" altLang="en-US" smtClean="0"/>
            </a:fld>
            <a:endParaRPr lang="zh-CN" alt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endParaRPr lang="zh-CN" alt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Times New Roman" panose="02020603050405020304" pitchFamily="18" charset="0"/>
                <a:ea typeface="微软雅黑" panose="020B0503020204020204" pitchFamily="34" charset="-122"/>
                <a:cs typeface="微软雅黑" panose="020B0503020204020204" pitchFamily="34" charset="-122"/>
              </a:defRPr>
            </a:lvl1pPr>
          </a:lstStyle>
          <a:p>
            <a:pPr>
              <a:defRPr/>
            </a:pPr>
            <a:fld id="{EFA6E768-C88D-4F10-8B6C-F0C93C9FC58F}"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685800" rtl="0" fontAlgn="base">
        <a:lnSpc>
          <a:spcPct val="90000"/>
        </a:lnSpc>
        <a:spcBef>
          <a:spcPct val="0"/>
        </a:spcBef>
        <a:spcAft>
          <a:spcPct val="0"/>
        </a:spcAft>
        <a:defRPr sz="33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等线 Light"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2.xml"/><Relationship Id="rId20" Type="http://schemas.openxmlformats.org/officeDocument/2006/relationships/slideLayout" Target="../slideLayouts/slideLayout7.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image" Target="../media/image8.pn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slideLayout" Target="../slideLayouts/slideLayout13.xml"/><Relationship Id="rId18" Type="http://schemas.openxmlformats.org/officeDocument/2006/relationships/image" Target="../media/image12.png"/><Relationship Id="rId17" Type="http://schemas.openxmlformats.org/officeDocument/2006/relationships/image" Target="../media/image11.png"/><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emf"/><Relationship Id="rId3" Type="http://schemas.openxmlformats.org/officeDocument/2006/relationships/oleObject" Target="../embeddings/oleObject2.bin"/><Relationship Id="rId2" Type="http://schemas.openxmlformats.org/officeDocument/2006/relationships/image" Target="../media/image16.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1" Type="http://schemas.openxmlformats.org/officeDocument/2006/relationships/notesSlide" Target="../notesSlides/notesSlide9.xml"/><Relationship Id="rId20" Type="http://schemas.openxmlformats.org/officeDocument/2006/relationships/slideLayout" Target="../slideLayouts/slideLayout7.xml"/><Relationship Id="rId2" Type="http://schemas.openxmlformats.org/officeDocument/2006/relationships/tags" Target="../tags/tag30.xml"/><Relationship Id="rId19" Type="http://schemas.openxmlformats.org/officeDocument/2006/relationships/tags" Target="../tags/tag4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1" Type="http://schemas.openxmlformats.org/officeDocument/2006/relationships/notesSlide" Target="../notesSlides/notesSlide11.xml"/><Relationship Id="rId10" Type="http://schemas.openxmlformats.org/officeDocument/2006/relationships/slideLayout" Target="../slideLayouts/slideLayout13.xml"/><Relationship Id="rId1" Type="http://schemas.openxmlformats.org/officeDocument/2006/relationships/tags" Target="../tags/tag48.xml"/></Relationships>
</file>

<file path=ppt/slides/_rels/slide14.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1" Type="http://schemas.openxmlformats.org/officeDocument/2006/relationships/notesSlide" Target="../notesSlides/notesSlide12.xml"/><Relationship Id="rId20" Type="http://schemas.openxmlformats.org/officeDocument/2006/relationships/slideLayout" Target="../slideLayouts/slideLayout7.xml"/><Relationship Id="rId2" Type="http://schemas.openxmlformats.org/officeDocument/2006/relationships/tags" Target="../tags/tag58.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3.xml"/><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3.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vmlDrawing" Target="../drawings/vmlDrawing2.vml"/><Relationship Id="rId6"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4.wmf"/><Relationship Id="rId11" Type="http://schemas.openxmlformats.org/officeDocument/2006/relationships/notesSlide" Target="../notesSlides/notesSlide17.xml"/><Relationship Id="rId10" Type="http://schemas.openxmlformats.org/officeDocument/2006/relationships/vmlDrawing" Target="../drawings/vmlDrawing3.vml"/><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vmlDrawing" Target="../drawings/vmlDrawing4.vml"/><Relationship Id="rId4" Type="http://schemas.openxmlformats.org/officeDocument/2006/relationships/slideLayout" Target="../slideLayouts/slideLayout13.xml"/><Relationship Id="rId3" Type="http://schemas.openxmlformats.org/officeDocument/2006/relationships/image" Target="../media/image24.wmf"/><Relationship Id="rId2" Type="http://schemas.openxmlformats.org/officeDocument/2006/relationships/oleObject" Target="../embeddings/oleObject5.bin"/><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1" Type="http://schemas.openxmlformats.org/officeDocument/2006/relationships/notesSlide" Target="../notesSlides/notesSlide20.xml"/><Relationship Id="rId20" Type="http://schemas.openxmlformats.org/officeDocument/2006/relationships/slideLayout" Target="../slideLayouts/slideLayout7.xml"/><Relationship Id="rId2" Type="http://schemas.openxmlformats.org/officeDocument/2006/relationships/tags" Target="../tags/tag77.xml"/><Relationship Id="rId19" Type="http://schemas.openxmlformats.org/officeDocument/2006/relationships/tags" Target="../tags/tag94.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image" Target="../media/image41.png"/><Relationship Id="rId13" Type="http://schemas.openxmlformats.org/officeDocument/2006/relationships/notesSlide" Target="../notesSlides/notesSlide22.xml"/><Relationship Id="rId12" Type="http://schemas.openxmlformats.org/officeDocument/2006/relationships/slideLayout" Target="../slideLayouts/slideLayout13.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26.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image" Target="../media/image43.png"/><Relationship Id="rId13" Type="http://schemas.openxmlformats.org/officeDocument/2006/relationships/notesSlide" Target="../notesSlides/notesSlide24.xml"/><Relationship Id="rId12" Type="http://schemas.openxmlformats.org/officeDocument/2006/relationships/slideLayout" Target="../slideLayouts/slideLayout13.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5.xml"/></Relationships>
</file>

<file path=ppt/slides/_rels/slide27.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image" Target="../media/image44.png"/><Relationship Id="rId13" Type="http://schemas.openxmlformats.org/officeDocument/2006/relationships/notesSlide" Target="../notesSlides/notesSlide25.xml"/><Relationship Id="rId12" Type="http://schemas.openxmlformats.org/officeDocument/2006/relationships/slideLayout" Target="../slideLayouts/slideLayout13.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5.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3.xml"/><Relationship Id="rId4" Type="http://schemas.openxmlformats.org/officeDocument/2006/relationships/image" Target="../media/image42.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1.png"/></Relationships>
</file>

<file path=ppt/slides/_rels/slide29.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1" Type="http://schemas.openxmlformats.org/officeDocument/2006/relationships/notesSlide" Target="../notesSlides/notesSlide27.xml"/><Relationship Id="rId20" Type="http://schemas.openxmlformats.org/officeDocument/2006/relationships/slideLayout" Target="../slideLayouts/slideLayout7.xml"/><Relationship Id="rId2" Type="http://schemas.openxmlformats.org/officeDocument/2006/relationships/tags" Target="../tags/tag126.xml"/><Relationship Id="rId19" Type="http://schemas.openxmlformats.org/officeDocument/2006/relationships/tags" Target="../tags/tag143.xml"/><Relationship Id="rId18" Type="http://schemas.openxmlformats.org/officeDocument/2006/relationships/tags" Target="../tags/tag142.xml"/><Relationship Id="rId17" Type="http://schemas.openxmlformats.org/officeDocument/2006/relationships/tags" Target="../tags/tag141.xml"/><Relationship Id="rId16" Type="http://schemas.openxmlformats.org/officeDocument/2006/relationships/tags" Target="../tags/tag140.xml"/><Relationship Id="rId15" Type="http://schemas.openxmlformats.org/officeDocument/2006/relationships/tags" Target="../tags/tag139.xml"/><Relationship Id="rId14" Type="http://schemas.openxmlformats.org/officeDocument/2006/relationships/tags" Target="../tags/tag138.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tags" Target="../tags/tag1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image" Target="../media/image45.png"/><Relationship Id="rId16" Type="http://schemas.openxmlformats.org/officeDocument/2006/relationships/notesSlide" Target="../notesSlides/notesSlide29.xml"/><Relationship Id="rId15" Type="http://schemas.openxmlformats.org/officeDocument/2006/relationships/slideLayout" Target="../slideLayouts/slideLayout13.xml"/><Relationship Id="rId14" Type="http://schemas.openxmlformats.org/officeDocument/2006/relationships/tags" Target="../tags/tag156.xml"/><Relationship Id="rId13" Type="http://schemas.openxmlformats.org/officeDocument/2006/relationships/tags" Target="../tags/tag155.xml"/><Relationship Id="rId12" Type="http://schemas.openxmlformats.org/officeDocument/2006/relationships/tags" Target="../tags/tag154.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tags" Target="../tags/tag14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3.xml"/><Relationship Id="rId2" Type="http://schemas.openxmlformats.org/officeDocument/2006/relationships/image" Target="../media/image47.png"/><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image" Target="../media/image49.png"/><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image" Target="../media/image48.png"/><Relationship Id="rId3" Type="http://schemas.openxmlformats.org/officeDocument/2006/relationships/tags" Target="../tags/tag159.xml"/><Relationship Id="rId2" Type="http://schemas.openxmlformats.org/officeDocument/2006/relationships/tags" Target="../tags/tag158.xml"/><Relationship Id="rId15" Type="http://schemas.openxmlformats.org/officeDocument/2006/relationships/notesSlide" Target="../notesSlides/notesSlide32.xml"/><Relationship Id="rId14" Type="http://schemas.openxmlformats.org/officeDocument/2006/relationships/slideLayout" Target="../slideLayouts/slideLayout13.xml"/><Relationship Id="rId13" Type="http://schemas.openxmlformats.org/officeDocument/2006/relationships/tags" Target="../tags/tag167.xml"/><Relationship Id="rId12" Type="http://schemas.openxmlformats.org/officeDocument/2006/relationships/tags" Target="../tags/tag166.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1" Type="http://schemas.openxmlformats.org/officeDocument/2006/relationships/notesSlide" Target="../notesSlides/notesSlide34.xml"/><Relationship Id="rId20" Type="http://schemas.openxmlformats.org/officeDocument/2006/relationships/slideLayout" Target="../slideLayouts/slideLayout7.xml"/><Relationship Id="rId2" Type="http://schemas.openxmlformats.org/officeDocument/2006/relationships/tags" Target="../tags/tag169.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tags" Target="../tags/tag16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50.png"/><Relationship Id="rId1"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4"/>
          <p:cNvSpPr>
            <a:spLocks noChangeArrowheads="1"/>
          </p:cNvSpPr>
          <p:nvPr/>
        </p:nvSpPr>
        <p:spPr bwMode="auto">
          <a:xfrm>
            <a:off x="38100" y="1073149"/>
            <a:ext cx="9067800" cy="1189715"/>
          </a:xfrm>
          <a:prstGeom prst="rect">
            <a:avLst/>
          </a:prstGeom>
          <a:solidFill>
            <a:srgbClr val="7DB0DF">
              <a:alpha val="67451"/>
            </a:srgbClr>
          </a:solidFill>
          <a:ln>
            <a:noFill/>
          </a:ln>
        </p:spPr>
        <p:txBody>
          <a:bodyPr wrap="none" anchor="ctr"/>
          <a:lstStyle>
            <a:lvl1pPr defTabSz="1019175">
              <a:defRPr sz="1100">
                <a:solidFill>
                  <a:schemeClr val="tx1"/>
                </a:solidFill>
                <a:latin typeface="Arial" panose="020B0604020202020204" pitchFamily="34" charset="0"/>
                <a:ea typeface="楷体_GB2312" pitchFamily="49" charset="-122"/>
              </a:defRPr>
            </a:lvl1pPr>
            <a:lvl2pPr marL="742950" indent="-285750" defTabSz="1019175">
              <a:defRPr sz="1100">
                <a:solidFill>
                  <a:schemeClr val="tx1"/>
                </a:solidFill>
                <a:latin typeface="Arial" panose="020B0604020202020204" pitchFamily="34" charset="0"/>
                <a:ea typeface="楷体_GB2312" pitchFamily="49" charset="-122"/>
              </a:defRPr>
            </a:lvl2pPr>
            <a:lvl3pPr marL="1143000" indent="-228600" defTabSz="1019175">
              <a:defRPr sz="1100">
                <a:solidFill>
                  <a:schemeClr val="tx1"/>
                </a:solidFill>
                <a:latin typeface="Arial" panose="020B0604020202020204" pitchFamily="34" charset="0"/>
                <a:ea typeface="楷体_GB2312" pitchFamily="49" charset="-122"/>
              </a:defRPr>
            </a:lvl3pPr>
            <a:lvl4pPr marL="1600200" indent="-228600" defTabSz="1019175">
              <a:defRPr sz="1100">
                <a:solidFill>
                  <a:schemeClr val="tx1"/>
                </a:solidFill>
                <a:latin typeface="Arial" panose="020B0604020202020204" pitchFamily="34" charset="0"/>
                <a:ea typeface="楷体_GB2312" pitchFamily="49" charset="-122"/>
              </a:defRPr>
            </a:lvl4pPr>
            <a:lvl5pPr marL="2057400" indent="-228600" defTabSz="1019175">
              <a:defRPr sz="1100">
                <a:solidFill>
                  <a:schemeClr val="tx1"/>
                </a:solidFill>
                <a:latin typeface="Arial" panose="020B0604020202020204" pitchFamily="34" charset="0"/>
                <a:ea typeface="楷体_GB2312" pitchFamily="49" charset="-122"/>
              </a:defRPr>
            </a:lvl5pPr>
            <a:lvl6pPr marL="2514600" indent="-228600" defTabSz="1019175" eaLnBrk="0" fontAlgn="base" hangingPunct="0">
              <a:spcBef>
                <a:spcPct val="0"/>
              </a:spcBef>
              <a:spcAft>
                <a:spcPct val="0"/>
              </a:spcAft>
              <a:defRPr sz="1100">
                <a:solidFill>
                  <a:schemeClr val="tx1"/>
                </a:solidFill>
                <a:latin typeface="Arial" panose="020B0604020202020204" pitchFamily="34" charset="0"/>
                <a:ea typeface="楷体_GB2312" pitchFamily="49" charset="-122"/>
              </a:defRPr>
            </a:lvl6pPr>
            <a:lvl7pPr marL="2971800" indent="-228600" defTabSz="1019175" eaLnBrk="0" fontAlgn="base" hangingPunct="0">
              <a:spcBef>
                <a:spcPct val="0"/>
              </a:spcBef>
              <a:spcAft>
                <a:spcPct val="0"/>
              </a:spcAft>
              <a:defRPr sz="1100">
                <a:solidFill>
                  <a:schemeClr val="tx1"/>
                </a:solidFill>
                <a:latin typeface="Arial" panose="020B0604020202020204" pitchFamily="34" charset="0"/>
                <a:ea typeface="楷体_GB2312" pitchFamily="49" charset="-122"/>
              </a:defRPr>
            </a:lvl7pPr>
            <a:lvl8pPr marL="3429000" indent="-228600" defTabSz="1019175" eaLnBrk="0" fontAlgn="base" hangingPunct="0">
              <a:spcBef>
                <a:spcPct val="0"/>
              </a:spcBef>
              <a:spcAft>
                <a:spcPct val="0"/>
              </a:spcAft>
              <a:defRPr sz="1100">
                <a:solidFill>
                  <a:schemeClr val="tx1"/>
                </a:solidFill>
                <a:latin typeface="Arial" panose="020B0604020202020204" pitchFamily="34" charset="0"/>
                <a:ea typeface="楷体_GB2312" pitchFamily="49" charset="-122"/>
              </a:defRPr>
            </a:lvl8pPr>
            <a:lvl9pPr marL="3886200" indent="-228600" defTabSz="1019175" eaLnBrk="0" fontAlgn="base" hangingPunct="0">
              <a:spcBef>
                <a:spcPct val="0"/>
              </a:spcBef>
              <a:spcAft>
                <a:spcPct val="0"/>
              </a:spcAft>
              <a:defRPr sz="1100">
                <a:solidFill>
                  <a:schemeClr val="tx1"/>
                </a:solidFill>
                <a:latin typeface="Arial" panose="020B0604020202020204" pitchFamily="34" charset="0"/>
                <a:ea typeface="楷体_GB2312" pitchFamily="49" charset="-122"/>
              </a:defRPr>
            </a:lvl9pPr>
          </a:lstStyle>
          <a:p>
            <a:pPr algn="ctr" eaLnBrk="1" fontAlgn="auto" hangingPunct="1">
              <a:spcBef>
                <a:spcPct val="50000"/>
              </a:spcBef>
              <a:spcAft>
                <a:spcPts val="0"/>
              </a:spcAft>
              <a:buFont typeface="微软雅黑" panose="020B0503020204020204" pitchFamily="34" charset="-122"/>
              <a:buNone/>
              <a:defRPr/>
            </a:pPr>
            <a:endParaRPr lang="zh-CN" altLang="en-US" sz="105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矩形 12"/>
          <p:cNvSpPr/>
          <p:nvPr/>
        </p:nvSpPr>
        <p:spPr>
          <a:xfrm>
            <a:off x="38100" y="1087438"/>
            <a:ext cx="257175" cy="117542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buFont typeface="微软雅黑" panose="020B0503020204020204" pitchFamily="34" charset="-122"/>
              <a:buNone/>
              <a:defRPr/>
            </a:pPr>
            <a:endParaRPr lang="en-US" altLang="en-US" sz="1350">
              <a:solidFill>
                <a:srgbClr val="FFFFFF"/>
              </a:solidFill>
              <a:ea typeface="微软雅黑" panose="020B0503020204020204" pitchFamily="34" charset="-122"/>
              <a:cs typeface="微软雅黑" panose="020B0503020204020204" pitchFamily="34" charset="-122"/>
            </a:endParaRPr>
          </a:p>
        </p:txBody>
      </p:sp>
      <p:sp>
        <p:nvSpPr>
          <p:cNvPr id="8196" name="文本框 2"/>
          <p:cNvSpPr txBox="1">
            <a:spLocks noChangeArrowheads="1"/>
          </p:cNvSpPr>
          <p:nvPr/>
        </p:nvSpPr>
        <p:spPr bwMode="auto">
          <a:xfrm>
            <a:off x="540834" y="1383369"/>
            <a:ext cx="7621859"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r>
              <a:rPr lang="zh-CN" altLang="en-US" sz="3200" b="1" dirty="0">
                <a:solidFill>
                  <a:srgbClr val="7030A0"/>
                </a:solidFill>
                <a:latin typeface="Times New Roman" panose="02020603050405020304" pitchFamily="18" charset="0"/>
                <a:ea typeface="微软雅黑" panose="020B0503020204020204" pitchFamily="34" charset="-122"/>
                <a:cs typeface="微软雅黑" panose="020B0503020204020204" pitchFamily="34" charset="-122"/>
                <a:sym typeface="+mn-lt"/>
              </a:rPr>
              <a:t>少样本场景下</a:t>
            </a:r>
            <a:r>
              <a:rPr lang="zh-CN" altLang="en-US" sz="3200" b="1" dirty="0">
                <a:latin typeface="Times New Roman" panose="02020603050405020304" pitchFamily="18" charset="0"/>
                <a:ea typeface="微软雅黑" panose="020B0503020204020204" pitchFamily="34" charset="-122"/>
                <a:cs typeface="微软雅黑" panose="020B0503020204020204" pitchFamily="34" charset="-122"/>
                <a:sym typeface="+mn-lt"/>
              </a:rPr>
              <a:t>无人机射频指纹识别方法</a:t>
            </a:r>
            <a:endParaRPr lang="zh-CN" altLang="en-US" sz="3200" b="1" dirty="0">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sp>
        <p:nvSpPr>
          <p:cNvPr id="8197" name="文本框 4"/>
          <p:cNvSpPr txBox="1">
            <a:spLocks noChangeArrowheads="1"/>
          </p:cNvSpPr>
          <p:nvPr/>
        </p:nvSpPr>
        <p:spPr bwMode="auto">
          <a:xfrm>
            <a:off x="6646863" y="103188"/>
            <a:ext cx="24114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r>
              <a:rPr lang="zh-CN" altLang="en-US" sz="1800" b="1">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本科生毕业论文答辩</a:t>
            </a:r>
            <a:endParaRPr lang="zh-CN" altLang="en-US" sz="1800" b="1">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3" name="图片 2" descr="徽标&#10;&#10;描述已自动生成"/>
          <p:cNvPicPr>
            <a:picLocks noChangeAspect="1"/>
          </p:cNvPicPr>
          <p:nvPr/>
        </p:nvPicPr>
        <p:blipFill rotWithShape="1">
          <a:blip r:embed="rId1">
            <a:extLst>
              <a:ext uri="{28A0092B-C50C-407E-A947-70E740481C1C}">
                <a14:useLocalDpi xmlns:a14="http://schemas.microsoft.com/office/drawing/2010/main" val="0"/>
              </a:ext>
            </a:extLst>
          </a:blip>
          <a:srcRect t="42593" b="24170"/>
          <a:stretch>
            <a:fillRect/>
          </a:stretch>
        </p:blipFill>
        <p:spPr>
          <a:xfrm>
            <a:off x="95250" y="93212"/>
            <a:ext cx="2025649" cy="591909"/>
          </a:xfrm>
          <a:prstGeom prst="rect">
            <a:avLst/>
          </a:prstGeom>
        </p:spPr>
      </p:pic>
      <p:cxnSp>
        <p:nvCxnSpPr>
          <p:cNvPr id="5" name="直接连接符 4"/>
          <p:cNvCxnSpPr/>
          <p:nvPr/>
        </p:nvCxnSpPr>
        <p:spPr>
          <a:xfrm>
            <a:off x="6679897" y="471488"/>
            <a:ext cx="2345343" cy="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9" name="表格 8"/>
          <p:cNvGraphicFramePr>
            <a:graphicFrameLocks noGrp="1"/>
          </p:cNvGraphicFramePr>
          <p:nvPr/>
        </p:nvGraphicFramePr>
        <p:xfrm>
          <a:off x="1108074" y="2504420"/>
          <a:ext cx="5874268" cy="1981200"/>
        </p:xfrm>
        <a:graphic>
          <a:graphicData uri="http://schemas.openxmlformats.org/drawingml/2006/table">
            <a:tbl>
              <a:tblPr firstRow="1" bandRow="1">
                <a:tableStyleId>{2D5ABB26-0587-4C30-8999-92F81FD0307C}</a:tableStyleId>
              </a:tblPr>
              <a:tblGrid>
                <a:gridCol w="2937134"/>
                <a:gridCol w="2937134"/>
              </a:tblGrid>
              <a:tr h="370840">
                <a:tc>
                  <a:txBody>
                    <a:bodyPr/>
                    <a:lstStyle/>
                    <a:p>
                      <a:pPr marL="0" marR="0" lvl="0" indent="0" algn="r" defTabSz="685800" rtl="0" eaLnBrk="1" fontAlgn="auto" latinLnBrk="0" hangingPunct="1">
                        <a:lnSpc>
                          <a:spcPct val="100000"/>
                        </a:lnSpc>
                        <a:spcBef>
                          <a:spcPts val="0"/>
                        </a:spcBef>
                        <a:spcAft>
                          <a:spcPts val="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导   师：</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mn-ea"/>
                          <a:sym typeface="+mn-lt"/>
                        </a:rPr>
                        <a:t>谭伟杰</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sym typeface="+mn-lt"/>
                      </a:endParaRPr>
                    </a:p>
                  </a:txBody>
                  <a:tcPr/>
                </a:tc>
              </a:tr>
              <a:tr h="370840">
                <a:tc>
                  <a:txBody>
                    <a:bodyPr/>
                    <a:lstStyle/>
                    <a:p>
                      <a:pPr marL="0" marR="0" lvl="0" indent="0" algn="r"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答辩人：</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a:txBody>
                  <a:tcPr anchor="ctr"/>
                </a:tc>
                <a:tc>
                  <a:txBody>
                    <a:bodyPr/>
                    <a:lstStyle/>
                    <a:p>
                      <a:pPr marL="0" marR="0" lvl="0" indent="0" algn="l"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mn-ea"/>
                        </a:rPr>
                        <a:t>李云霞</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endParaRPr>
                    </a:p>
                  </a:txBody>
                  <a:tcPr/>
                </a:tc>
              </a:tr>
              <a:tr h="198120">
                <a:tc>
                  <a:txBody>
                    <a:bodyPr/>
                    <a:lstStyle/>
                    <a:p>
                      <a:pPr marL="0" marR="0" lvl="0" indent="0" algn="r"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mn-ea"/>
                        </a:rPr>
                        <a:t>专   业：</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endParaRPr>
                    </a:p>
                  </a:txBody>
                  <a:tcPr anchor="ctr"/>
                </a:tc>
                <a:tc>
                  <a:txBody>
                    <a:bodyPr/>
                    <a:lstStyle/>
                    <a:p>
                      <a:pPr marL="0" marR="0" lvl="0" indent="0" algn="l"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mn-ea"/>
                        </a:rPr>
                        <a:t>信息安全</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endParaRPr>
                    </a:p>
                  </a:txBody>
                  <a:tcPr/>
                </a:tc>
              </a:tr>
              <a:tr h="198120">
                <a:tc>
                  <a:txBody>
                    <a:bodyPr/>
                    <a:lstStyle/>
                    <a:p>
                      <a:pPr marL="0" marR="0" lvl="0" indent="0" algn="r"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学   院：</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txBody>
                  <a:tcPr anchor="ctr"/>
                </a:tc>
                <a:tc>
                  <a:txBody>
                    <a:bodyPr/>
                    <a:lstStyle/>
                    <a:p>
                      <a:pPr marL="0" marR="0" lvl="0" indent="0" algn="l" defTabSz="685800" rtl="0" eaLnBrk="1" fontAlgn="auto" latinLnBrk="0" hangingPunct="1">
                        <a:lnSpc>
                          <a:spcPct val="10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计算机科学与技术学院</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txBody>
                  <a:tcPr/>
                </a:tc>
              </a:tr>
              <a:tr h="370840">
                <a:tc>
                  <a:txBody>
                    <a:bodyPr/>
                    <a:lstStyle/>
                    <a:p>
                      <a:pPr algn="r">
                        <a:lnSpc>
                          <a:spcPct val="100000"/>
                        </a:lnSpc>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日   期：</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altLang="zh-CN"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2026</a:t>
                      </a: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 </a:t>
                      </a:r>
                      <a:r>
                        <a:rPr lang="en-US" altLang="zh-CN"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 6</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sym typeface="+mn-lt"/>
                      </a:endParaRPr>
                    </a:p>
                  </a:txBody>
                  <a:tcPr/>
                </a:tc>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基于</a:t>
              </a:r>
              <a:r>
                <a:rPr lang="en-US" altLang="zh-CN"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Meta-DML</a:t>
              </a:r>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的识别方法设计</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6138" y="219075"/>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矩形 6"/>
          <p:cNvSpPr>
            <a:spLocks noChangeArrowheads="1"/>
          </p:cNvSpPr>
          <p:nvPr/>
        </p:nvSpPr>
        <p:spPr bwMode="auto">
          <a:xfrm>
            <a:off x="357505" y="662305"/>
            <a:ext cx="25431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just" defTabSz="914400" eaLnBrk="1" fontAlgn="base" hangingPunct="1">
              <a:lnSpc>
                <a:spcPts val="2300"/>
              </a:lnSpc>
            </a:pP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无人机识别技术发展历程：</a:t>
            </a:r>
            <a:endPar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040" name="Picture 16" descr="NATO Review - NATO and the 5G challenge"/>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664" t="7933" r="1472"/>
          <a:stretch>
            <a:fillRect/>
          </a:stretch>
        </p:blipFill>
        <p:spPr bwMode="auto">
          <a:xfrm>
            <a:off x="9737855" y="1534680"/>
            <a:ext cx="846331" cy="482993"/>
          </a:xfrm>
          <a:prstGeom prst="rect">
            <a:avLst/>
          </a:prstGeom>
          <a:noFill/>
          <a:extLst>
            <a:ext uri="{909E8E84-426E-40DD-AFC4-6F175D3DCCD1}">
              <a14:hiddenFill xmlns:a14="http://schemas.microsoft.com/office/drawing/2010/main">
                <a:solidFill>
                  <a:srgbClr val="FFFFFF"/>
                </a:solidFill>
              </a14:hiddenFill>
            </a:ext>
          </a:extLst>
        </p:spPr>
      </p:pic>
      <p:sp>
        <p:nvSpPr>
          <p:cNvPr id="1130" name="文本框 1129"/>
          <p:cNvSpPr txBox="1"/>
          <p:nvPr/>
        </p:nvSpPr>
        <p:spPr>
          <a:xfrm>
            <a:off x="117600" y="4794627"/>
            <a:ext cx="8586562" cy="368300"/>
          </a:xfrm>
          <a:prstGeom prst="rect">
            <a:avLst/>
          </a:prstGeom>
          <a:noFill/>
        </p:spPr>
        <p:txBody>
          <a:bodyPr wrap="square">
            <a:spAutoFit/>
          </a:bodyPr>
          <a:lstStyle/>
          <a:p>
            <a:pPr algn="ctr" defTabSz="914400" eaLnBrk="0" fontAlgn="base" hangingPunct="0"/>
            <a:r>
              <a:rPr lang="zh-CN" altLang="en-US" sz="18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复杂环境下少样本无人机识别仍然存在挑战。</a:t>
            </a:r>
            <a:endParaRPr lang="zh-CN" altLang="en-US" sz="18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箭头: 下 6"/>
          <p:cNvSpPr/>
          <p:nvPr/>
        </p:nvSpPr>
        <p:spPr>
          <a:xfrm>
            <a:off x="1054964" y="271229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grpSp>
        <p:nvGrpSpPr>
          <p:cNvPr id="1125" name="组合 1124"/>
          <p:cNvGrpSpPr/>
          <p:nvPr/>
        </p:nvGrpSpPr>
        <p:grpSpPr>
          <a:xfrm>
            <a:off x="6959817" y="2364250"/>
            <a:ext cx="1492284" cy="318904"/>
            <a:chOff x="6948120" y="2329731"/>
            <a:chExt cx="2161733" cy="325912"/>
          </a:xfrm>
        </p:grpSpPr>
        <p:grpSp>
          <p:nvGrpSpPr>
            <p:cNvPr id="1122" name="组合 1121"/>
            <p:cNvGrpSpPr/>
            <p:nvPr/>
          </p:nvGrpSpPr>
          <p:grpSpPr>
            <a:xfrm>
              <a:off x="7218125" y="2329731"/>
              <a:ext cx="1891728" cy="325912"/>
              <a:chOff x="134732" y="2351903"/>
              <a:chExt cx="1760890" cy="325912"/>
            </a:xfrm>
          </p:grpSpPr>
          <p:sp>
            <p:nvSpPr>
              <p:cNvPr id="1123" name="任意多边形: 形状 1122"/>
              <p:cNvSpPr/>
              <p:nvPr/>
            </p:nvSpPr>
            <p:spPr>
              <a:xfrm>
                <a:off x="1666311" y="2351903"/>
                <a:ext cx="229311" cy="325912"/>
              </a:xfrm>
              <a:custGeom>
                <a:avLst/>
                <a:gdLst>
                  <a:gd name="connsiteX0" fmla="*/ 0 w 229311"/>
                  <a:gd name="connsiteY0" fmla="*/ 0 h 325912"/>
                  <a:gd name="connsiteX1" fmla="*/ 47220 w 229311"/>
                  <a:gd name="connsiteY1" fmla="*/ 0 h 325912"/>
                  <a:gd name="connsiteX2" fmla="*/ 229311 w 229311"/>
                  <a:gd name="connsiteY2" fmla="*/ 160773 h 325912"/>
                  <a:gd name="connsiteX3" fmla="*/ 42274 w 229311"/>
                  <a:gd name="connsiteY3" fmla="*/ 325912 h 325912"/>
                  <a:gd name="connsiteX4" fmla="*/ 0 w 229311"/>
                  <a:gd name="connsiteY4" fmla="*/ 325912 h 325912"/>
                  <a:gd name="connsiteX5" fmla="*/ 0 w 229311"/>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11" h="325912">
                    <a:moveTo>
                      <a:pt x="0" y="0"/>
                    </a:moveTo>
                    <a:lnTo>
                      <a:pt x="47220" y="0"/>
                    </a:lnTo>
                    <a:lnTo>
                      <a:pt x="229311" y="160773"/>
                    </a:lnTo>
                    <a:lnTo>
                      <a:pt x="42274" y="325912"/>
                    </a:lnTo>
                    <a:lnTo>
                      <a:pt x="0" y="325912"/>
                    </a:lnTo>
                    <a:lnTo>
                      <a:pt x="0" y="0"/>
                    </a:lnTo>
                    <a:close/>
                  </a:path>
                </a:pathLst>
              </a:custGeom>
              <a:solidFill>
                <a:srgbClr val="4C65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sp>
            <p:nvSpPr>
              <p:cNvPr id="1124" name="任意多边形: 形状 1123"/>
              <p:cNvSpPr/>
              <p:nvPr/>
            </p:nvSpPr>
            <p:spPr>
              <a:xfrm>
                <a:off x="134732" y="2351903"/>
                <a:ext cx="1532048" cy="325912"/>
              </a:xfrm>
              <a:custGeom>
                <a:avLst/>
                <a:gdLst>
                  <a:gd name="connsiteX0" fmla="*/ 4946 w 1532048"/>
                  <a:gd name="connsiteY0" fmla="*/ 0 h 325912"/>
                  <a:gd name="connsiteX1" fmla="*/ 1532048 w 1532048"/>
                  <a:gd name="connsiteY1" fmla="*/ 0 h 325912"/>
                  <a:gd name="connsiteX2" fmla="*/ 1532048 w 1532048"/>
                  <a:gd name="connsiteY2" fmla="*/ 325912 h 325912"/>
                  <a:gd name="connsiteX3" fmla="*/ 0 w 1532048"/>
                  <a:gd name="connsiteY3" fmla="*/ 325912 h 325912"/>
                  <a:gd name="connsiteX4" fmla="*/ 187037 w 1532048"/>
                  <a:gd name="connsiteY4" fmla="*/ 160773 h 325912"/>
                  <a:gd name="connsiteX5" fmla="*/ 4946 w 1532048"/>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048" h="325912">
                    <a:moveTo>
                      <a:pt x="4946" y="0"/>
                    </a:moveTo>
                    <a:lnTo>
                      <a:pt x="1532048" y="0"/>
                    </a:lnTo>
                    <a:lnTo>
                      <a:pt x="1532048" y="325912"/>
                    </a:lnTo>
                    <a:lnTo>
                      <a:pt x="0" y="325912"/>
                    </a:lnTo>
                    <a:lnTo>
                      <a:pt x="187037" y="160773"/>
                    </a:lnTo>
                    <a:lnTo>
                      <a:pt x="4946" y="0"/>
                    </a:lnTo>
                    <a:close/>
                  </a:path>
                </a:pathLst>
              </a:custGeom>
              <a:solidFill>
                <a:srgbClr val="4C65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grpSp>
        <p:grpSp>
          <p:nvGrpSpPr>
            <p:cNvPr id="1119" name="组合 1118"/>
            <p:cNvGrpSpPr/>
            <p:nvPr/>
          </p:nvGrpSpPr>
          <p:grpSpPr>
            <a:xfrm>
              <a:off x="6948120" y="2329731"/>
              <a:ext cx="1891728" cy="325912"/>
              <a:chOff x="134732" y="2351903"/>
              <a:chExt cx="1760890" cy="325912"/>
            </a:xfrm>
          </p:grpSpPr>
          <p:sp>
            <p:nvSpPr>
              <p:cNvPr id="1120" name="任意多边形: 形状 1119"/>
              <p:cNvSpPr/>
              <p:nvPr/>
            </p:nvSpPr>
            <p:spPr>
              <a:xfrm>
                <a:off x="1666311" y="2351903"/>
                <a:ext cx="229311" cy="325912"/>
              </a:xfrm>
              <a:custGeom>
                <a:avLst/>
                <a:gdLst>
                  <a:gd name="connsiteX0" fmla="*/ 0 w 229311"/>
                  <a:gd name="connsiteY0" fmla="*/ 0 h 325912"/>
                  <a:gd name="connsiteX1" fmla="*/ 47220 w 229311"/>
                  <a:gd name="connsiteY1" fmla="*/ 0 h 325912"/>
                  <a:gd name="connsiteX2" fmla="*/ 229311 w 229311"/>
                  <a:gd name="connsiteY2" fmla="*/ 160773 h 325912"/>
                  <a:gd name="connsiteX3" fmla="*/ 42274 w 229311"/>
                  <a:gd name="connsiteY3" fmla="*/ 325912 h 325912"/>
                  <a:gd name="connsiteX4" fmla="*/ 0 w 229311"/>
                  <a:gd name="connsiteY4" fmla="*/ 325912 h 325912"/>
                  <a:gd name="connsiteX5" fmla="*/ 0 w 229311"/>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11" h="325912">
                    <a:moveTo>
                      <a:pt x="0" y="0"/>
                    </a:moveTo>
                    <a:lnTo>
                      <a:pt x="47220" y="0"/>
                    </a:lnTo>
                    <a:lnTo>
                      <a:pt x="229311" y="160773"/>
                    </a:lnTo>
                    <a:lnTo>
                      <a:pt x="42274" y="325912"/>
                    </a:lnTo>
                    <a:lnTo>
                      <a:pt x="0" y="325912"/>
                    </a:lnTo>
                    <a:lnTo>
                      <a:pt x="0" y="0"/>
                    </a:lnTo>
                    <a:close/>
                  </a:path>
                </a:pathLst>
              </a:custGeom>
              <a:solidFill>
                <a:srgbClr val="4C65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sp>
            <p:nvSpPr>
              <p:cNvPr id="1121" name="任意多边形: 形状 1120"/>
              <p:cNvSpPr/>
              <p:nvPr/>
            </p:nvSpPr>
            <p:spPr>
              <a:xfrm>
                <a:off x="134732" y="2351903"/>
                <a:ext cx="1532048" cy="325912"/>
              </a:xfrm>
              <a:custGeom>
                <a:avLst/>
                <a:gdLst>
                  <a:gd name="connsiteX0" fmla="*/ 4946 w 1532048"/>
                  <a:gd name="connsiteY0" fmla="*/ 0 h 325912"/>
                  <a:gd name="connsiteX1" fmla="*/ 1532048 w 1532048"/>
                  <a:gd name="connsiteY1" fmla="*/ 0 h 325912"/>
                  <a:gd name="connsiteX2" fmla="*/ 1532048 w 1532048"/>
                  <a:gd name="connsiteY2" fmla="*/ 325912 h 325912"/>
                  <a:gd name="connsiteX3" fmla="*/ 0 w 1532048"/>
                  <a:gd name="connsiteY3" fmla="*/ 325912 h 325912"/>
                  <a:gd name="connsiteX4" fmla="*/ 187037 w 1532048"/>
                  <a:gd name="connsiteY4" fmla="*/ 160773 h 325912"/>
                  <a:gd name="connsiteX5" fmla="*/ 4946 w 1532048"/>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048" h="325912">
                    <a:moveTo>
                      <a:pt x="4946" y="0"/>
                    </a:moveTo>
                    <a:lnTo>
                      <a:pt x="1532048" y="0"/>
                    </a:lnTo>
                    <a:lnTo>
                      <a:pt x="1532048" y="325912"/>
                    </a:lnTo>
                    <a:lnTo>
                      <a:pt x="0" y="325912"/>
                    </a:lnTo>
                    <a:lnTo>
                      <a:pt x="187037" y="160773"/>
                    </a:lnTo>
                    <a:lnTo>
                      <a:pt x="4946" y="0"/>
                    </a:lnTo>
                    <a:close/>
                  </a:path>
                </a:pathLst>
              </a:custGeom>
              <a:solidFill>
                <a:srgbClr val="4C65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grpSp>
      </p:grpSp>
      <p:grpSp>
        <p:nvGrpSpPr>
          <p:cNvPr id="1113" name="组合 1112"/>
          <p:cNvGrpSpPr/>
          <p:nvPr/>
        </p:nvGrpSpPr>
        <p:grpSpPr>
          <a:xfrm>
            <a:off x="4768651" y="2364250"/>
            <a:ext cx="1550036" cy="318904"/>
            <a:chOff x="134732" y="2351903"/>
            <a:chExt cx="1760890" cy="325912"/>
          </a:xfrm>
        </p:grpSpPr>
        <p:sp>
          <p:nvSpPr>
            <p:cNvPr id="1114" name="任意多边形: 形状 1113"/>
            <p:cNvSpPr/>
            <p:nvPr/>
          </p:nvSpPr>
          <p:spPr>
            <a:xfrm>
              <a:off x="1666311" y="2351903"/>
              <a:ext cx="229311" cy="325912"/>
            </a:xfrm>
            <a:custGeom>
              <a:avLst/>
              <a:gdLst>
                <a:gd name="connsiteX0" fmla="*/ 0 w 229311"/>
                <a:gd name="connsiteY0" fmla="*/ 0 h 325912"/>
                <a:gd name="connsiteX1" fmla="*/ 47220 w 229311"/>
                <a:gd name="connsiteY1" fmla="*/ 0 h 325912"/>
                <a:gd name="connsiteX2" fmla="*/ 229311 w 229311"/>
                <a:gd name="connsiteY2" fmla="*/ 160773 h 325912"/>
                <a:gd name="connsiteX3" fmla="*/ 42274 w 229311"/>
                <a:gd name="connsiteY3" fmla="*/ 325912 h 325912"/>
                <a:gd name="connsiteX4" fmla="*/ 0 w 229311"/>
                <a:gd name="connsiteY4" fmla="*/ 325912 h 325912"/>
                <a:gd name="connsiteX5" fmla="*/ 0 w 229311"/>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11" h="325912">
                  <a:moveTo>
                    <a:pt x="0" y="0"/>
                  </a:moveTo>
                  <a:lnTo>
                    <a:pt x="47220" y="0"/>
                  </a:lnTo>
                  <a:lnTo>
                    <a:pt x="229311" y="160773"/>
                  </a:lnTo>
                  <a:lnTo>
                    <a:pt x="42274" y="325912"/>
                  </a:lnTo>
                  <a:lnTo>
                    <a:pt x="0" y="325912"/>
                  </a:lnTo>
                  <a:lnTo>
                    <a:pt x="0" y="0"/>
                  </a:lnTo>
                  <a:close/>
                </a:path>
              </a:pathLst>
            </a:custGeom>
            <a:solidFill>
              <a:srgbClr val="EF940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sp>
          <p:nvSpPr>
            <p:cNvPr id="1115" name="任意多边形: 形状 1114"/>
            <p:cNvSpPr/>
            <p:nvPr/>
          </p:nvSpPr>
          <p:spPr>
            <a:xfrm>
              <a:off x="134732" y="2351903"/>
              <a:ext cx="1532048" cy="325912"/>
            </a:xfrm>
            <a:custGeom>
              <a:avLst/>
              <a:gdLst>
                <a:gd name="connsiteX0" fmla="*/ 4946 w 1532048"/>
                <a:gd name="connsiteY0" fmla="*/ 0 h 325912"/>
                <a:gd name="connsiteX1" fmla="*/ 1532048 w 1532048"/>
                <a:gd name="connsiteY1" fmla="*/ 0 h 325912"/>
                <a:gd name="connsiteX2" fmla="*/ 1532048 w 1532048"/>
                <a:gd name="connsiteY2" fmla="*/ 325912 h 325912"/>
                <a:gd name="connsiteX3" fmla="*/ 0 w 1532048"/>
                <a:gd name="connsiteY3" fmla="*/ 325912 h 325912"/>
                <a:gd name="connsiteX4" fmla="*/ 187037 w 1532048"/>
                <a:gd name="connsiteY4" fmla="*/ 160773 h 325912"/>
                <a:gd name="connsiteX5" fmla="*/ 4946 w 1532048"/>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048" h="325912">
                  <a:moveTo>
                    <a:pt x="4946" y="0"/>
                  </a:moveTo>
                  <a:lnTo>
                    <a:pt x="1532048" y="0"/>
                  </a:lnTo>
                  <a:lnTo>
                    <a:pt x="1532048" y="325912"/>
                  </a:lnTo>
                  <a:lnTo>
                    <a:pt x="0" y="325912"/>
                  </a:lnTo>
                  <a:lnTo>
                    <a:pt x="187037" y="160773"/>
                  </a:lnTo>
                  <a:lnTo>
                    <a:pt x="4946" y="0"/>
                  </a:lnTo>
                  <a:close/>
                </a:path>
              </a:pathLst>
            </a:custGeom>
            <a:solidFill>
              <a:srgbClr val="EF940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grpSp>
      <p:grpSp>
        <p:nvGrpSpPr>
          <p:cNvPr id="1110" name="组合 1109"/>
          <p:cNvGrpSpPr/>
          <p:nvPr/>
        </p:nvGrpSpPr>
        <p:grpSpPr>
          <a:xfrm>
            <a:off x="2594165" y="2364250"/>
            <a:ext cx="1533355" cy="318904"/>
            <a:chOff x="134732" y="2351903"/>
            <a:chExt cx="1760890" cy="325912"/>
          </a:xfrm>
        </p:grpSpPr>
        <p:sp>
          <p:nvSpPr>
            <p:cNvPr id="1111" name="任意多边形: 形状 1110"/>
            <p:cNvSpPr/>
            <p:nvPr/>
          </p:nvSpPr>
          <p:spPr>
            <a:xfrm>
              <a:off x="1666311" y="2351903"/>
              <a:ext cx="229311" cy="325912"/>
            </a:xfrm>
            <a:custGeom>
              <a:avLst/>
              <a:gdLst>
                <a:gd name="connsiteX0" fmla="*/ 0 w 229311"/>
                <a:gd name="connsiteY0" fmla="*/ 0 h 325912"/>
                <a:gd name="connsiteX1" fmla="*/ 47220 w 229311"/>
                <a:gd name="connsiteY1" fmla="*/ 0 h 325912"/>
                <a:gd name="connsiteX2" fmla="*/ 229311 w 229311"/>
                <a:gd name="connsiteY2" fmla="*/ 160773 h 325912"/>
                <a:gd name="connsiteX3" fmla="*/ 42274 w 229311"/>
                <a:gd name="connsiteY3" fmla="*/ 325912 h 325912"/>
                <a:gd name="connsiteX4" fmla="*/ 0 w 229311"/>
                <a:gd name="connsiteY4" fmla="*/ 325912 h 325912"/>
                <a:gd name="connsiteX5" fmla="*/ 0 w 229311"/>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11" h="325912">
                  <a:moveTo>
                    <a:pt x="0" y="0"/>
                  </a:moveTo>
                  <a:lnTo>
                    <a:pt x="47220" y="0"/>
                  </a:lnTo>
                  <a:lnTo>
                    <a:pt x="229311" y="160773"/>
                  </a:lnTo>
                  <a:lnTo>
                    <a:pt x="42274" y="325912"/>
                  </a:lnTo>
                  <a:lnTo>
                    <a:pt x="0" y="325912"/>
                  </a:lnTo>
                  <a:lnTo>
                    <a:pt x="0" y="0"/>
                  </a:lnTo>
                  <a:close/>
                </a:path>
              </a:pathLst>
            </a:custGeom>
            <a:solidFill>
              <a:srgbClr val="0480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sp>
          <p:nvSpPr>
            <p:cNvPr id="1112" name="任意多边形: 形状 1111"/>
            <p:cNvSpPr/>
            <p:nvPr/>
          </p:nvSpPr>
          <p:spPr>
            <a:xfrm>
              <a:off x="134732" y="2351903"/>
              <a:ext cx="1532048" cy="325912"/>
            </a:xfrm>
            <a:custGeom>
              <a:avLst/>
              <a:gdLst>
                <a:gd name="connsiteX0" fmla="*/ 4946 w 1532048"/>
                <a:gd name="connsiteY0" fmla="*/ 0 h 325912"/>
                <a:gd name="connsiteX1" fmla="*/ 1532048 w 1532048"/>
                <a:gd name="connsiteY1" fmla="*/ 0 h 325912"/>
                <a:gd name="connsiteX2" fmla="*/ 1532048 w 1532048"/>
                <a:gd name="connsiteY2" fmla="*/ 325912 h 325912"/>
                <a:gd name="connsiteX3" fmla="*/ 0 w 1532048"/>
                <a:gd name="connsiteY3" fmla="*/ 325912 h 325912"/>
                <a:gd name="connsiteX4" fmla="*/ 187037 w 1532048"/>
                <a:gd name="connsiteY4" fmla="*/ 160773 h 325912"/>
                <a:gd name="connsiteX5" fmla="*/ 4946 w 1532048"/>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048" h="325912">
                  <a:moveTo>
                    <a:pt x="4946" y="0"/>
                  </a:moveTo>
                  <a:lnTo>
                    <a:pt x="1532048" y="0"/>
                  </a:lnTo>
                  <a:lnTo>
                    <a:pt x="1532048" y="325912"/>
                  </a:lnTo>
                  <a:lnTo>
                    <a:pt x="0" y="325912"/>
                  </a:lnTo>
                  <a:lnTo>
                    <a:pt x="187037" y="160773"/>
                  </a:lnTo>
                  <a:lnTo>
                    <a:pt x="4946" y="0"/>
                  </a:lnTo>
                  <a:close/>
                </a:path>
              </a:pathLst>
            </a:custGeom>
            <a:solidFill>
              <a:srgbClr val="0480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grpSp>
      <p:grpSp>
        <p:nvGrpSpPr>
          <p:cNvPr id="60" name="组合 59"/>
          <p:cNvGrpSpPr/>
          <p:nvPr/>
        </p:nvGrpSpPr>
        <p:grpSpPr>
          <a:xfrm>
            <a:off x="2132577" y="1787078"/>
            <a:ext cx="347004" cy="177046"/>
            <a:chOff x="1625863" y="1658243"/>
            <a:chExt cx="473266" cy="273760"/>
          </a:xfrm>
        </p:grpSpPr>
        <p:sp>
          <p:nvSpPr>
            <p:cNvPr id="61" name="箭头: V 形 60"/>
            <p:cNvSpPr/>
            <p:nvPr>
              <p:custDataLst>
                <p:tags r:id="rId2"/>
              </p:custDataLst>
            </p:nvPr>
          </p:nvSpPr>
          <p:spPr>
            <a:xfrm>
              <a:off x="1625863" y="1658243"/>
              <a:ext cx="142756" cy="273760"/>
            </a:xfrm>
            <a:prstGeom prst="chevron">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2" name="箭头: V 形 61"/>
            <p:cNvSpPr/>
            <p:nvPr>
              <p:custDataLst>
                <p:tags r:id="rId3"/>
              </p:custDataLst>
            </p:nvPr>
          </p:nvSpPr>
          <p:spPr>
            <a:xfrm>
              <a:off x="1791118" y="1658243"/>
              <a:ext cx="142756" cy="273760"/>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3" name="箭头: V 形 62"/>
            <p:cNvSpPr/>
            <p:nvPr>
              <p:custDataLst>
                <p:tags r:id="rId4"/>
              </p:custDataLst>
            </p:nvPr>
          </p:nvSpPr>
          <p:spPr>
            <a:xfrm>
              <a:off x="1956373" y="1658243"/>
              <a:ext cx="142756" cy="273760"/>
            </a:xfrm>
            <a:prstGeom prst="chevron">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grpSp>
      <p:sp>
        <p:nvSpPr>
          <p:cNvPr id="1044" name="文本框 1043"/>
          <p:cNvSpPr txBox="1"/>
          <p:nvPr/>
        </p:nvSpPr>
        <p:spPr>
          <a:xfrm>
            <a:off x="2784926" y="2357893"/>
            <a:ext cx="1181580" cy="306705"/>
          </a:xfrm>
          <a:prstGeom prst="rect">
            <a:avLst/>
          </a:prstGeom>
          <a:noFill/>
        </p:spPr>
        <p:txBody>
          <a:bodyPr wrap="square">
            <a:spAutoFit/>
          </a:bodyPr>
          <a:lstStyle/>
          <a:p>
            <a:pPr algn="ctr" defTabSz="914400" eaLnBrk="0" fontAlgn="base" hangingPunct="0"/>
            <a:r>
              <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普及阶段</a:t>
            </a:r>
            <a:endPar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45" name="文本框 1044"/>
          <p:cNvSpPr txBox="1"/>
          <p:nvPr/>
        </p:nvSpPr>
        <p:spPr>
          <a:xfrm>
            <a:off x="5010978" y="2357893"/>
            <a:ext cx="1135381" cy="306705"/>
          </a:xfrm>
          <a:prstGeom prst="rect">
            <a:avLst/>
          </a:prstGeom>
          <a:noFill/>
        </p:spPr>
        <p:txBody>
          <a:bodyPr wrap="square">
            <a:spAutoFit/>
          </a:bodyPr>
          <a:lstStyle/>
          <a:p>
            <a:pPr algn="ctr" defTabSz="914400" eaLnBrk="0" fontAlgn="base" hangingPunct="0"/>
            <a:r>
              <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对抗阶段</a:t>
            </a:r>
            <a:endPar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47" name="文本框 1046"/>
          <p:cNvSpPr txBox="1"/>
          <p:nvPr/>
        </p:nvSpPr>
        <p:spPr>
          <a:xfrm>
            <a:off x="7167551" y="2357893"/>
            <a:ext cx="1106326" cy="306705"/>
          </a:xfrm>
          <a:prstGeom prst="rect">
            <a:avLst/>
          </a:prstGeom>
          <a:noFill/>
        </p:spPr>
        <p:txBody>
          <a:bodyPr wrap="square">
            <a:spAutoFit/>
          </a:bodyPr>
          <a:lstStyle/>
          <a:p>
            <a:pPr algn="ctr" defTabSz="914400" eaLnBrk="0" fontAlgn="base" hangingPunct="0"/>
            <a:r>
              <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智能防御期</a:t>
            </a:r>
            <a:endPar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1052" name="组合 1051"/>
          <p:cNvGrpSpPr/>
          <p:nvPr/>
        </p:nvGrpSpPr>
        <p:grpSpPr>
          <a:xfrm>
            <a:off x="500183" y="1354120"/>
            <a:ext cx="1488595" cy="978947"/>
            <a:chOff x="500828" y="1379813"/>
            <a:chExt cx="1659162" cy="1023764"/>
          </a:xfrm>
        </p:grpSpPr>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1233" y="1384482"/>
              <a:ext cx="1648757" cy="1019095"/>
            </a:xfrm>
            <a:prstGeom prst="rect">
              <a:avLst/>
            </a:prstGeom>
          </p:spPr>
        </p:pic>
        <p:sp>
          <p:nvSpPr>
            <p:cNvPr id="27" name="矩形 26"/>
            <p:cNvSpPr/>
            <p:nvPr/>
          </p:nvSpPr>
          <p:spPr>
            <a:xfrm>
              <a:off x="500828" y="1379813"/>
              <a:ext cx="1645883" cy="1012599"/>
            </a:xfrm>
            <a:prstGeom prst="rect">
              <a:avLst/>
            </a:prstGeom>
            <a:noFill/>
            <a:ln w="38100">
              <a:solidFill>
                <a:srgbClr val="A41E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dirty="0">
                <a:cs typeface="微软雅黑" panose="020B0503020204020204" pitchFamily="34" charset="-122"/>
              </a:endParaRPr>
            </a:p>
          </p:txBody>
        </p:sp>
      </p:grpSp>
      <p:sp>
        <p:nvSpPr>
          <p:cNvPr id="30" name="文本框 29"/>
          <p:cNvSpPr txBox="1"/>
          <p:nvPr/>
        </p:nvSpPr>
        <p:spPr>
          <a:xfrm>
            <a:off x="726081" y="1015786"/>
            <a:ext cx="1149539" cy="337185"/>
          </a:xfrm>
          <a:prstGeom prst="rect">
            <a:avLst/>
          </a:prstGeom>
          <a:noFill/>
        </p:spPr>
        <p:txBody>
          <a:bodyPr wrap="square" rtlCol="0">
            <a:spAutoFit/>
          </a:bodyPr>
          <a:lstStyle/>
          <a:p>
            <a:pPr algn="ctr" defTabSz="914400" eaLnBrk="0" fontAlgn="base" hangingPunct="0"/>
            <a:r>
              <a:rPr lang="en-US" altLang="zh-CN" sz="1600" dirty="0">
                <a:solidFill>
                  <a:srgbClr val="A41E24"/>
                </a:solidFill>
                <a:latin typeface="Times New Roman" panose="02020603050405020304" pitchFamily="18" charset="0"/>
                <a:ea typeface="微软雅黑" panose="020B0503020204020204" pitchFamily="34" charset="-122"/>
                <a:cs typeface="微软雅黑" panose="020B0503020204020204" pitchFamily="34" charset="-122"/>
              </a:rPr>
              <a:t>2010-2013</a:t>
            </a:r>
            <a:endParaRPr lang="en-US" altLang="zh-CN" sz="1600" dirty="0">
              <a:solidFill>
                <a:srgbClr val="A41E24"/>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1056" name="组合 1055"/>
          <p:cNvGrpSpPr/>
          <p:nvPr/>
        </p:nvGrpSpPr>
        <p:grpSpPr>
          <a:xfrm>
            <a:off x="2635294" y="1354663"/>
            <a:ext cx="1499589" cy="978404"/>
            <a:chOff x="2717617" y="1384482"/>
            <a:chExt cx="1645883" cy="1012599"/>
          </a:xfrm>
        </p:grpSpPr>
        <p:pic>
          <p:nvPicPr>
            <p:cNvPr id="38" name="图片 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2900" y="1394533"/>
              <a:ext cx="1618533" cy="992496"/>
            </a:xfrm>
            <a:prstGeom prst="rect">
              <a:avLst/>
            </a:prstGeom>
          </p:spPr>
        </p:pic>
        <p:sp>
          <p:nvSpPr>
            <p:cNvPr id="31" name="矩形 30"/>
            <p:cNvSpPr/>
            <p:nvPr/>
          </p:nvSpPr>
          <p:spPr>
            <a:xfrm>
              <a:off x="2717617" y="1384482"/>
              <a:ext cx="1645883" cy="1012599"/>
            </a:xfrm>
            <a:prstGeom prst="rect">
              <a:avLst/>
            </a:prstGeom>
            <a:noFill/>
            <a:ln w="38100">
              <a:solidFill>
                <a:srgbClr val="0480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grpSp>
      <p:sp>
        <p:nvSpPr>
          <p:cNvPr id="35" name="文本框 34"/>
          <p:cNvSpPr txBox="1"/>
          <p:nvPr/>
        </p:nvSpPr>
        <p:spPr>
          <a:xfrm>
            <a:off x="2899851" y="1015786"/>
            <a:ext cx="1103058" cy="337185"/>
          </a:xfrm>
          <a:prstGeom prst="rect">
            <a:avLst/>
          </a:prstGeom>
          <a:noFill/>
        </p:spPr>
        <p:txBody>
          <a:bodyPr wrap="square" rtlCol="0">
            <a:spAutoFit/>
          </a:bodyPr>
          <a:lstStyle/>
          <a:p>
            <a:pPr algn="ctr" defTabSz="914400" eaLnBrk="0" fontAlgn="base" hangingPunct="0"/>
            <a:r>
              <a:rPr lang="en-US" altLang="zh-CN" sz="1600" dirty="0">
                <a:solidFill>
                  <a:srgbClr val="04808E"/>
                </a:solidFill>
                <a:latin typeface="Times New Roman" panose="02020603050405020304" pitchFamily="18" charset="0"/>
                <a:ea typeface="微软雅黑" panose="020B0503020204020204" pitchFamily="34" charset="-122"/>
                <a:cs typeface="微软雅黑" panose="020B0503020204020204" pitchFamily="34" charset="-122"/>
              </a:rPr>
              <a:t>2014-2016</a:t>
            </a:r>
            <a:endParaRPr lang="en-US" altLang="zh-CN" sz="1600" dirty="0">
              <a:solidFill>
                <a:srgbClr val="04808E"/>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1058" name="组合 1057"/>
          <p:cNvGrpSpPr/>
          <p:nvPr/>
        </p:nvGrpSpPr>
        <p:grpSpPr>
          <a:xfrm>
            <a:off x="4781399" y="1338544"/>
            <a:ext cx="1531901" cy="994523"/>
            <a:chOff x="4972855" y="1390978"/>
            <a:chExt cx="1646811" cy="1012599"/>
          </a:xfrm>
        </p:grpSpPr>
        <p:pic>
          <p:nvPicPr>
            <p:cNvPr id="40" name="图片 3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72855" y="1390978"/>
              <a:ext cx="1634107" cy="1006103"/>
            </a:xfrm>
            <a:prstGeom prst="rect">
              <a:avLst/>
            </a:prstGeom>
          </p:spPr>
        </p:pic>
        <p:sp>
          <p:nvSpPr>
            <p:cNvPr id="36" name="矩形 35"/>
            <p:cNvSpPr/>
            <p:nvPr/>
          </p:nvSpPr>
          <p:spPr>
            <a:xfrm>
              <a:off x="4973783" y="1390978"/>
              <a:ext cx="1645883" cy="1012599"/>
            </a:xfrm>
            <a:prstGeom prst="rect">
              <a:avLst/>
            </a:prstGeom>
            <a:noFill/>
            <a:ln w="38100">
              <a:solidFill>
                <a:srgbClr val="EF94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grpSp>
      <p:sp>
        <p:nvSpPr>
          <p:cNvPr id="41" name="文本框 40"/>
          <p:cNvSpPr txBox="1"/>
          <p:nvPr/>
        </p:nvSpPr>
        <p:spPr>
          <a:xfrm>
            <a:off x="5027140" y="1015786"/>
            <a:ext cx="1103058" cy="337185"/>
          </a:xfrm>
          <a:prstGeom prst="rect">
            <a:avLst/>
          </a:prstGeom>
          <a:noFill/>
        </p:spPr>
        <p:txBody>
          <a:bodyPr wrap="square" rtlCol="0">
            <a:spAutoFit/>
          </a:bodyPr>
          <a:lstStyle/>
          <a:p>
            <a:pPr algn="ctr" defTabSz="914400" eaLnBrk="0" fontAlgn="base" hangingPunct="0"/>
            <a:r>
              <a:rPr lang="en-US" altLang="zh-CN" sz="1600" dirty="0">
                <a:solidFill>
                  <a:srgbClr val="EF9404"/>
                </a:solidFill>
                <a:latin typeface="Times New Roman" panose="02020603050405020304" pitchFamily="18" charset="0"/>
                <a:ea typeface="微软雅黑" panose="020B0503020204020204" pitchFamily="34" charset="-122"/>
                <a:cs typeface="微软雅黑" panose="020B0503020204020204" pitchFamily="34" charset="-122"/>
              </a:rPr>
              <a:t>2017-2019</a:t>
            </a:r>
            <a:endParaRPr lang="en-US" altLang="zh-CN" sz="1600" dirty="0">
              <a:solidFill>
                <a:srgbClr val="EF9404"/>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1060" name="组合 1059"/>
          <p:cNvGrpSpPr/>
          <p:nvPr/>
        </p:nvGrpSpPr>
        <p:grpSpPr>
          <a:xfrm>
            <a:off x="6959817" y="1335341"/>
            <a:ext cx="1492284" cy="997725"/>
            <a:chOff x="7196559" y="1390547"/>
            <a:chExt cx="1645883" cy="1012599"/>
          </a:xfrm>
        </p:grpSpPr>
        <p:pic>
          <p:nvPicPr>
            <p:cNvPr id="1050" name="图片 104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16318" y="1407831"/>
              <a:ext cx="1626124" cy="989250"/>
            </a:xfrm>
            <a:prstGeom prst="rect">
              <a:avLst/>
            </a:prstGeom>
          </p:spPr>
        </p:pic>
        <p:sp>
          <p:nvSpPr>
            <p:cNvPr id="1026" name="矩形 1025"/>
            <p:cNvSpPr/>
            <p:nvPr/>
          </p:nvSpPr>
          <p:spPr>
            <a:xfrm>
              <a:off x="7196559" y="1390547"/>
              <a:ext cx="1645883" cy="1012599"/>
            </a:xfrm>
            <a:prstGeom prst="rect">
              <a:avLst/>
            </a:prstGeom>
            <a:noFill/>
            <a:ln w="38100">
              <a:solidFill>
                <a:srgbClr val="4C65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grpSp>
      <p:sp>
        <p:nvSpPr>
          <p:cNvPr id="1036" name="文本框 1035"/>
          <p:cNvSpPr txBox="1"/>
          <p:nvPr/>
        </p:nvSpPr>
        <p:spPr>
          <a:xfrm>
            <a:off x="7154430" y="1015786"/>
            <a:ext cx="1103058" cy="337185"/>
          </a:xfrm>
          <a:prstGeom prst="rect">
            <a:avLst/>
          </a:prstGeom>
          <a:noFill/>
        </p:spPr>
        <p:txBody>
          <a:bodyPr wrap="square" rtlCol="0">
            <a:spAutoFit/>
          </a:bodyPr>
          <a:lstStyle/>
          <a:p>
            <a:pPr algn="ctr" defTabSz="914400" eaLnBrk="0" fontAlgn="base" hangingPunct="0"/>
            <a:r>
              <a:rPr lang="en-US" altLang="zh-CN" sz="1600" dirty="0">
                <a:solidFill>
                  <a:srgbClr val="4C65AB"/>
                </a:solidFill>
                <a:latin typeface="Times New Roman" panose="02020603050405020304" pitchFamily="18" charset="0"/>
                <a:ea typeface="微软雅黑" panose="020B0503020204020204" pitchFamily="34" charset="-122"/>
                <a:cs typeface="微软雅黑" panose="020B0503020204020204" pitchFamily="34" charset="-122"/>
              </a:rPr>
              <a:t>2020-</a:t>
            </a:r>
            <a:r>
              <a:rPr lang="zh-CN" altLang="en-US" sz="1600" dirty="0">
                <a:solidFill>
                  <a:srgbClr val="4C65AB"/>
                </a:solidFill>
                <a:latin typeface="Times New Roman" panose="02020603050405020304" pitchFamily="18" charset="0"/>
                <a:ea typeface="微软雅黑" panose="020B0503020204020204" pitchFamily="34" charset="-122"/>
                <a:cs typeface="微软雅黑" panose="020B0503020204020204" pitchFamily="34" charset="-122"/>
              </a:rPr>
              <a:t>至今</a:t>
            </a:r>
            <a:endParaRPr lang="zh-CN" altLang="en-US" sz="1600" dirty="0">
              <a:solidFill>
                <a:srgbClr val="4C65AB"/>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1062" name="组合 1061"/>
          <p:cNvGrpSpPr/>
          <p:nvPr/>
        </p:nvGrpSpPr>
        <p:grpSpPr>
          <a:xfrm>
            <a:off x="4282246" y="1787078"/>
            <a:ext cx="347004" cy="177046"/>
            <a:chOff x="1625863" y="1658243"/>
            <a:chExt cx="473266" cy="273760"/>
          </a:xfrm>
        </p:grpSpPr>
        <p:sp>
          <p:nvSpPr>
            <p:cNvPr id="1064" name="箭头: V 形 1063"/>
            <p:cNvSpPr/>
            <p:nvPr>
              <p:custDataLst>
                <p:tags r:id="rId9"/>
              </p:custDataLst>
            </p:nvPr>
          </p:nvSpPr>
          <p:spPr>
            <a:xfrm>
              <a:off x="1625863" y="1658243"/>
              <a:ext cx="142756" cy="273760"/>
            </a:xfrm>
            <a:prstGeom prst="chevron">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66" name="箭头: V 形 1065"/>
            <p:cNvSpPr/>
            <p:nvPr>
              <p:custDataLst>
                <p:tags r:id="rId10"/>
              </p:custDataLst>
            </p:nvPr>
          </p:nvSpPr>
          <p:spPr>
            <a:xfrm>
              <a:off x="1791118" y="1658243"/>
              <a:ext cx="142756" cy="273760"/>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67" name="箭头: V 形 1066"/>
            <p:cNvSpPr/>
            <p:nvPr>
              <p:custDataLst>
                <p:tags r:id="rId11"/>
              </p:custDataLst>
            </p:nvPr>
          </p:nvSpPr>
          <p:spPr>
            <a:xfrm>
              <a:off x="1956373" y="1658243"/>
              <a:ext cx="142756" cy="273760"/>
            </a:xfrm>
            <a:prstGeom prst="chevron">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grpSp>
      <p:grpSp>
        <p:nvGrpSpPr>
          <p:cNvPr id="1068" name="组合 1067"/>
          <p:cNvGrpSpPr/>
          <p:nvPr/>
        </p:nvGrpSpPr>
        <p:grpSpPr>
          <a:xfrm>
            <a:off x="6463056" y="1787078"/>
            <a:ext cx="347004" cy="177046"/>
            <a:chOff x="1625863" y="1658243"/>
            <a:chExt cx="473266" cy="273760"/>
          </a:xfrm>
        </p:grpSpPr>
        <p:sp>
          <p:nvSpPr>
            <p:cNvPr id="1069" name="箭头: V 形 1068"/>
            <p:cNvSpPr/>
            <p:nvPr>
              <p:custDataLst>
                <p:tags r:id="rId12"/>
              </p:custDataLst>
            </p:nvPr>
          </p:nvSpPr>
          <p:spPr>
            <a:xfrm>
              <a:off x="1625863" y="1658243"/>
              <a:ext cx="142756" cy="273760"/>
            </a:xfrm>
            <a:prstGeom prst="chevron">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70" name="箭头: V 形 1069"/>
            <p:cNvSpPr/>
            <p:nvPr>
              <p:custDataLst>
                <p:tags r:id="rId13"/>
              </p:custDataLst>
            </p:nvPr>
          </p:nvSpPr>
          <p:spPr>
            <a:xfrm>
              <a:off x="1791118" y="1658243"/>
              <a:ext cx="142756" cy="273760"/>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71" name="箭头: V 形 1070"/>
            <p:cNvSpPr/>
            <p:nvPr>
              <p:custDataLst>
                <p:tags r:id="rId14"/>
              </p:custDataLst>
            </p:nvPr>
          </p:nvSpPr>
          <p:spPr>
            <a:xfrm>
              <a:off x="1956373" y="1658243"/>
              <a:ext cx="142756" cy="273760"/>
            </a:xfrm>
            <a:prstGeom prst="chevron">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grpSp>
      <p:grpSp>
        <p:nvGrpSpPr>
          <p:cNvPr id="1073" name="组合 1072"/>
          <p:cNvGrpSpPr/>
          <p:nvPr/>
        </p:nvGrpSpPr>
        <p:grpSpPr>
          <a:xfrm>
            <a:off x="480812" y="2357893"/>
            <a:ext cx="1533355" cy="318904"/>
            <a:chOff x="134732" y="2351903"/>
            <a:chExt cx="1760890" cy="325912"/>
          </a:xfrm>
          <a:solidFill>
            <a:srgbClr val="A41E24"/>
          </a:solidFill>
        </p:grpSpPr>
        <p:sp>
          <p:nvSpPr>
            <p:cNvPr id="1074" name="任意多边形: 形状 1073"/>
            <p:cNvSpPr/>
            <p:nvPr/>
          </p:nvSpPr>
          <p:spPr>
            <a:xfrm>
              <a:off x="1666311" y="2351903"/>
              <a:ext cx="229311" cy="325912"/>
            </a:xfrm>
            <a:custGeom>
              <a:avLst/>
              <a:gdLst>
                <a:gd name="connsiteX0" fmla="*/ 0 w 229311"/>
                <a:gd name="connsiteY0" fmla="*/ 0 h 325912"/>
                <a:gd name="connsiteX1" fmla="*/ 47220 w 229311"/>
                <a:gd name="connsiteY1" fmla="*/ 0 h 325912"/>
                <a:gd name="connsiteX2" fmla="*/ 229311 w 229311"/>
                <a:gd name="connsiteY2" fmla="*/ 160773 h 325912"/>
                <a:gd name="connsiteX3" fmla="*/ 42274 w 229311"/>
                <a:gd name="connsiteY3" fmla="*/ 325912 h 325912"/>
                <a:gd name="connsiteX4" fmla="*/ 0 w 229311"/>
                <a:gd name="connsiteY4" fmla="*/ 325912 h 325912"/>
                <a:gd name="connsiteX5" fmla="*/ 0 w 229311"/>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11" h="325912">
                  <a:moveTo>
                    <a:pt x="0" y="0"/>
                  </a:moveTo>
                  <a:lnTo>
                    <a:pt x="47220" y="0"/>
                  </a:lnTo>
                  <a:lnTo>
                    <a:pt x="229311" y="160773"/>
                  </a:lnTo>
                  <a:lnTo>
                    <a:pt x="42274" y="325912"/>
                  </a:lnTo>
                  <a:lnTo>
                    <a:pt x="0" y="325912"/>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sp>
          <p:nvSpPr>
            <p:cNvPr id="1075" name="任意多边形: 形状 1074"/>
            <p:cNvSpPr/>
            <p:nvPr/>
          </p:nvSpPr>
          <p:spPr>
            <a:xfrm>
              <a:off x="134732" y="2351903"/>
              <a:ext cx="1532048" cy="325912"/>
            </a:xfrm>
            <a:custGeom>
              <a:avLst/>
              <a:gdLst>
                <a:gd name="connsiteX0" fmla="*/ 4946 w 1532048"/>
                <a:gd name="connsiteY0" fmla="*/ 0 h 325912"/>
                <a:gd name="connsiteX1" fmla="*/ 1532048 w 1532048"/>
                <a:gd name="connsiteY1" fmla="*/ 0 h 325912"/>
                <a:gd name="connsiteX2" fmla="*/ 1532048 w 1532048"/>
                <a:gd name="connsiteY2" fmla="*/ 325912 h 325912"/>
                <a:gd name="connsiteX3" fmla="*/ 0 w 1532048"/>
                <a:gd name="connsiteY3" fmla="*/ 325912 h 325912"/>
                <a:gd name="connsiteX4" fmla="*/ 187037 w 1532048"/>
                <a:gd name="connsiteY4" fmla="*/ 160773 h 325912"/>
                <a:gd name="connsiteX5" fmla="*/ 4946 w 1532048"/>
                <a:gd name="connsiteY5" fmla="*/ 0 h 32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048" h="325912">
                  <a:moveTo>
                    <a:pt x="4946" y="0"/>
                  </a:moveTo>
                  <a:lnTo>
                    <a:pt x="1532048" y="0"/>
                  </a:lnTo>
                  <a:lnTo>
                    <a:pt x="1532048" y="325912"/>
                  </a:lnTo>
                  <a:lnTo>
                    <a:pt x="0" y="325912"/>
                  </a:lnTo>
                  <a:lnTo>
                    <a:pt x="187037" y="160773"/>
                  </a:lnTo>
                  <a:lnTo>
                    <a:pt x="4946"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eaLnBrk="0" fontAlgn="base" hangingPunct="0"/>
              <a:endParaRPr lang="zh-CN" altLang="en-US" sz="1800">
                <a:cs typeface="微软雅黑" panose="020B0503020204020204" pitchFamily="34" charset="-122"/>
              </a:endParaRPr>
            </a:p>
          </p:txBody>
        </p:sp>
      </p:grpSp>
      <p:sp>
        <p:nvSpPr>
          <p:cNvPr id="1079" name="文本框 1078"/>
          <p:cNvSpPr txBox="1"/>
          <p:nvPr/>
        </p:nvSpPr>
        <p:spPr>
          <a:xfrm>
            <a:off x="700632" y="2357893"/>
            <a:ext cx="1181580" cy="306705"/>
          </a:xfrm>
          <a:prstGeom prst="rect">
            <a:avLst/>
          </a:prstGeom>
          <a:noFill/>
        </p:spPr>
        <p:txBody>
          <a:bodyPr wrap="square">
            <a:spAutoFit/>
          </a:bodyPr>
          <a:lstStyle/>
          <a:p>
            <a:pPr algn="ctr" defTabSz="914400" eaLnBrk="0" fontAlgn="base" hangingPunct="0"/>
            <a:r>
              <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初期阶段</a:t>
            </a:r>
            <a:endParaRPr lang="zh-CN" altLang="en-US" sz="14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81" name="箭头: 下 1080"/>
          <p:cNvSpPr/>
          <p:nvPr/>
        </p:nvSpPr>
        <p:spPr>
          <a:xfrm>
            <a:off x="3252541" y="271229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82" name="箭头: 下 1081"/>
          <p:cNvSpPr/>
          <p:nvPr/>
        </p:nvSpPr>
        <p:spPr>
          <a:xfrm>
            <a:off x="5455493" y="272928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83" name="箭头: 下 1082"/>
          <p:cNvSpPr/>
          <p:nvPr/>
        </p:nvSpPr>
        <p:spPr>
          <a:xfrm>
            <a:off x="7582784" y="271229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84" name="矩形 1083"/>
          <p:cNvSpPr/>
          <p:nvPr/>
        </p:nvSpPr>
        <p:spPr>
          <a:xfrm>
            <a:off x="439838" y="2844485"/>
            <a:ext cx="8101047" cy="1941647"/>
          </a:xfrm>
          <a:prstGeom prst="rect">
            <a:avLst/>
          </a:prstGeom>
          <a:noFill/>
          <a:ln w="19050">
            <a:solidFill>
              <a:srgbClr val="4C65A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86" name="文本框 1085"/>
          <p:cNvSpPr txBox="1"/>
          <p:nvPr/>
        </p:nvSpPr>
        <p:spPr>
          <a:xfrm>
            <a:off x="517567" y="2914999"/>
            <a:ext cx="1736177" cy="33718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传统识别方式</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87" name="箭头: 下 1086"/>
          <p:cNvSpPr/>
          <p:nvPr/>
        </p:nvSpPr>
        <p:spPr>
          <a:xfrm>
            <a:off x="1045073" y="3272331"/>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88" name="文本框 1087"/>
          <p:cNvSpPr txBox="1"/>
          <p:nvPr/>
        </p:nvSpPr>
        <p:spPr>
          <a:xfrm>
            <a:off x="517567" y="3406306"/>
            <a:ext cx="1736176" cy="829945"/>
          </a:xfrm>
          <a:prstGeom prst="rect">
            <a:avLst/>
          </a:prstGeom>
          <a:noFill/>
          <a:ln>
            <a:solidFill>
              <a:schemeClr val="accent1">
                <a:lumMod val="75000"/>
              </a:schemeClr>
            </a:solidFill>
          </a:ln>
        </p:spPr>
        <p:txBody>
          <a:bodyPr wrap="square" rtlCol="0">
            <a:spAutoFit/>
          </a:bodyPr>
          <a:lstStyle/>
          <a:p>
            <a:pPr marL="285750" indent="-285750" defTabSz="914400" eaLnBrk="0" fontAlgn="base" hangingPunct="0">
              <a:buClr>
                <a:schemeClr val="accent1">
                  <a:lumMod val="60000"/>
                  <a:lumOff val="40000"/>
                </a:schemeClr>
              </a:buClr>
              <a:buFont typeface="Times New Roman" panose="02020603050405020304" pitchFamily="18" charset="0"/>
              <a:buChar char="l"/>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协议识别</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defTabSz="914400" eaLnBrk="0" fontAlgn="base" hangingPunct="0">
              <a:buClr>
                <a:schemeClr val="accent1">
                  <a:lumMod val="60000"/>
                  <a:lumOff val="40000"/>
                </a:schemeClr>
              </a:buClr>
              <a:buFont typeface="Times New Roman" panose="02020603050405020304" pitchFamily="18" charset="0"/>
              <a:buChar char="l"/>
            </a:pPr>
            <a:r>
              <a:rPr lang="en-US" altLang="zh-CN"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MAC</a:t>
            </a: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地址识别</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89" name="箭头: 下 1088"/>
          <p:cNvSpPr/>
          <p:nvPr/>
        </p:nvSpPr>
        <p:spPr>
          <a:xfrm>
            <a:off x="1054501" y="4016155"/>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90" name="文本框 1089"/>
          <p:cNvSpPr txBox="1"/>
          <p:nvPr/>
        </p:nvSpPr>
        <p:spPr>
          <a:xfrm>
            <a:off x="509517" y="4156425"/>
            <a:ext cx="1727729" cy="58356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身份信息易伪造</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识别方式单一</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91" name="文本框 1090"/>
          <p:cNvSpPr txBox="1"/>
          <p:nvPr/>
        </p:nvSpPr>
        <p:spPr>
          <a:xfrm>
            <a:off x="2395717" y="2914999"/>
            <a:ext cx="1991199" cy="33718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信号特征识别</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92" name="箭头: 下 1091"/>
          <p:cNvSpPr/>
          <p:nvPr/>
        </p:nvSpPr>
        <p:spPr>
          <a:xfrm>
            <a:off x="3261206" y="326646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94" name="文本框 1093"/>
          <p:cNvSpPr txBox="1"/>
          <p:nvPr/>
        </p:nvSpPr>
        <p:spPr>
          <a:xfrm>
            <a:off x="2395717" y="3402630"/>
            <a:ext cx="1991199" cy="583565"/>
          </a:xfrm>
          <a:prstGeom prst="rect">
            <a:avLst/>
          </a:prstGeom>
          <a:noFill/>
          <a:ln>
            <a:solidFill>
              <a:schemeClr val="accent1">
                <a:lumMod val="75000"/>
              </a:schemeClr>
            </a:solidFill>
          </a:ln>
        </p:spPr>
        <p:txBody>
          <a:bodyPr wrap="square" rtlCol="0">
            <a:spAutoFit/>
          </a:bodyPr>
          <a:lstStyle/>
          <a:p>
            <a:pPr marL="285750" indent="-285750" defTabSz="914400" eaLnBrk="0" fontAlgn="base" hangingPunct="0">
              <a:buClr>
                <a:schemeClr val="accent1">
                  <a:lumMod val="60000"/>
                  <a:lumOff val="40000"/>
                </a:schemeClr>
              </a:buClr>
              <a:buFont typeface="Times New Roman" panose="02020603050405020304" pitchFamily="18" charset="0"/>
              <a:buChar char="l"/>
            </a:pPr>
            <a:r>
              <a:rPr lang="en-US" altLang="zh-CN"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RSSI</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defTabSz="914400" eaLnBrk="0" fontAlgn="base" hangingPunct="0">
              <a:buClr>
                <a:schemeClr val="accent1">
                  <a:lumMod val="60000"/>
                  <a:lumOff val="40000"/>
                </a:schemeClr>
              </a:buClr>
              <a:buFont typeface="Times New Roman" panose="02020603050405020304" pitchFamily="18" charset="0"/>
              <a:buChar char="l"/>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频谱特征</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97" name="箭头: 下 1096"/>
          <p:cNvSpPr/>
          <p:nvPr/>
        </p:nvSpPr>
        <p:spPr>
          <a:xfrm>
            <a:off x="3261206" y="4012518"/>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098" name="文本框 1097"/>
          <p:cNvSpPr txBox="1"/>
          <p:nvPr/>
        </p:nvSpPr>
        <p:spPr>
          <a:xfrm>
            <a:off x="2395717" y="4156425"/>
            <a:ext cx="1991199" cy="58356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特征稳定性不足</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信道干扰影响大</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99" name="文本框 1098"/>
          <p:cNvSpPr txBox="1"/>
          <p:nvPr/>
        </p:nvSpPr>
        <p:spPr>
          <a:xfrm>
            <a:off x="4524580" y="2909839"/>
            <a:ext cx="2043146" cy="33718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机器学习识别</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00" name="箭头: 下 1099"/>
          <p:cNvSpPr/>
          <p:nvPr/>
        </p:nvSpPr>
        <p:spPr>
          <a:xfrm>
            <a:off x="5477339" y="3266469"/>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101" name="文本框 1100"/>
          <p:cNvSpPr txBox="1"/>
          <p:nvPr/>
        </p:nvSpPr>
        <p:spPr>
          <a:xfrm>
            <a:off x="4524580" y="3400445"/>
            <a:ext cx="2043146" cy="583565"/>
          </a:xfrm>
          <a:prstGeom prst="rect">
            <a:avLst/>
          </a:prstGeom>
          <a:noFill/>
          <a:ln>
            <a:solidFill>
              <a:schemeClr val="accent1">
                <a:lumMod val="75000"/>
              </a:schemeClr>
            </a:solidFill>
          </a:ln>
        </p:spPr>
        <p:txBody>
          <a:bodyPr wrap="square" rtlCol="0">
            <a:spAutoFit/>
          </a:bodyPr>
          <a:lstStyle/>
          <a:p>
            <a:pPr marL="285750" indent="-285750" defTabSz="914400" eaLnBrk="0" fontAlgn="base" hangingPunct="0">
              <a:buClr>
                <a:schemeClr val="accent1">
                  <a:lumMod val="60000"/>
                  <a:lumOff val="40000"/>
                </a:schemeClr>
              </a:buClr>
              <a:buFont typeface="Times New Roman" panose="02020603050405020304" pitchFamily="18" charset="0"/>
              <a:buChar char="l"/>
            </a:pPr>
            <a:r>
              <a:rPr lang="en-US" altLang="zh-CN"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SVM</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defTabSz="914400" eaLnBrk="0" fontAlgn="base" hangingPunct="0">
              <a:buClr>
                <a:schemeClr val="accent1">
                  <a:lumMod val="60000"/>
                  <a:lumOff val="40000"/>
                </a:schemeClr>
              </a:buClr>
              <a:buFont typeface="Times New Roman" panose="02020603050405020304" pitchFamily="18" charset="0"/>
              <a:buChar char="l"/>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随机森林</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02" name="箭头: 下 1101"/>
          <p:cNvSpPr/>
          <p:nvPr/>
        </p:nvSpPr>
        <p:spPr>
          <a:xfrm>
            <a:off x="5475812" y="4022076"/>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103" name="文本框 1102"/>
          <p:cNvSpPr txBox="1"/>
          <p:nvPr/>
        </p:nvSpPr>
        <p:spPr>
          <a:xfrm>
            <a:off x="4524580" y="4146443"/>
            <a:ext cx="2043145" cy="58356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依赖大量数据</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泛化能力不足</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04" name="文本框 1103"/>
          <p:cNvSpPr txBox="1"/>
          <p:nvPr/>
        </p:nvSpPr>
        <p:spPr>
          <a:xfrm>
            <a:off x="6688893" y="2917759"/>
            <a:ext cx="1786282" cy="33718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深度学习识别</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05" name="文本框 1104"/>
          <p:cNvSpPr txBox="1"/>
          <p:nvPr/>
        </p:nvSpPr>
        <p:spPr>
          <a:xfrm>
            <a:off x="6688893" y="3398187"/>
            <a:ext cx="1786282" cy="583565"/>
          </a:xfrm>
          <a:prstGeom prst="rect">
            <a:avLst/>
          </a:prstGeom>
          <a:noFill/>
          <a:ln>
            <a:solidFill>
              <a:schemeClr val="accent1">
                <a:lumMod val="75000"/>
              </a:schemeClr>
            </a:solidFill>
          </a:ln>
        </p:spPr>
        <p:txBody>
          <a:bodyPr wrap="square" rtlCol="0">
            <a:spAutoFit/>
          </a:bodyPr>
          <a:lstStyle/>
          <a:p>
            <a:pPr marL="285750" indent="-285750" defTabSz="914400" eaLnBrk="0" fontAlgn="base" hangingPunct="0">
              <a:buClr>
                <a:schemeClr val="accent1">
                  <a:lumMod val="60000"/>
                  <a:lumOff val="40000"/>
                </a:schemeClr>
              </a:buClr>
              <a:buFont typeface="Times New Roman" panose="02020603050405020304" pitchFamily="18" charset="0"/>
              <a:buChar char="l"/>
            </a:pP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CNN</a:t>
            </a:r>
            <a:endParaRPr lang="en-US" altLang="zh-CN" sz="160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defTabSz="914400" eaLnBrk="0" fontAlgn="base" hangingPunct="0">
              <a:buClr>
                <a:schemeClr val="accent1">
                  <a:lumMod val="60000"/>
                  <a:lumOff val="40000"/>
                </a:schemeClr>
              </a:buClr>
              <a:buFont typeface="Times New Roman" panose="02020603050405020304" pitchFamily="18" charset="0"/>
              <a:buChar char="l"/>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rPr>
              <a:t>深度神经网络</a:t>
            </a:r>
            <a:endParaRPr lang="zh-CN" altLang="en-US" sz="1600" dirty="0">
              <a:solidFill>
                <a:schemeClr val="bg2">
                  <a:lumMod val="2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06" name="箭头: 下 1105"/>
          <p:cNvSpPr/>
          <p:nvPr/>
        </p:nvSpPr>
        <p:spPr>
          <a:xfrm>
            <a:off x="7600203" y="3274496"/>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116" name="箭头: 下 1115"/>
          <p:cNvSpPr/>
          <p:nvPr/>
        </p:nvSpPr>
        <p:spPr>
          <a:xfrm>
            <a:off x="7600203" y="4016155"/>
            <a:ext cx="246349" cy="11519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117" name="文本框 1116"/>
          <p:cNvSpPr txBox="1"/>
          <p:nvPr/>
        </p:nvSpPr>
        <p:spPr>
          <a:xfrm>
            <a:off x="6677986" y="4156425"/>
            <a:ext cx="1802665" cy="583565"/>
          </a:xfrm>
          <a:prstGeom prst="rect">
            <a:avLst/>
          </a:prstGeom>
          <a:noFill/>
          <a:ln>
            <a:solidFill>
              <a:schemeClr val="accent1">
                <a:lumMod val="75000"/>
              </a:schemeClr>
            </a:solidFill>
          </a:ln>
        </p:spPr>
        <p:txBody>
          <a:bodyPr wrap="square" rtlCol="0">
            <a:spAutoFit/>
          </a:bodyPr>
          <a:lstStyle/>
          <a:p>
            <a:pPr algn="ctr" defTabSz="914400" eaLnBrk="0" fontAlgn="base" hangingPunct="0"/>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训练数据需求大小样本性能下降</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15"/>
          <a:stretch>
            <a:fillRect/>
          </a:stretch>
        </p:blipFill>
        <p:spPr>
          <a:xfrm>
            <a:off x="480695" y="1352550"/>
            <a:ext cx="1488440" cy="956945"/>
          </a:xfrm>
          <a:prstGeom prst="rect">
            <a:avLst/>
          </a:prstGeom>
        </p:spPr>
      </p:pic>
      <p:pic>
        <p:nvPicPr>
          <p:cNvPr id="9" name="图片 8"/>
          <p:cNvPicPr>
            <a:picLocks noChangeAspect="1"/>
          </p:cNvPicPr>
          <p:nvPr/>
        </p:nvPicPr>
        <p:blipFill>
          <a:blip r:embed="rId16"/>
          <a:stretch>
            <a:fillRect/>
          </a:stretch>
        </p:blipFill>
        <p:spPr>
          <a:xfrm>
            <a:off x="2649220" y="1364615"/>
            <a:ext cx="1473835" cy="940435"/>
          </a:xfrm>
          <a:prstGeom prst="rect">
            <a:avLst/>
          </a:prstGeom>
        </p:spPr>
      </p:pic>
      <p:pic>
        <p:nvPicPr>
          <p:cNvPr id="11" name="图片 10"/>
          <p:cNvPicPr>
            <a:picLocks noChangeAspect="1"/>
          </p:cNvPicPr>
          <p:nvPr/>
        </p:nvPicPr>
        <p:blipFill>
          <a:blip r:embed="rId17"/>
          <a:stretch>
            <a:fillRect/>
          </a:stretch>
        </p:blipFill>
        <p:spPr>
          <a:xfrm>
            <a:off x="4782185" y="1364615"/>
            <a:ext cx="1519555" cy="984885"/>
          </a:xfrm>
          <a:prstGeom prst="rect">
            <a:avLst/>
          </a:prstGeom>
        </p:spPr>
      </p:pic>
      <p:pic>
        <p:nvPicPr>
          <p:cNvPr id="12" name="图片 11"/>
          <p:cNvPicPr>
            <a:picLocks noChangeAspect="1"/>
          </p:cNvPicPr>
          <p:nvPr/>
        </p:nvPicPr>
        <p:blipFill>
          <a:blip r:embed="rId18"/>
          <a:stretch>
            <a:fillRect/>
          </a:stretch>
        </p:blipFill>
        <p:spPr>
          <a:xfrm>
            <a:off x="6978015" y="1338580"/>
            <a:ext cx="1475740" cy="9848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l="1669" r="1430"/>
          <a:stretch>
            <a:fillRect/>
          </a:stretch>
        </p:blipFill>
        <p:spPr>
          <a:xfrm>
            <a:off x="1228090" y="1764665"/>
            <a:ext cx="6624955" cy="2117090"/>
          </a:xfrm>
          <a:prstGeom prst="rect">
            <a:avLst/>
          </a:prstGeom>
        </p:spPr>
      </p:pic>
      <p:sp>
        <p:nvSpPr>
          <p:cNvPr id="2" name="文本框 1"/>
          <p:cNvSpPr txBox="1"/>
          <p:nvPr/>
        </p:nvSpPr>
        <p:spPr>
          <a:xfrm>
            <a:off x="846138" y="219075"/>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矩形 6"/>
          <p:cNvSpPr>
            <a:spLocks noChangeArrowheads="1"/>
          </p:cNvSpPr>
          <p:nvPr/>
        </p:nvSpPr>
        <p:spPr bwMode="auto">
          <a:xfrm>
            <a:off x="356870" y="703580"/>
            <a:ext cx="400558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just" defTabSz="914400" eaLnBrk="1" fontAlgn="base" hangingPunct="1">
              <a:lnSpc>
                <a:spcPts val="2300"/>
              </a:lnSpc>
            </a:pP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射频指纹识别技术</a:t>
            </a:r>
            <a:r>
              <a:rPr lang="en-US" altLang="zh-CN"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 (</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RF Fingerprinting</a:t>
            </a:r>
            <a:r>
              <a:rPr lang="en-US" altLang="zh-CN"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a:t>
            </a:r>
            <a:endParaRPr lang="en-US" altLang="zh-CN"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Rectangle 2"/>
          <p:cNvSpPr>
            <a:spLocks noChangeArrowheads="1"/>
          </p:cNvSpPr>
          <p:nvPr/>
        </p:nvSpPr>
        <p:spPr bwMode="auto">
          <a:xfrm>
            <a:off x="2010104" y="227527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Rectangle 4"/>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 name="文本框 9"/>
          <p:cNvSpPr txBox="1"/>
          <p:nvPr/>
        </p:nvSpPr>
        <p:spPr>
          <a:xfrm>
            <a:off x="416689" y="962190"/>
            <a:ext cx="8310622" cy="829945"/>
          </a:xfrm>
          <a:prstGeom prst="rect">
            <a:avLst/>
          </a:prstGeom>
          <a:noFill/>
        </p:spPr>
        <p:txBody>
          <a:bodyPr wrap="square" rtlCol="0">
            <a:spAutoFit/>
          </a:bodyPr>
          <a:lstStyle/>
          <a:p>
            <a:pPr defTabSz="914400" eaLnBrk="0" fontAlgn="base" hangingPunct="0">
              <a:lnSpc>
                <a:spcPct val="150000"/>
              </a:lnSpc>
            </a:pPr>
            <a:r>
              <a:rPr lang="zh-CN" altLang="en-US"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   射频指纹利用无人机硬件发射机（</a:t>
            </a:r>
            <a:r>
              <a:rPr lang="en-US" altLang="zh-CN"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DAC</a:t>
            </a:r>
            <a:r>
              <a:rPr lang="zh-CN" altLang="en-US"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PA</a:t>
            </a:r>
            <a:r>
              <a:rPr lang="zh-CN" altLang="en-US"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混频器）在制造中不可避免的</a:t>
            </a:r>
            <a:r>
              <a:rPr lang="zh-CN" altLang="en-US" sz="1600" b="1"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微小物理</a:t>
            </a:r>
            <a:r>
              <a:rPr lang="zh-CN" altLang="en-US"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容差进行身份判定，构成了设备独一无二的</a:t>
            </a:r>
            <a:r>
              <a:rPr lang="en-US" altLang="zh-CN"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b="1"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硬件</a:t>
            </a:r>
            <a:r>
              <a:rPr lang="en-US" altLang="zh-CN" sz="1600" b="1" dirty="0">
                <a:solidFill>
                  <a:srgbClr val="FF0000"/>
                </a:solidFill>
                <a:latin typeface="Times New Roman" panose="02020603050405020304" pitchFamily="18" charset="0"/>
                <a:ea typeface="微软雅黑" panose="020B0503020204020204" pitchFamily="34" charset="-122"/>
                <a:cs typeface="Arial" panose="020B0604020202020204" pitchFamily="34" charset="0"/>
              </a:rPr>
              <a:t>DNA</a:t>
            </a:r>
            <a:r>
              <a:rPr lang="en-US" altLang="zh-CN"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rPr>
              <a:t>”</a:t>
            </a:r>
            <a:endParaRPr lang="en-US" altLang="zh-CN" sz="1600" b="1" dirty="0">
              <a:solidFill>
                <a:srgbClr val="333333"/>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9" name="文本框 18"/>
          <p:cNvSpPr txBox="1"/>
          <p:nvPr/>
        </p:nvSpPr>
        <p:spPr>
          <a:xfrm>
            <a:off x="4141470" y="4234180"/>
            <a:ext cx="723900" cy="409575"/>
          </a:xfrm>
          <a:prstGeom prst="rect">
            <a:avLst/>
          </a:prstGeom>
          <a:noFill/>
        </p:spPr>
        <p:txBody>
          <a:bodyPr wrap="square" rtlCol="0">
            <a:noAutofit/>
          </a:bodyPr>
          <a:lstStyle/>
          <a:p>
            <a:pPr algn="ctr" defTabSz="914400" eaLnBrk="0" fontAlgn="base" hangingPunct="0"/>
            <a:r>
              <a:rPr lang="en-US" altLang="zh-CN" sz="2800" i="1"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微软雅黑" panose="020B0503020204020204" pitchFamily="34" charset="-122"/>
              </a:rPr>
              <a:t>VS</a:t>
            </a:r>
            <a:endParaRPr lang="en-US" altLang="zh-CN" sz="2800" i="1"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0" name="矩形 19"/>
          <p:cNvSpPr/>
          <p:nvPr/>
        </p:nvSpPr>
        <p:spPr>
          <a:xfrm>
            <a:off x="525145" y="3944620"/>
            <a:ext cx="3627120" cy="1160145"/>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21" name="矩形 20"/>
          <p:cNvSpPr/>
          <p:nvPr/>
        </p:nvSpPr>
        <p:spPr>
          <a:xfrm>
            <a:off x="4923790" y="3944620"/>
            <a:ext cx="3699510" cy="1160780"/>
          </a:xfrm>
          <a:prstGeom prst="rect">
            <a:avLst/>
          </a:prstGeom>
          <a:noFill/>
          <a:ln w="1905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23" name="文本框 22"/>
          <p:cNvSpPr txBox="1"/>
          <p:nvPr/>
        </p:nvSpPr>
        <p:spPr>
          <a:xfrm>
            <a:off x="525145" y="3944620"/>
            <a:ext cx="3557905" cy="354330"/>
          </a:xfrm>
          <a:prstGeom prst="rect">
            <a:avLst/>
          </a:prstGeom>
          <a:noFill/>
        </p:spPr>
        <p:txBody>
          <a:bodyPr wrap="square">
            <a:noAutofit/>
          </a:bodyPr>
          <a:lstStyle/>
          <a:p>
            <a:pPr algn="ctr" defTabSz="914400" eaLnBrk="0" fontAlgn="base" hangingPunct="0"/>
            <a:r>
              <a:rPr lang="zh-CN" altLang="en-US" sz="1800" b="1" dirty="0">
                <a:solidFill>
                  <a:srgbClr val="00B050"/>
                </a:solidFill>
                <a:latin typeface="Times New Roman" panose="02020603050405020304" pitchFamily="18" charset="0"/>
                <a:ea typeface="微软雅黑" panose="020B0503020204020204" pitchFamily="34" charset="-122"/>
                <a:cs typeface="微软雅黑" panose="020B0503020204020204" pitchFamily="34" charset="-122"/>
              </a:rPr>
              <a:t>射频指纹识别</a:t>
            </a:r>
            <a:r>
              <a:rPr lang="en-US" altLang="zh-CN" sz="1800" b="1" dirty="0">
                <a:solidFill>
                  <a:srgbClr val="00B050"/>
                </a:solidFill>
                <a:latin typeface="Times New Roman" panose="02020603050405020304" pitchFamily="18" charset="0"/>
                <a:ea typeface="微软雅黑" panose="020B0503020204020204" pitchFamily="34" charset="-122"/>
                <a:cs typeface="微软雅黑" panose="020B0503020204020204" pitchFamily="34" charset="-122"/>
              </a:rPr>
              <a:t> (RFFingerprinting)</a:t>
            </a:r>
            <a:endParaRPr lang="en-US" altLang="zh-CN" sz="1800" b="1" dirty="0">
              <a:solidFill>
                <a:srgbClr val="00B05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文本框 23"/>
          <p:cNvSpPr txBox="1"/>
          <p:nvPr/>
        </p:nvSpPr>
        <p:spPr>
          <a:xfrm>
            <a:off x="4963795" y="3944620"/>
            <a:ext cx="3098800" cy="328295"/>
          </a:xfrm>
          <a:prstGeom prst="rect">
            <a:avLst/>
          </a:prstGeom>
          <a:noFill/>
        </p:spPr>
        <p:txBody>
          <a:bodyPr wrap="square">
            <a:noAutofit/>
          </a:bodyPr>
          <a:lstStyle/>
          <a:p>
            <a:pPr algn="ctr" defTabSz="914400" eaLnBrk="0" fontAlgn="base" hangingPunct="0"/>
            <a:r>
              <a:rPr lang="zh-CN" altLang="en-US" sz="1800" b="1" dirty="0">
                <a:solidFill>
                  <a:srgbClr val="C55A11"/>
                </a:solidFill>
                <a:latin typeface="Times New Roman" panose="02020603050405020304" pitchFamily="18" charset="0"/>
                <a:ea typeface="微软雅黑" panose="020B0503020204020204" pitchFamily="34" charset="-122"/>
                <a:cs typeface="微软雅黑" panose="020B0503020204020204" pitchFamily="34" charset="-122"/>
              </a:rPr>
              <a:t>传统</a:t>
            </a:r>
            <a:r>
              <a:rPr lang="en-US" altLang="zh-CN" sz="1800" b="1" dirty="0">
                <a:solidFill>
                  <a:srgbClr val="C55A11"/>
                </a:solidFill>
                <a:latin typeface="Times New Roman" panose="02020603050405020304" pitchFamily="18" charset="0"/>
                <a:ea typeface="微软雅黑" panose="020B0503020204020204" pitchFamily="34" charset="-122"/>
                <a:cs typeface="微软雅黑" panose="020B0503020204020204" pitchFamily="34" charset="-122"/>
              </a:rPr>
              <a:t>MAC/</a:t>
            </a:r>
            <a:r>
              <a:rPr lang="zh-CN" altLang="en-US" sz="1800" b="1" dirty="0">
                <a:solidFill>
                  <a:srgbClr val="C55A11"/>
                </a:solidFill>
                <a:latin typeface="Times New Roman" panose="02020603050405020304" pitchFamily="18" charset="0"/>
                <a:ea typeface="微软雅黑" panose="020B0503020204020204" pitchFamily="34" charset="-122"/>
                <a:cs typeface="微软雅黑" panose="020B0503020204020204" pitchFamily="34" charset="-122"/>
              </a:rPr>
              <a:t>协议认证</a:t>
            </a:r>
            <a:endParaRPr lang="zh-CN" altLang="en-US" sz="1800" b="1" dirty="0">
              <a:solidFill>
                <a:srgbClr val="C55A1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 name="文本框 24"/>
          <p:cNvSpPr txBox="1"/>
          <p:nvPr/>
        </p:nvSpPr>
        <p:spPr>
          <a:xfrm>
            <a:off x="525780" y="4269105"/>
            <a:ext cx="3557270" cy="784225"/>
          </a:xfrm>
          <a:prstGeom prst="rect">
            <a:avLst/>
          </a:prstGeom>
          <a:noFill/>
        </p:spPr>
        <p:txBody>
          <a:bodyPr wrap="square" rtlCol="0">
            <a:noAutofit/>
          </a:bodyPr>
          <a:lstStyle/>
          <a:p>
            <a:pPr marL="0" indent="0" algn="l" defTabSz="914400" eaLnBrk="0" fontAlgn="base" hangingPunct="0">
              <a:buFont typeface="Times New Roman" panose="02020603050405020304" pitchFamily="18" charset="0"/>
              <a:buNone/>
            </a:pP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基于硬件固有的</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物理偏差特性</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l" defTabSz="914400" eaLnBrk="0" fontAlgn="base" hangingPunct="0">
              <a:buFont typeface="Times New Roman" panose="02020603050405020304" pitchFamily="18" charset="0"/>
              <a:buNone/>
            </a:pP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无需解析通信协议，抗伪造性极强</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l" defTabSz="914400" eaLnBrk="0" fontAlgn="base" hangingPunct="0">
              <a:buFont typeface="Times New Roman" panose="02020603050405020304" pitchFamily="18" charset="0"/>
              <a:buNone/>
            </a:pP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隐蔽性高</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，适用于非合作目标</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5078095" y="4270375"/>
            <a:ext cx="3437890" cy="782955"/>
          </a:xfrm>
          <a:prstGeom prst="rect">
            <a:avLst/>
          </a:prstGeom>
          <a:noFill/>
        </p:spPr>
        <p:txBody>
          <a:bodyPr wrap="square" rtlCol="0">
            <a:noAutofit/>
          </a:bodyPr>
          <a:lstStyle/>
          <a:p>
            <a:pPr marL="0" indent="0" defTabSz="914400" eaLnBrk="0" fontAlgn="base" hangingPunct="0">
              <a:buFont typeface="Times New Roman" panose="02020603050405020304" pitchFamily="18" charset="0"/>
              <a:buNone/>
            </a:pP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基于逻辑地址或数据难题</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Font typeface="Times New Roman" panose="02020603050405020304" pitchFamily="18" charset="0"/>
              <a:buNone/>
            </a:pP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极易被软件篡改或地址欺骗</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Font typeface="Times New Roman" panose="02020603050405020304" pitchFamily="18" charset="0"/>
              <a:buNone/>
            </a:pP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依赖合作协议</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，难以应对黑飞</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linds(horizontal)">
                                      <p:cBhvr>
                                        <p:cTn id="18" dur="500"/>
                                        <p:tgtEl>
                                          <p:spTgt spid="2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horizontal)">
                                      <p:cBhvr>
                                        <p:cTn id="21" dur="500"/>
                                        <p:tgtEl>
                                          <p:spTgt spid="2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blinds(horizontal)">
                                      <p:cBhvr>
                                        <p:cTn id="24" dur="500"/>
                                        <p:tgtEl>
                                          <p:spTgt spid="2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linds(horizontal)">
                                      <p:cBhvr>
                                        <p:cTn id="27" dur="500"/>
                                        <p:tgtEl>
                                          <p:spTgt spid="2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blinds(horizontal)">
                                      <p:cBhvr>
                                        <p:cTn id="3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ldLvl="0" animBg="1"/>
      <p:bldP spid="21" grpId="0" bldLvl="0" animBg="1"/>
      <p:bldP spid="23" grpId="0"/>
      <p:bldP spid="24" grpId="0"/>
      <p:bldP spid="25" grpId="0"/>
      <p:bldP spid="26" grpId="0"/>
      <p:bldP spid="19" grpId="1"/>
      <p:bldP spid="20" grpId="1" animBg="1"/>
      <p:bldP spid="21" grpId="1" animBg="1"/>
      <p:bldP spid="23" grpId="1"/>
      <p:bldP spid="24" grpId="1"/>
      <p:bldP spid="25" grpId="1"/>
      <p:bldP spid="2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文本框 148"/>
          <p:cNvSpPr txBox="1"/>
          <p:nvPr/>
        </p:nvSpPr>
        <p:spPr>
          <a:xfrm>
            <a:off x="830263" y="222250"/>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9" name="矩形 6"/>
          <p:cNvSpPr>
            <a:spLocks noChangeArrowheads="1"/>
          </p:cNvSpPr>
          <p:nvPr/>
        </p:nvSpPr>
        <p:spPr bwMode="auto">
          <a:xfrm>
            <a:off x="356986" y="748550"/>
            <a:ext cx="2669794"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just" defTabSz="914400" eaLnBrk="1" fontAlgn="base" hangingPunct="1">
              <a:lnSpc>
                <a:spcPts val="2300"/>
              </a:lnSpc>
            </a:pPr>
            <a:r>
              <a:rPr lang="en-US" altLang="zh-CN"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深度度量学习与元学习技术：</a:t>
            </a:r>
            <a:endParaRPr lang="en-US" altLang="zh-CN"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文本框 7"/>
          <p:cNvSpPr txBox="1"/>
          <p:nvPr/>
        </p:nvSpPr>
        <p:spPr>
          <a:xfrm>
            <a:off x="514985" y="1261110"/>
            <a:ext cx="4305935" cy="1849120"/>
          </a:xfrm>
          <a:prstGeom prst="rect">
            <a:avLst/>
          </a:prstGeom>
          <a:noFill/>
          <a:ln>
            <a:solidFill>
              <a:schemeClr val="accent1">
                <a:lumMod val="75000"/>
              </a:schemeClr>
            </a:solidFill>
          </a:ln>
        </p:spPr>
        <p:txBody>
          <a:bodyPr wrap="square" rtlCol="0">
            <a:noAutofit/>
          </a:bodyPr>
          <a:lstStyle/>
          <a:p>
            <a:pPr indent="360045" defTabSz="914400" eaLnBrk="0" fontAlgn="base" hangingPunct="0">
              <a:lnSpc>
                <a:spcPct val="125000"/>
              </a:lnSpc>
            </a:pPr>
            <a:r>
              <a:rPr lang="zh-CN" altLang="en-US" sz="1600" b="1" dirty="0">
                <a:latin typeface="Times New Roman" panose="02020603050405020304" pitchFamily="18" charset="0"/>
                <a:ea typeface="微软雅黑" panose="020B0503020204020204" pitchFamily="34" charset="-122"/>
                <a:cs typeface="微软雅黑" panose="020B0503020204020204" pitchFamily="34" charset="-122"/>
              </a:rPr>
              <a:t>深度度量学习（</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Deep Metric Learning</a:t>
            </a:r>
            <a:r>
              <a:rPr lang="zh-CN" altLang="en-US" sz="1600" b="1" dirty="0">
                <a:latin typeface="Times New Roman" panose="02020603050405020304" pitchFamily="18" charset="0"/>
                <a:ea typeface="微软雅黑" panose="020B0503020204020204" pitchFamily="34" charset="-122"/>
                <a:cs typeface="微软雅黑" panose="020B0503020204020204" pitchFamily="34" charset="-122"/>
              </a:rPr>
              <a:t>）</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是优化高维特征空间的核心技术。通过特定损失函数（如原型损失），使神经网络不仅能分类，还能拉近同类射频指纹的距离，推远异类距离。这是实现</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高辨识度指纹提取</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的理论基础。</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a:p>
            <a:pPr indent="360045" defTabSz="914400" eaLnBrk="0" fontAlgn="base" hangingPunct="0">
              <a:lnSpc>
                <a:spcPct val="125000"/>
              </a:lnSpc>
            </a:pP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文本框 12"/>
          <p:cNvSpPr txBox="1"/>
          <p:nvPr/>
        </p:nvSpPr>
        <p:spPr>
          <a:xfrm>
            <a:off x="515072" y="3226977"/>
            <a:ext cx="4305784" cy="1630045"/>
          </a:xfrm>
          <a:prstGeom prst="rect">
            <a:avLst/>
          </a:prstGeom>
          <a:noFill/>
          <a:ln>
            <a:solidFill>
              <a:schemeClr val="accent1">
                <a:lumMod val="75000"/>
              </a:schemeClr>
            </a:solidFill>
          </a:ln>
        </p:spPr>
        <p:txBody>
          <a:bodyPr wrap="square" rtlCol="0">
            <a:spAutoFit/>
          </a:bodyPr>
          <a:lstStyle/>
          <a:p>
            <a:pPr indent="360045" defTabSz="914400" eaLnBrk="0" fontAlgn="base" hangingPunct="0">
              <a:lnSpc>
                <a:spcPct val="125000"/>
              </a:lnSpc>
            </a:pPr>
            <a:r>
              <a:rPr lang="zh-CN" altLang="en-US" sz="1600" b="1" dirty="0">
                <a:latin typeface="Times New Roman" panose="02020603050405020304" pitchFamily="18" charset="0"/>
                <a:ea typeface="微软雅黑" panose="020B0503020204020204" pitchFamily="34" charset="-122"/>
                <a:cs typeface="微软雅黑" panose="020B0503020204020204" pitchFamily="34" charset="-122"/>
              </a:rPr>
              <a:t>元学习策略（</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Meta-learning</a:t>
            </a:r>
            <a:r>
              <a:rPr lang="zh-CN" altLang="en-US" sz="1600" b="1" dirty="0">
                <a:latin typeface="Times New Roman" panose="02020603050405020304" pitchFamily="18" charset="0"/>
                <a:ea typeface="微软雅黑" panose="020B0503020204020204" pitchFamily="34" charset="-122"/>
                <a:cs typeface="微软雅黑" panose="020B0503020204020204" pitchFamily="34" charset="-122"/>
              </a:rPr>
              <a:t>）</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即</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学会学习</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，通过</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N-way K-shot</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的情景训练模式，迫使模型在每次任务中仅依赖极少量样本进行预测。其快速自适应特性为突破深度学习的</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数据饥饿</a:t>
            </a:r>
            <a:r>
              <a:rPr lang="en-US" altLang="zh-CN" sz="1600" dirty="0">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cs typeface="微软雅黑" panose="020B0503020204020204" pitchFamily="34" charset="-122"/>
              </a:rPr>
              <a:t>瓶颈提供了有效途径。</a:t>
            </a:r>
            <a:endParaRPr lang="zh-CN" altLang="en-US" sz="1600" dirty="0">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5" name="图片 14"/>
          <p:cNvPicPr>
            <a:picLocks noChangeAspect="1"/>
          </p:cNvPicPr>
          <p:nvPr/>
        </p:nvPicPr>
        <p:blipFill>
          <a:blip r:embed="rId1"/>
          <a:stretch>
            <a:fillRect/>
          </a:stretch>
        </p:blipFill>
        <p:spPr>
          <a:xfrm>
            <a:off x="5353685" y="1261110"/>
            <a:ext cx="3293745" cy="1654175"/>
          </a:xfrm>
          <a:prstGeom prst="rect">
            <a:avLst/>
          </a:prstGeom>
        </p:spPr>
      </p:pic>
      <p:pic>
        <p:nvPicPr>
          <p:cNvPr id="16" name="图片 15"/>
          <p:cNvPicPr>
            <a:picLocks noChangeAspect="1"/>
          </p:cNvPicPr>
          <p:nvPr/>
        </p:nvPicPr>
        <p:blipFill>
          <a:blip r:embed="rId2"/>
          <a:stretch>
            <a:fillRect/>
          </a:stretch>
        </p:blipFill>
        <p:spPr>
          <a:xfrm>
            <a:off x="5353685" y="3227070"/>
            <a:ext cx="3293745" cy="1414780"/>
          </a:xfrm>
          <a:prstGeom prst="rect">
            <a:avLst/>
          </a:prstGeom>
        </p:spPr>
      </p:pic>
      <p:sp>
        <p:nvSpPr>
          <p:cNvPr id="17" name="文本框 16"/>
          <p:cNvSpPr txBox="1"/>
          <p:nvPr/>
        </p:nvSpPr>
        <p:spPr>
          <a:xfrm>
            <a:off x="5210810" y="4683125"/>
            <a:ext cx="3124200" cy="331470"/>
          </a:xfrm>
          <a:prstGeom prst="rect">
            <a:avLst/>
          </a:prstGeom>
        </p:spPr>
        <p:txBody>
          <a:bodyPr>
            <a:noAutofit/>
          </a:bodyPr>
          <a:p>
            <a:pPr marL="0" indent="0" defTabSz="914400" eaLnBrk="0" fontAlgn="base" hangingPunct="0"/>
            <a:r>
              <a:rPr lang="zh-CN" altLang="en-US" sz="1400" b="1" i="0">
                <a:solidFill>
                  <a:srgbClr val="2B2D31"/>
                </a:solidFill>
                <a:latin typeface="Times New Roman" panose="02020603050405020304" pitchFamily="18" charset="0"/>
                <a:ea typeface="Times New Roman" panose="02020603050405020304" pitchFamily="18" charset="0"/>
                <a:cs typeface="微软雅黑" panose="020B0503020204020204" pitchFamily="34" charset="-122"/>
              </a:rPr>
              <a:t>支持集与查询集的迭代训练示意图</a:t>
            </a:r>
            <a:endParaRPr lang="zh-CN" altLang="en-US" sz="1400" b="1" i="0">
              <a:solidFill>
                <a:srgbClr val="2B2D31"/>
              </a:solidFill>
              <a:latin typeface="Times New Roman" panose="02020603050405020304" pitchFamily="18" charset="0"/>
              <a:ea typeface="Times New Roman" panose="02020603050405020304" pitchFamily="18" charset="0"/>
              <a:cs typeface="微软雅黑" panose="020B0503020204020204" pitchFamily="34" charset="-122"/>
            </a:endParaRPr>
          </a:p>
        </p:txBody>
      </p:sp>
      <p:sp>
        <p:nvSpPr>
          <p:cNvPr id="18" name="文本框 17"/>
          <p:cNvSpPr txBox="1"/>
          <p:nvPr/>
        </p:nvSpPr>
        <p:spPr>
          <a:xfrm>
            <a:off x="5353685" y="2815590"/>
            <a:ext cx="3321685" cy="306705"/>
          </a:xfrm>
          <a:prstGeom prst="rect">
            <a:avLst/>
          </a:prstGeom>
        </p:spPr>
        <p:txBody>
          <a:bodyPr wrap="square">
            <a:spAutoFit/>
          </a:bodyPr>
          <a:p>
            <a:pPr marL="0" indent="0" defTabSz="914400" eaLnBrk="0" fontAlgn="base" hangingPunct="0"/>
            <a:r>
              <a:rPr lang="zh-CN" altLang="en-US" sz="1400" b="1" i="0">
                <a:solidFill>
                  <a:srgbClr val="2B2D31"/>
                </a:solidFill>
                <a:latin typeface="Times New Roman" panose="02020603050405020304" pitchFamily="18" charset="0"/>
                <a:ea typeface="微软雅黑" panose="020B0503020204020204" pitchFamily="34" charset="-122"/>
                <a:cs typeface="微软雅黑" panose="020B0503020204020204" pitchFamily="34" charset="-122"/>
              </a:rPr>
              <a:t>高维空间聚类散点图 </a:t>
            </a:r>
            <a:r>
              <a:rPr lang="en-US" altLang="zh-CN" sz="1400" b="1" i="0">
                <a:solidFill>
                  <a:srgbClr val="2B2D31"/>
                </a:solidFill>
                <a:latin typeface="Times New Roman" panose="02020603050405020304" pitchFamily="18" charset="0"/>
                <a:ea typeface="微软雅黑" panose="020B0503020204020204" pitchFamily="34" charset="-122"/>
                <a:cs typeface="微软雅黑" panose="020B0503020204020204" pitchFamily="34" charset="-122"/>
              </a:rPr>
              <a:t>(t-SNE)</a:t>
            </a:r>
            <a:endParaRPr lang="en-US" altLang="zh-CN" sz="1400" b="1" i="0">
              <a:solidFill>
                <a:srgbClr val="2B2D31"/>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par>
                                <p:cTn id="19" presetID="3" presetClass="entr" presetSubtype="1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linds(horizontal)">
                                      <p:cBhvr>
                                        <p:cTn id="21" dur="500"/>
                                        <p:tgtEl>
                                          <p:spTgt spid="1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blinds(horizontal)">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8" grpId="0"/>
      <p:bldP spid="8" grpId="1" animBg="1"/>
      <p:bldP spid="18" grpId="1"/>
      <p:bldP spid="13" grpId="0" bldLvl="0" animBg="1"/>
      <p:bldP spid="17" grpId="0"/>
      <p:bldP spid="13" grpId="1" animBg="1"/>
      <p:bldP spid="1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文本框 148"/>
          <p:cNvSpPr txBox="1"/>
          <p:nvPr/>
        </p:nvSpPr>
        <p:spPr>
          <a:xfrm>
            <a:off x="830263" y="222250"/>
            <a:ext cx="2659380" cy="3987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4472C4">
                    <a:lumMod val="75000"/>
                  </a:srgbClr>
                </a:solidFill>
                <a:effectLst/>
                <a:uLnTx/>
                <a:uFillTx/>
                <a:latin typeface="Times New Roman" panose="02020603050405020304" pitchFamily="18" charset="0"/>
                <a:ea typeface="微软雅黑" panose="020B0503020204020204" pitchFamily="34" charset="-122"/>
                <a:cs typeface="微软雅黑" panose="020B0503020204020204" pitchFamily="34" charset="-122"/>
              </a:rPr>
              <a:t>1 </a:t>
            </a:r>
            <a:r>
              <a:rPr kumimoji="0" lang="zh-CN" altLang="en-US" sz="2000" b="1" i="0" u="none" strike="noStrike" kern="1200" cap="none" spc="0" normalizeH="0" baseline="0" noProof="0" dirty="0">
                <a:ln>
                  <a:noFill/>
                </a:ln>
                <a:solidFill>
                  <a:srgbClr val="4472C4">
                    <a:lumMod val="75000"/>
                  </a:srgbClr>
                </a:solidFill>
                <a:effectLst/>
                <a:uLnTx/>
                <a:uFillTx/>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kumimoji="0" lang="zh-CN" altLang="en-US" sz="2000" b="1" i="0" u="none" strike="noStrike" kern="1200" cap="none" spc="0" normalizeH="0" baseline="0" noProof="0" dirty="0">
              <a:ln>
                <a:noFill/>
              </a:ln>
              <a:solidFill>
                <a:srgbClr val="4472C4">
                  <a:lumMod val="75000"/>
                </a:srgbClr>
              </a:solidFill>
              <a:effectLst/>
              <a:uLnTx/>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 name="文本框 9"/>
          <p:cNvSpPr txBox="1">
            <a:spLocks noChangeArrowheads="1"/>
          </p:cNvSpPr>
          <p:nvPr/>
        </p:nvSpPr>
        <p:spPr bwMode="auto">
          <a:xfrm>
            <a:off x="372745" y="788670"/>
            <a:ext cx="200914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defTabSz="914400" eaLnBrk="1" fontAlgn="base" hangingPunct="1"/>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当前研究存在的问题：</a:t>
            </a:r>
            <a:endPar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矩形: 圆角 2"/>
          <p:cNvSpPr/>
          <p:nvPr/>
        </p:nvSpPr>
        <p:spPr>
          <a:xfrm>
            <a:off x="372556" y="1262581"/>
            <a:ext cx="3856457" cy="1028700"/>
          </a:xfrm>
          <a:prstGeom prst="roundRect">
            <a:avLst/>
          </a:prstGeom>
          <a:solidFill>
            <a:schemeClr val="accent2">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defTabSz="914400" eaLnBrk="0" fontAlgn="base" hangingPunct="0"/>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450" b="1"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样本极度匮乏场景：</a:t>
            </a:r>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指在非合作监测环境下，由于截获机会有限，获取目标无人机的大量带标签均衡数据极其困难，导致传统模型</a:t>
            </a:r>
            <a:r>
              <a:rPr lang="zh-CN" altLang="en-US" sz="145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无法有效训练</a:t>
            </a:r>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graphicFrame>
        <p:nvGraphicFramePr>
          <p:cNvPr id="4" name="对象 3"/>
          <p:cNvGraphicFramePr>
            <a:graphicFrameLocks noChangeAspect="1"/>
          </p:cNvGraphicFramePr>
          <p:nvPr/>
        </p:nvGraphicFramePr>
        <p:xfrm>
          <a:off x="4694664" y="1262581"/>
          <a:ext cx="3977866" cy="3276883"/>
        </p:xfrm>
        <a:graphic>
          <a:graphicData uri="http://schemas.openxmlformats.org/presentationml/2006/ole">
            <mc:AlternateContent xmlns:mc="http://schemas.openxmlformats.org/markup-compatibility/2006">
              <mc:Choice xmlns:v="urn:schemas-microsoft-com:vml" Requires="v">
                <p:oleObj spid="_x0000_s5" name="Visio" r:id="rId1" imgW="3593465" imgH="2960370" progId="Visio.Drawing.15">
                  <p:embed/>
                </p:oleObj>
              </mc:Choice>
              <mc:Fallback>
                <p:oleObj name="Visio" r:id="rId1" imgW="3593465" imgH="2960370" progId="Visio.Drawing.15">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4664" y="1262581"/>
                        <a:ext cx="3977866" cy="3276883"/>
                      </a:xfrm>
                      <a:prstGeom prst="rect">
                        <a:avLst/>
                      </a:prstGeom>
                      <a:noFill/>
                    </p:spPr>
                  </p:pic>
                </p:oleObj>
              </mc:Fallback>
            </mc:AlternateContent>
          </a:graphicData>
        </a:graphic>
      </p:graphicFrame>
      <p:sp>
        <p:nvSpPr>
          <p:cNvPr id="11" name="矩形 10"/>
          <p:cNvSpPr/>
          <p:nvPr/>
        </p:nvSpPr>
        <p:spPr>
          <a:xfrm>
            <a:off x="4359058" y="788552"/>
            <a:ext cx="4647156" cy="41780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2" name="矩形: 圆角 11"/>
          <p:cNvSpPr/>
          <p:nvPr/>
        </p:nvSpPr>
        <p:spPr>
          <a:xfrm>
            <a:off x="372554" y="2457533"/>
            <a:ext cx="3856457" cy="1237278"/>
          </a:xfrm>
          <a:prstGeom prst="roundRect">
            <a:avLst/>
          </a:prstGeom>
          <a:solidFill>
            <a:schemeClr val="accent3">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defTabSz="914400" eaLnBrk="0" fontAlgn="base" hangingPunct="0"/>
            <a:r>
              <a:rPr lang="zh-CN" altLang="en-US" sz="1450" b="1"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高维空间过拟合场景：</a:t>
            </a:r>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指在少样本条件下，传统深度网络极易过度记忆少量样本中的噪声，导致泛化性能断崖式下降，表现为模型</a:t>
            </a:r>
            <a:r>
              <a:rPr lang="zh-CN" altLang="en-US" sz="145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严重过拟合</a:t>
            </a:r>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p>
            <a:pPr indent="457200" algn="just" defTabSz="914400" eaLnBrk="0" fontAlgn="base" hangingPunct="0"/>
            <a:endPar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Rectangle 4"/>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矩形 15"/>
          <p:cNvSpPr/>
          <p:nvPr/>
        </p:nvSpPr>
        <p:spPr>
          <a:xfrm>
            <a:off x="4423725" y="788552"/>
            <a:ext cx="4647156" cy="41780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graphicFrame>
        <p:nvGraphicFramePr>
          <p:cNvPr id="15" name="对象 14"/>
          <p:cNvGraphicFramePr>
            <a:graphicFrameLocks noChangeAspect="1"/>
          </p:cNvGraphicFramePr>
          <p:nvPr/>
        </p:nvGraphicFramePr>
        <p:xfrm>
          <a:off x="4725590" y="1096329"/>
          <a:ext cx="4076985" cy="3443135"/>
        </p:xfrm>
        <a:graphic>
          <a:graphicData uri="http://schemas.openxmlformats.org/presentationml/2006/ole">
            <mc:AlternateContent xmlns:mc="http://schemas.openxmlformats.org/markup-compatibility/2006">
              <mc:Choice xmlns:v="urn:schemas-microsoft-com:vml" Requires="v">
                <p:oleObj spid="_x0000_s6" name="Visio" r:id="rId3" imgW="4468495" imgH="3776345" progId="Visio.Drawing.15">
                  <p:embed/>
                </p:oleObj>
              </mc:Choice>
              <mc:Fallback>
                <p:oleObj name="Visio" r:id="rId3" imgW="4468495" imgH="3776345"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5590" y="1096329"/>
                        <a:ext cx="4076985" cy="3443135"/>
                      </a:xfrm>
                      <a:prstGeom prst="rect">
                        <a:avLst/>
                      </a:prstGeom>
                      <a:noFill/>
                    </p:spPr>
                  </p:pic>
                </p:oleObj>
              </mc:Fallback>
            </mc:AlternateContent>
          </a:graphicData>
        </a:graphic>
      </p:graphicFrame>
      <p:sp>
        <p:nvSpPr>
          <p:cNvPr id="17" name="矩形: 圆角 16"/>
          <p:cNvSpPr/>
          <p:nvPr/>
        </p:nvSpPr>
        <p:spPr>
          <a:xfrm>
            <a:off x="372555" y="3817088"/>
            <a:ext cx="3856457" cy="1107334"/>
          </a:xfrm>
          <a:prstGeom prst="roundRect">
            <a:avLst/>
          </a:prstGeom>
          <a:solidFill>
            <a:schemeClr val="accent6">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defTabSz="914400" eaLnBrk="0" fontAlgn="base" hangingPunct="0"/>
            <a:r>
              <a:rPr lang="en-US" altLang="zh-CN"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rPr>
              <a:t>    </a:t>
            </a:r>
            <a:r>
              <a:rPr lang="zh-CN" altLang="en-US" sz="1450" b="1"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复杂电磁失真场景：</a:t>
            </a:r>
            <a:r>
              <a:rPr lang="zh-CN" altLang="en-US" sz="145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指在实际信道中，由于多径效应、低信噪比及频偏干扰，提取的射频指纹往往掺杂了信道状态信息，导致指纹特征</a:t>
            </a:r>
            <a:r>
              <a:rPr lang="zh-CN" altLang="en-US" sz="145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鲁棒性差、易畸变。</a:t>
            </a:r>
            <a:endParaRPr lang="zh-CN" altLang="en-US" sz="145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Rectangle 6"/>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 name="矩形 21"/>
          <p:cNvSpPr/>
          <p:nvPr/>
        </p:nvSpPr>
        <p:spPr>
          <a:xfrm>
            <a:off x="4572000" y="864296"/>
            <a:ext cx="4434214" cy="41780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pic>
        <p:nvPicPr>
          <p:cNvPr id="7" name="图片 6"/>
          <p:cNvPicPr>
            <a:picLocks noChangeAspect="1"/>
          </p:cNvPicPr>
          <p:nvPr/>
        </p:nvPicPr>
        <p:blipFill>
          <a:blip r:embed="rId5"/>
          <a:stretch>
            <a:fillRect/>
          </a:stretch>
        </p:blipFill>
        <p:spPr>
          <a:xfrm>
            <a:off x="4549775" y="1262380"/>
            <a:ext cx="4123055" cy="3187700"/>
          </a:xfrm>
          <a:prstGeom prst="rect">
            <a:avLst/>
          </a:prstGeom>
        </p:spPr>
      </p:pic>
      <p:sp>
        <p:nvSpPr>
          <p:cNvPr id="8" name="文本框 7"/>
          <p:cNvSpPr txBox="1"/>
          <p:nvPr/>
        </p:nvSpPr>
        <p:spPr>
          <a:xfrm>
            <a:off x="4359275" y="4458970"/>
            <a:ext cx="4647565" cy="313055"/>
          </a:xfrm>
          <a:prstGeom prst="rect">
            <a:avLst/>
          </a:prstGeom>
        </p:spPr>
        <p:txBody>
          <a:bodyPr wrap="square">
            <a:noAutofit/>
          </a:bodyPr>
          <a:p>
            <a:pPr marL="0" indent="0" defTabSz="914400" eaLnBrk="0" fontAlgn="base" hangingPunct="0"/>
            <a:r>
              <a:rPr lang="zh-CN" altLang="en-US" sz="1400" b="0" i="0">
                <a:solidFill>
                  <a:srgbClr val="0F1115"/>
                </a:solidFill>
                <a:latin typeface="Times New Roman" panose="02020603050405020304" pitchFamily="18" charset="0"/>
                <a:ea typeface="微软雅黑" panose="020B0503020204020204" pitchFamily="34" charset="-122"/>
                <a:cs typeface="微软雅黑" panose="020B0503020204020204" pitchFamily="34" charset="-122"/>
              </a:rPr>
              <a:t>信号从地面到空中的“截获”或通信链路的基本构成方式</a:t>
            </a:r>
            <a:endParaRPr lang="zh-CN" altLang="en-US" sz="1400" b="0" i="0">
              <a:solidFill>
                <a:srgbClr val="0F1115"/>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linds(horizontal)">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blinds(horizontal)">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linds(horizontal)">
                                      <p:cBhvr>
                                        <p:cTn id="29" dur="500"/>
                                        <p:tgtEl>
                                          <p:spTgt spid="4"/>
                                        </p:tgtEl>
                                      </p:cBhvr>
                                    </p:animEffect>
                                  </p:childTnLst>
                                </p:cTn>
                              </p:par>
                              <p:par>
                                <p:cTn id="30" presetID="3" presetClass="entr" presetSubtype="1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par>
                                <p:cTn id="33" presetID="3" presetClass="entr" presetSubtype="1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blinds(horizontal)">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6" grpId="0" bldLvl="0" animBg="1"/>
      <p:bldP spid="3" grpId="0" bldLvl="0" animBg="1"/>
      <p:bldP spid="12" grpId="0" bldLvl="0" animBg="1"/>
      <p:bldP spid="17" grpId="0" bldLvl="0" animBg="1"/>
      <p:bldP spid="3" grpId="1" animBg="1"/>
      <p:bldP spid="12" grpId="1" animBg="1"/>
      <p:bldP spid="17" grpId="1" animBg="1"/>
      <p:bldP spid="22" grpId="0" bldLvl="0" animBg="1"/>
      <p:bldP spid="22" grpId="1" animBg="1"/>
      <p:bldP spid="8" grpId="0"/>
      <p:bldP spid="8"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793750" y="717550"/>
            <a:ext cx="209391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r>
              <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部分代表性研究工作</a:t>
            </a:r>
            <a:endPar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719455" y="1387475"/>
            <a:ext cx="7755255" cy="2543175"/>
          </a:xfrm>
          <a:prstGeom prst="rect">
            <a:avLst/>
          </a:prstGeom>
          <a:noFill/>
          <a:ln w="9525">
            <a:noFill/>
          </a:ln>
        </p:spPr>
        <p:txBody>
          <a:bodyPr>
            <a:noAutofit/>
          </a:bodyPr>
          <a:lstStyle/>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 2023</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年，邵亮等人针对无人机识别进行技术综述，指出传统方法多聚焦于提取发射机瞬态或稳态阶段的物理特性，实现对射频信号的初步人工表征。</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2025</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年，聂伟等人提出了一种基于声学特征的识别方法，通过提取信号的梅尔倒谱系数（</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MFCC</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）作为人工频域特征，实现无人机探测与设备身份鉴别。</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2023</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Kashyap</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等人提出利用复杂柔性解析小波变换（</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CFAWT</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）对射频信号进行多尺度时频特征分解，实现无人机飞行状态与身份特征的提取。</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2021</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Nie</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等人提出了一种基于多维信号特征工程的无人机检测与定位方案，通过提取多域人工特征进行设备身份鉴别与空间定位。</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p 2022</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Shen</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等人提出了一种面向实时检测的射频特征提取框架，通过构建混合信号特征工程，实现对实时无人机目标的跟踪与身份识别。</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圆角矩形 7"/>
          <p:cNvSpPr/>
          <p:nvPr/>
        </p:nvSpPr>
        <p:spPr>
          <a:xfrm>
            <a:off x="493076" y="1073150"/>
            <a:ext cx="3642989" cy="3143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400" eaLnBrk="1" fontAlgn="auto" hangingPunct="1">
              <a:spcBef>
                <a:spcPts val="0"/>
              </a:spcBef>
              <a:spcAft>
                <a:spcPts val="0"/>
              </a:spcAft>
              <a:defRPr/>
            </a:pPr>
            <a:r>
              <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一、少样本场景下射频识别研究</a:t>
            </a:r>
            <a:endPar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圆角矩形 2"/>
          <p:cNvSpPr/>
          <p:nvPr/>
        </p:nvSpPr>
        <p:spPr>
          <a:xfrm>
            <a:off x="693738" y="4294677"/>
            <a:ext cx="7805738" cy="691169"/>
          </a:xfrm>
          <a:prstGeom prst="round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360045" defTabSz="914400" eaLnBrk="1" fontAlgn="auto" hangingPunct="1">
              <a:lnSpc>
                <a:spcPts val="2175"/>
              </a:lnSpc>
              <a:spcBef>
                <a:spcPts val="0"/>
              </a:spcBef>
              <a:spcAft>
                <a:spcPts val="0"/>
              </a:spcAft>
              <a:defRPr/>
            </a:pPr>
            <a:r>
              <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目前传统方法高度依赖专家知识与繁琐的特征工程，极易受复杂电磁干扰影响。同时，这类方法对信号截取精度要求极高，难以适应非合作环境下的实时、高效识别需求。</a:t>
            </a:r>
            <a:endPar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Freeform 30"/>
          <p:cNvSpPr>
            <a:spLocks noEditPoints="1"/>
          </p:cNvSpPr>
          <p:nvPr/>
        </p:nvSpPr>
        <p:spPr bwMode="auto">
          <a:xfrm>
            <a:off x="693738" y="763588"/>
            <a:ext cx="219075" cy="284162"/>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ED493F"/>
          </a:solidFill>
          <a:ln>
            <a:noFill/>
          </a:ln>
        </p:spPr>
        <p:txBody>
          <a:bodyPr/>
          <a:lstStyle/>
          <a:p>
            <a:pPr defTabSz="914400" eaLnBrk="1" fontAlgn="auto" hangingPunct="1">
              <a:spcBef>
                <a:spcPts val="0"/>
              </a:spcBef>
              <a:spcAft>
                <a:spcPts val="0"/>
              </a:spcAft>
              <a:defRPr/>
            </a:pPr>
            <a:endParaRPr lang="zh-CN" altLang="en-US" sz="1350" dirty="0">
              <a:solidFill>
                <a:srgbClr val="2298B4"/>
              </a:solidFill>
              <a:latin typeface="+mn-lt"/>
              <a:ea typeface="+mn-ea"/>
              <a:cs typeface="微软雅黑" panose="020B0503020204020204" pitchFamily="34" charset="-122"/>
            </a:endParaRPr>
          </a:p>
        </p:txBody>
      </p:sp>
      <p:sp>
        <p:nvSpPr>
          <p:cNvPr id="9" name="文本框 8"/>
          <p:cNvSpPr txBox="1"/>
          <p:nvPr/>
        </p:nvSpPr>
        <p:spPr>
          <a:xfrm>
            <a:off x="830263" y="222250"/>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ldLvl="0" animBg="1"/>
      <p:bldP spid="7" grpId="1"/>
      <p:bldP spid="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7" name="文本框 6"/>
          <p:cNvSpPr txBox="1"/>
          <p:nvPr/>
        </p:nvSpPr>
        <p:spPr>
          <a:xfrm>
            <a:off x="779145" y="1428115"/>
            <a:ext cx="7716520" cy="2843530"/>
          </a:xfrm>
          <a:prstGeom prst="rect">
            <a:avLst/>
          </a:prstGeom>
          <a:noFill/>
          <a:ln w="9525">
            <a:noFill/>
          </a:ln>
        </p:spPr>
        <p:txBody>
          <a:bodyPr>
            <a:noAutofit/>
          </a:bodyPr>
          <a:lstStyle/>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2018</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350" dirty="0">
                <a:latin typeface="Times New Roman" panose="02020603050405020304" pitchFamily="18" charset="0"/>
                <a:ea typeface="微软雅黑" panose="020B0503020204020204" pitchFamily="34" charset="-122"/>
                <a:cs typeface="Times New Roman" panose="02020603050405020304" pitchFamily="18" charset="0"/>
              </a:rPr>
              <a:t>Merchant</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等人率先将深度学习引入认知通信网络，实现了从原始</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I/Q</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信号到高维特征的端到端自动提取，显著提升了理想环境下的识别精度。</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2022</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年，董健等人提出了一种基于复数域特征提取的新框架，通过构建复数神经网络模型充分利用信号实部与虚部，有效提升了低信噪比环境下的识别精度。</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2021</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Yu</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等人提出了一种鲁棒的射频指纹识别方法，通过设计抗干扰网络结构，增强了模型在存在严重信道失真与多径衰落条件下的识别性能。</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2026</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年，张杰等人提出了一种跨时间鲁棒识别方法，通过置信度差异与熵最小化策略，有效解决了跨时间、跨场景导致的信号偏移问题，提升了对动态信道的适应力。</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2022</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年，许延提出了一种面向复杂背景的深度网络检测模型，深入研究了在强电磁干扰与复杂背景下的无人机无线电信号深度特征挖掘与识别技术。</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圆角矩形 7"/>
          <p:cNvSpPr/>
          <p:nvPr/>
        </p:nvSpPr>
        <p:spPr>
          <a:xfrm>
            <a:off x="417512" y="1176338"/>
            <a:ext cx="4371575" cy="3143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400" eaLnBrk="1" fontAlgn="auto" hangingPunct="1">
              <a:spcBef>
                <a:spcPts val="0"/>
              </a:spcBef>
              <a:spcAft>
                <a:spcPts val="0"/>
              </a:spcAft>
              <a:defRPr/>
            </a:pPr>
            <a:r>
              <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二</a:t>
            </a:r>
            <a:r>
              <a:rPr lang="en-US" altLang="zh-CN"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、基于深度学习的射频指纹识别研究</a:t>
            </a:r>
            <a:endPar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圆角矩形 2"/>
          <p:cNvSpPr/>
          <p:nvPr/>
        </p:nvSpPr>
        <p:spPr>
          <a:xfrm>
            <a:off x="740410" y="4393565"/>
            <a:ext cx="7691120" cy="667385"/>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360045" defTabSz="914400" eaLnBrk="1" fontAlgn="auto" hangingPunct="1">
              <a:lnSpc>
                <a:spcPts val="2175"/>
              </a:lnSpc>
              <a:spcBef>
                <a:spcPts val="0"/>
              </a:spcBef>
              <a:spcAft>
                <a:spcPts val="0"/>
              </a:spcAft>
              <a:defRPr/>
            </a:pPr>
            <a:r>
              <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现有的深度学习方法性能卓越，但高度依赖海量且带标签的均衡数据。在实际非合作场景下，模型极易陷入</a:t>
            </a:r>
            <a:r>
              <a:rPr lang="en-US" altLang="zh-CN"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数据饥饿</a:t>
            </a:r>
            <a:r>
              <a:rPr lang="en-US" altLang="zh-CN"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与严重过拟合，导致泛化性能大幅下降（即小样本失效问题）。</a:t>
            </a:r>
            <a:endPar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圆角矩形 3"/>
          <p:cNvSpPr/>
          <p:nvPr/>
        </p:nvSpPr>
        <p:spPr>
          <a:xfrm>
            <a:off x="666750" y="781050"/>
            <a:ext cx="2400300" cy="350838"/>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r>
              <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部分代表性研究工作</a:t>
            </a:r>
            <a:endPar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13" name="Freeform 30"/>
          <p:cNvSpPr>
            <a:spLocks noEditPoints="1"/>
          </p:cNvSpPr>
          <p:nvPr/>
        </p:nvSpPr>
        <p:spPr bwMode="auto">
          <a:xfrm>
            <a:off x="654050" y="827088"/>
            <a:ext cx="250825" cy="284162"/>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ED493F"/>
          </a:solidFill>
          <a:ln>
            <a:noFill/>
          </a:ln>
        </p:spPr>
        <p:txBody>
          <a:bodyPr/>
          <a:lstStyle/>
          <a:p>
            <a:pPr defTabSz="914400" eaLnBrk="1" fontAlgn="auto" hangingPunct="1">
              <a:spcBef>
                <a:spcPts val="0"/>
              </a:spcBef>
              <a:spcAft>
                <a:spcPts val="0"/>
              </a:spcAft>
              <a:defRPr/>
            </a:pPr>
            <a:endParaRPr lang="zh-CN" altLang="en-US" sz="1350" dirty="0">
              <a:solidFill>
                <a:srgbClr val="2298B4"/>
              </a:solidFill>
              <a:latin typeface="+mn-lt"/>
              <a:ea typeface="+mn-ea"/>
              <a:cs typeface="微软雅黑" panose="020B0503020204020204" pitchFamily="34" charset="-122"/>
            </a:endParaRPr>
          </a:p>
        </p:txBody>
      </p:sp>
      <p:sp>
        <p:nvSpPr>
          <p:cNvPr id="9" name="文本框 8"/>
          <p:cNvSpPr txBox="1"/>
          <p:nvPr/>
        </p:nvSpPr>
        <p:spPr>
          <a:xfrm>
            <a:off x="830263" y="222250"/>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ldLvl="0" animBg="1"/>
      <p:bldP spid="7" grpId="1"/>
      <p:bldP spid="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7" name="文本框 6"/>
          <p:cNvSpPr txBox="1"/>
          <p:nvPr/>
        </p:nvSpPr>
        <p:spPr>
          <a:xfrm>
            <a:off x="580390" y="1386840"/>
            <a:ext cx="7983220" cy="2313940"/>
          </a:xfrm>
          <a:prstGeom prst="rect">
            <a:avLst/>
          </a:prstGeom>
          <a:noFill/>
          <a:ln w="9525">
            <a:noFill/>
          </a:ln>
        </p:spPr>
        <p:txBody>
          <a:bodyPr wrap="square">
            <a:noAutofit/>
          </a:bodyPr>
          <a:lstStyle/>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2021</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年，盛博杰等人首次提出了一种基于度量学习的分类模型，通过改进原型网络优化高维特征距离，实现了通信辐射源的初步少样本识别。</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2023</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年，尹霄丽等人提出了一种高效指纹提取算法，巧妙地将注意力机制与元学习算法相结合，引导网络聚焦于射频信号中区分度最高的特征片段。</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2024</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Xie</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等人提出了一种新型射频少样本识别框架，通过引入高斯原型网络模型（</a:t>
            </a:r>
            <a:r>
              <a:rPr lang="en-US" altLang="zh-CN" sz="1350" dirty="0">
                <a:latin typeface="Times New Roman" panose="02020603050405020304" pitchFamily="18" charset="0"/>
                <a:ea typeface="微软雅黑" panose="020B0503020204020204" pitchFamily="34" charset="-122"/>
                <a:cs typeface="Times New Roman" panose="02020603050405020304" pitchFamily="18" charset="0"/>
              </a:rPr>
              <a:t>Gaussian Prototypical Network</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），有效提升了无人机在极少量样本下的识别率。</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2022</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Wang</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等人提出了一种特征空间优化方案，结合混合数据增强与深度度量学习，成功提升了少样本条件下辐射源同类特征的聚合度。</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85750" indent="-285750" algn="just" defTabSz="914400" eaLnBrk="1" fontAlgn="auto" hangingPunct="1">
              <a:lnSpc>
                <a:spcPts val="2250"/>
              </a:lnSpc>
              <a:spcBef>
                <a:spcPts val="0"/>
              </a:spcBef>
              <a:spcAft>
                <a:spcPts val="0"/>
              </a:spcAft>
              <a:buClr>
                <a:srgbClr val="C00000"/>
              </a:buClr>
              <a:buFont typeface="Wingdings" panose="05000000000000000000" charset="0"/>
              <a:buChar char="p"/>
              <a:defRPr/>
            </a:pP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2022</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年，</a:t>
            </a:r>
            <a:r>
              <a:rPr lang="en-US" altLang="zh-CN" sz="1350" dirty="0">
                <a:latin typeface="Times New Roman" panose="02020603050405020304" pitchFamily="18" charset="0"/>
                <a:ea typeface="微软雅黑" panose="020B0503020204020204" pitchFamily="34" charset="-122"/>
                <a:cs typeface="微软雅黑" panose="020B0503020204020204" pitchFamily="34" charset="-122"/>
              </a:rPr>
              <a:t>Soltani</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等人前瞻性地提出了一种高可扩展性少样本指纹学习框架，重点探索了模型面向不可见设备（</a:t>
            </a:r>
            <a:r>
              <a:rPr lang="en-US" altLang="zh-CN" sz="1350" dirty="0">
                <a:latin typeface="Times New Roman" panose="02020603050405020304" pitchFamily="18" charset="0"/>
                <a:ea typeface="微软雅黑" panose="020B0503020204020204" pitchFamily="34" charset="-122"/>
                <a:cs typeface="Times New Roman" panose="02020603050405020304" pitchFamily="18" charset="0"/>
              </a:rPr>
              <a:t>Unseen Devices</a:t>
            </a: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）的泛化识别能力。</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a:p>
            <a:pPr marL="214630" indent="-214630" algn="just" defTabSz="914400" eaLnBrk="1" fontAlgn="auto" hangingPunct="1">
              <a:lnSpc>
                <a:spcPts val="2250"/>
              </a:lnSpc>
              <a:spcBef>
                <a:spcPts val="0"/>
              </a:spcBef>
              <a:spcAft>
                <a:spcPts val="0"/>
              </a:spcAft>
              <a:buClr>
                <a:srgbClr val="C00000"/>
              </a:buClr>
              <a:buFont typeface="Times New Roman" panose="02020603050405020304" pitchFamily="18" charset="0"/>
              <a:buChar char="p"/>
              <a:defRPr/>
            </a:pPr>
            <a:r>
              <a:rPr lang="zh-CN" altLang="en-US" sz="1350" dirty="0">
                <a:latin typeface="Times New Roman" panose="02020603050405020304" pitchFamily="18" charset="0"/>
                <a:ea typeface="微软雅黑" panose="020B0503020204020204" pitchFamily="34" charset="-122"/>
                <a:cs typeface="微软雅黑" panose="020B0503020204020204" pitchFamily="34" charset="-122"/>
              </a:rPr>
              <a:t>【底部总结框（建议用蓝字加粗）】</a:t>
            </a:r>
            <a:endParaRPr lang="zh-CN" altLang="en-US" sz="13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圆角矩形 7"/>
          <p:cNvSpPr/>
          <p:nvPr/>
        </p:nvSpPr>
        <p:spPr>
          <a:xfrm>
            <a:off x="305913" y="1117067"/>
            <a:ext cx="4725192" cy="409143"/>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400" eaLnBrk="1" fontAlgn="auto" hangingPunct="1">
              <a:spcBef>
                <a:spcPts val="0"/>
              </a:spcBef>
              <a:spcAft>
                <a:spcPts val="0"/>
              </a:spcAft>
              <a:defRPr/>
            </a:pPr>
            <a:r>
              <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三</a:t>
            </a:r>
            <a:r>
              <a:rPr lang="en-US" altLang="zh-CN"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、基于少样本学习的射频指纹识别研究</a:t>
            </a:r>
            <a:endParaRPr lang="zh-CN" altLang="en-US" sz="16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圆角矩形 2"/>
          <p:cNvSpPr/>
          <p:nvPr/>
        </p:nvSpPr>
        <p:spPr>
          <a:xfrm>
            <a:off x="580390" y="4311015"/>
            <a:ext cx="7781290" cy="807085"/>
          </a:xfrm>
          <a:prstGeom prst="round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360045" defTabSz="914400" eaLnBrk="1" fontAlgn="auto" hangingPunct="1">
              <a:lnSpc>
                <a:spcPts val="2175"/>
              </a:lnSpc>
              <a:spcBef>
                <a:spcPts val="0"/>
              </a:spcBef>
              <a:spcAft>
                <a:spcPts val="0"/>
              </a:spcAft>
              <a:defRPr/>
            </a:pPr>
            <a:r>
              <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现有少样本方法取得了一定成效，但在截获机会极有限、电磁环境极复杂的实战条件下，未充分考虑多径衰落引发的特征畸变，导致复杂信道下高维空间极易过拟合与特征混叠，工程化应用中仍难以适配未知无人机的高精度鲁棒识别。</a:t>
            </a:r>
            <a:endParaRPr lang="zh-CN" altLang="en-US" sz="135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圆角矩形 3"/>
          <p:cNvSpPr/>
          <p:nvPr/>
        </p:nvSpPr>
        <p:spPr>
          <a:xfrm>
            <a:off x="666750" y="781050"/>
            <a:ext cx="2400300" cy="350838"/>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r>
              <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部分代表性研究工作</a:t>
            </a:r>
            <a:endParaRPr lang="zh-CN" altLang="en-US" sz="15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13" name="Freeform 30"/>
          <p:cNvSpPr>
            <a:spLocks noEditPoints="1"/>
          </p:cNvSpPr>
          <p:nvPr/>
        </p:nvSpPr>
        <p:spPr bwMode="auto">
          <a:xfrm>
            <a:off x="654050" y="827088"/>
            <a:ext cx="250825" cy="284162"/>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ED493F"/>
          </a:solidFill>
          <a:ln>
            <a:noFill/>
          </a:ln>
        </p:spPr>
        <p:txBody>
          <a:bodyPr/>
          <a:lstStyle/>
          <a:p>
            <a:pPr defTabSz="914400" eaLnBrk="1" fontAlgn="auto" hangingPunct="1">
              <a:spcBef>
                <a:spcPts val="0"/>
              </a:spcBef>
              <a:spcAft>
                <a:spcPts val="0"/>
              </a:spcAft>
              <a:defRPr/>
            </a:pPr>
            <a:endParaRPr lang="zh-CN" altLang="en-US" sz="1350" dirty="0">
              <a:solidFill>
                <a:srgbClr val="2298B4"/>
              </a:solidFill>
              <a:latin typeface="+mn-lt"/>
              <a:ea typeface="+mn-ea"/>
              <a:cs typeface="微软雅黑" panose="020B0503020204020204" pitchFamily="34" charset="-122"/>
            </a:endParaRPr>
          </a:p>
        </p:txBody>
      </p:sp>
      <p:sp>
        <p:nvSpPr>
          <p:cNvPr id="9" name="文本框 8"/>
          <p:cNvSpPr txBox="1"/>
          <p:nvPr/>
        </p:nvSpPr>
        <p:spPr>
          <a:xfrm>
            <a:off x="830263" y="222250"/>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ldLvl="0" animBg="1"/>
      <p:bldP spid="7" grpId="1"/>
      <p:bldP spid="3"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文本框 6"/>
          <p:cNvSpPr txBox="1"/>
          <p:nvPr/>
        </p:nvSpPr>
        <p:spPr>
          <a:xfrm>
            <a:off x="331308" y="1199340"/>
            <a:ext cx="8167686" cy="379730"/>
          </a:xfrm>
          <a:prstGeom prst="rect">
            <a:avLst/>
          </a:prstGeom>
          <a:noFill/>
          <a:ln w="9525">
            <a:noFill/>
          </a:ln>
        </p:spPr>
        <p:txBody>
          <a:bodyPr wrap="square">
            <a:spAutoFit/>
          </a:bodyPr>
          <a:lstStyle/>
          <a:p>
            <a:pPr marL="214630" indent="-214630" defTabSz="914400" eaLnBrk="1" fontAlgn="auto" hangingPunct="1">
              <a:lnSpc>
                <a:spcPts val="2250"/>
              </a:lnSpc>
              <a:spcBef>
                <a:spcPts val="0"/>
              </a:spcBef>
              <a:spcAft>
                <a:spcPts val="0"/>
              </a:spcAft>
              <a:buClr>
                <a:srgbClr val="C00000"/>
              </a:buClr>
              <a:buFont typeface="Times New Roman" panose="02020603050405020304" pitchFamily="18" charset="0"/>
              <a:buNone/>
              <a:defRPr/>
            </a:pPr>
            <a:r>
              <a:rPr lang="zh-CN" altLang="en-US" sz="1600" b="1" dirty="0">
                <a:latin typeface="Times New Roman" panose="02020603050405020304" pitchFamily="18" charset="0"/>
                <a:ea typeface="微软雅黑" panose="020B0503020204020204" pitchFamily="34" charset="-122"/>
                <a:cs typeface="微软雅黑" panose="020B0503020204020204" pitchFamily="34" charset="-122"/>
                <a:sym typeface="+mn-ea"/>
              </a:rPr>
              <a:t>      鉴于上述分析，面向少样本场景的无人机射频指纹识别研究，提出以下问题：</a:t>
            </a:r>
            <a:endParaRPr lang="zh-CN" altLang="en-US" sz="1600" b="1" dirty="0">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30723" name="组合 16"/>
          <p:cNvGrpSpPr/>
          <p:nvPr/>
        </p:nvGrpSpPr>
        <p:grpSpPr bwMode="auto">
          <a:xfrm>
            <a:off x="774700" y="736144"/>
            <a:ext cx="2377853" cy="400050"/>
            <a:chOff x="751535" y="4512240"/>
            <a:chExt cx="3193932" cy="1159933"/>
          </a:xfrm>
        </p:grpSpPr>
        <p:grpSp>
          <p:nvGrpSpPr>
            <p:cNvPr id="30727" name="组合 14"/>
            <p:cNvGrpSpPr/>
            <p:nvPr/>
          </p:nvGrpSpPr>
          <p:grpSpPr bwMode="auto">
            <a:xfrm>
              <a:off x="751535" y="4512240"/>
              <a:ext cx="2396067" cy="1159933"/>
              <a:chOff x="586596" y="4708778"/>
              <a:chExt cx="2396067" cy="1159933"/>
            </a:xfrm>
          </p:grpSpPr>
          <p:sp>
            <p:nvSpPr>
              <p:cNvPr id="13" name="圆角矩形 12"/>
              <p:cNvSpPr/>
              <p:nvPr/>
            </p:nvSpPr>
            <p:spPr>
              <a:xfrm>
                <a:off x="586596" y="4708778"/>
                <a:ext cx="2395860" cy="1159933"/>
              </a:xfrm>
              <a:prstGeom prst="round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endParaRPr lang="zh-CN" altLang="en-US" sz="1350">
                  <a:cs typeface="微软雅黑" panose="020B0503020204020204" pitchFamily="34" charset="-122"/>
                </a:endParaRPr>
              </a:p>
            </p:txBody>
          </p:sp>
          <p:sp>
            <p:nvSpPr>
              <p:cNvPr id="59403" name="文本框 13"/>
              <p:cNvSpPr txBox="1"/>
              <p:nvPr/>
            </p:nvSpPr>
            <p:spPr>
              <a:xfrm>
                <a:off x="823062" y="5029681"/>
                <a:ext cx="1922928" cy="631780"/>
              </a:xfrm>
              <a:prstGeom prst="rect">
                <a:avLst/>
              </a:prstGeom>
              <a:noFill/>
              <a:ln w="9525">
                <a:noFill/>
              </a:ln>
            </p:spPr>
            <p:txBody>
              <a:bodyPr>
                <a:spAutoFit/>
              </a:bodyPr>
              <a:lstStyle/>
              <a:p>
                <a:pPr algn="ctr" defTabSz="914400" eaLnBrk="1" fontAlgn="auto" hangingPunct="1">
                  <a:spcBef>
                    <a:spcPts val="0"/>
                  </a:spcBef>
                  <a:spcAft>
                    <a:spcPts val="0"/>
                  </a:spcAft>
                  <a:defRPr/>
                </a:pPr>
                <a:endParaRPr lang="zh-CN" altLang="en-US" sz="1350" b="1">
                  <a:solidFill>
                    <a:srgbClr val="A20000"/>
                  </a:solidFill>
                  <a:latin typeface="Times New Roman" panose="02020603050405020304" pitchFamily="18" charset="0"/>
                  <a:ea typeface="+mn-ea"/>
                  <a:cs typeface="微软雅黑" panose="020B0503020204020204" pitchFamily="34" charset="-122"/>
                  <a:sym typeface="+mn-ea"/>
                </a:endParaRPr>
              </a:p>
            </p:txBody>
          </p:sp>
        </p:grpSp>
        <p:sp>
          <p:nvSpPr>
            <p:cNvPr id="16" name="右箭头 15"/>
            <p:cNvSpPr/>
            <p:nvPr/>
          </p:nvSpPr>
          <p:spPr>
            <a:xfrm>
              <a:off x="3313249" y="4859885"/>
              <a:ext cx="632218" cy="55155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endParaRPr lang="zh-CN" altLang="en-US" sz="1350">
                <a:cs typeface="微软雅黑" panose="020B0503020204020204" pitchFamily="34" charset="-122"/>
              </a:endParaRPr>
            </a:p>
          </p:txBody>
        </p:sp>
      </p:grpSp>
      <p:sp>
        <p:nvSpPr>
          <p:cNvPr id="30724" name="文本框 59404"/>
          <p:cNvSpPr txBox="1">
            <a:spLocks noChangeArrowheads="1"/>
          </p:cNvSpPr>
          <p:nvPr/>
        </p:nvSpPr>
        <p:spPr bwMode="auto">
          <a:xfrm>
            <a:off x="878211" y="792897"/>
            <a:ext cx="1811826"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defTabSz="914400" eaLnBrk="1" fontAlgn="base" hangingPunct="1">
              <a:spcBef>
                <a:spcPct val="50000"/>
              </a:spcBef>
            </a:pP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ea"/>
              </a:rPr>
              <a:t>解决的关键问题</a:t>
            </a:r>
            <a:endPar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30725" name="文本框 4"/>
          <p:cNvSpPr txBox="1">
            <a:spLocks noChangeArrowheads="1"/>
          </p:cNvSpPr>
          <p:nvPr/>
        </p:nvSpPr>
        <p:spPr bwMode="auto">
          <a:xfrm>
            <a:off x="528856" y="1561747"/>
            <a:ext cx="8167687"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4630" indent="-214630">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等线" panose="02010600030101010101" pitchFamily="2" charset="-122"/>
              </a:defRPr>
            </a:lvl9pPr>
          </a:lstStyle>
          <a:p>
            <a:pPr defTabSz="914400" eaLnBrk="1" fontAlgn="base" hangingPunct="1">
              <a:lnSpc>
                <a:spcPct val="150000"/>
              </a:lnSpc>
              <a:spcBef>
                <a:spcPct val="0"/>
              </a:spcBef>
              <a:spcAft>
                <a:spcPct val="5000"/>
              </a:spcAft>
              <a:buFont typeface="Wingdings" panose="05000000000000000000" charset="0"/>
              <a:buChar char="Ø"/>
            </a:pPr>
            <a:r>
              <a:rPr lang="zh-CN" altLang="zh-CN"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问题1：</a:t>
            </a:r>
            <a:r>
              <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如何在截获机会有限的条件下进行有效的物理特征提取</a:t>
            </a:r>
            <a:endPar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endParaRPr>
          </a:p>
          <a:p>
            <a:pPr marL="0" indent="0" algn="just" defTabSz="914400" eaLnBrk="1" fontAlgn="base" hangingPunct="1">
              <a:lnSpc>
                <a:spcPct val="150000"/>
              </a:lnSpc>
              <a:spcBef>
                <a:spcPct val="0"/>
              </a:spcBef>
              <a:spcAft>
                <a:spcPct val="5000"/>
              </a:spcAft>
              <a:buFont typeface="Wingdings" panose="05000000000000000000" charset="0"/>
              <a:buNone/>
            </a:pPr>
            <a:r>
              <a:rPr lang="en-US" altLang="zh-CN" sz="1400" dirty="0">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在非合作环境下，标签样本稀缺，传统依赖海量数据的深度学习网络失效，直接训练会导致模型无法收敛或精度极低。</a:t>
            </a:r>
            <a:endParaRPr lang="zh-CN" alt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1" fontAlgn="base" hangingPunct="1">
              <a:lnSpc>
                <a:spcPct val="150000"/>
              </a:lnSpc>
              <a:spcBef>
                <a:spcPct val="0"/>
              </a:spcBef>
              <a:spcAft>
                <a:spcPct val="5000"/>
              </a:spcAft>
              <a:buFont typeface="Wingdings" panose="05000000000000000000" charset="0"/>
              <a:buChar char="Ø"/>
            </a:pPr>
            <a:r>
              <a:rPr lang="zh-CN" altLang="zh-CN"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问题2：</a:t>
            </a:r>
            <a:r>
              <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如何克服高维空间小样本条件下的</a:t>
            </a:r>
            <a:r>
              <a:rPr lang="en-US" altLang="zh-CN"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维度灾难</a:t>
            </a:r>
            <a:r>
              <a:rPr lang="en-US" altLang="zh-CN"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与过拟合</a:t>
            </a:r>
            <a:endPar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endParaRPr>
          </a:p>
          <a:p>
            <a:pPr marL="0" indent="0" algn="just" defTabSz="914400" eaLnBrk="1" fontAlgn="base" hangingPunct="1">
              <a:lnSpc>
                <a:spcPct val="150000"/>
              </a:lnSpc>
              <a:spcBef>
                <a:spcPct val="0"/>
              </a:spcBef>
              <a:spcAft>
                <a:spcPct val="5000"/>
              </a:spcAft>
              <a:buFont typeface="Wingdings" panose="05000000000000000000" charset="0"/>
              <a:buNone/>
            </a:pP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          在少样本场景下，神经网络极易过度记忆数据的噪声部分，导致</a:t>
            </a:r>
            <a:r>
              <a:rPr lang="zh-CN" altLang="en-US" sz="14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泛化性能断崖式下降</a:t>
            </a: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，面对新截获信号时识别准确率大幅降低。</a:t>
            </a:r>
            <a:endParaRPr lang="zh-CN" alt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algn="just" defTabSz="914400" eaLnBrk="1" fontAlgn="base" hangingPunct="1">
              <a:lnSpc>
                <a:spcPct val="150000"/>
              </a:lnSpc>
              <a:spcBef>
                <a:spcPct val="0"/>
              </a:spcBef>
              <a:spcAft>
                <a:spcPct val="5000"/>
              </a:spcAft>
              <a:buFont typeface="Wingdings" panose="05000000000000000000" charset="0"/>
              <a:buChar char="Ø"/>
            </a:pPr>
            <a:r>
              <a:rPr lang="zh-CN" altLang="zh-CN"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问题3：</a:t>
            </a:r>
            <a:r>
              <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rPr>
              <a:t>如何在复杂信道环境中提取不受干扰的纯粹硬件物理指纹</a:t>
            </a:r>
            <a:endParaRPr lang="zh-CN" altLang="en-US" sz="1600" b="1" dirty="0">
              <a:solidFill>
                <a:schemeClr val="hlink"/>
              </a:solidFill>
              <a:latin typeface="Times New Roman" panose="02020603050405020304" pitchFamily="18" charset="0"/>
              <a:ea typeface="微软雅黑" panose="020B0503020204020204" pitchFamily="34" charset="-122"/>
              <a:cs typeface="微软雅黑" panose="020B0503020204020204" pitchFamily="34" charset="-122"/>
            </a:endParaRPr>
          </a:p>
          <a:p>
            <a:pPr algn="just" defTabSz="914400" eaLnBrk="1" fontAlgn="base" hangingPunct="1">
              <a:lnSpc>
                <a:spcPct val="150000"/>
              </a:lnSpc>
              <a:spcBef>
                <a:spcPct val="0"/>
              </a:spcBef>
              <a:spcAft>
                <a:spcPct val="5000"/>
              </a:spcAft>
              <a:buNone/>
            </a:pPr>
            <a:r>
              <a:rPr lang="en-US" altLang="zh-CN" sz="1400" dirty="0">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无线电信号在传播中会经历多径衰落和低信噪比失真，硬件物理特征易与信道状态信息混叠，导致</a:t>
            </a:r>
            <a:r>
              <a:rPr lang="zh-CN" altLang="en-US" sz="14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射频指纹特征漂移、鲁棒性差</a:t>
            </a: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文本框 10"/>
          <p:cNvSpPr txBox="1"/>
          <p:nvPr/>
        </p:nvSpPr>
        <p:spPr>
          <a:xfrm>
            <a:off x="830263" y="222250"/>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1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研究背景与研究问题</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blinds(horizontal)">
                                      <p:cBhvr>
                                        <p:cTn id="7"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2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基于</a:t>
              </a:r>
              <a:r>
                <a:rPr lang="en-US" altLang="zh-CN"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Meta-DML</a:t>
              </a:r>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的识别方法设计</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26" name="文本框 25"/>
          <p:cNvSpPr txBox="1"/>
          <p:nvPr/>
        </p:nvSpPr>
        <p:spPr>
          <a:xfrm>
            <a:off x="854075" y="207963"/>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2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Freeform 846"/>
          <p:cNvSpPr/>
          <p:nvPr/>
        </p:nvSpPr>
        <p:spPr bwMode="auto">
          <a:xfrm>
            <a:off x="576002" y="1774285"/>
            <a:ext cx="230294" cy="211482"/>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8" name="Freeform 847"/>
          <p:cNvSpPr/>
          <p:nvPr/>
        </p:nvSpPr>
        <p:spPr bwMode="auto">
          <a:xfrm>
            <a:off x="663313" y="1726660"/>
            <a:ext cx="55642" cy="145016"/>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9" name="文本框 6"/>
          <p:cNvSpPr txBox="1">
            <a:spLocks noChangeArrowheads="1"/>
          </p:cNvSpPr>
          <p:nvPr/>
        </p:nvSpPr>
        <p:spPr bwMode="auto">
          <a:xfrm>
            <a:off x="461441" y="2026697"/>
            <a:ext cx="428625" cy="2051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defTabSz="914400" eaLnBrk="1" fontAlgn="base" hangingPunct="1"/>
            <a:r>
              <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总体研究内容框图</a:t>
            </a:r>
            <a:endPar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Rectangle 2"/>
          <p:cNvSpPr>
            <a:spLocks noChangeArrowheads="1"/>
          </p:cNvSpPr>
          <p:nvPr/>
        </p:nvSpPr>
        <p:spPr bwMode="auto">
          <a:xfrm>
            <a:off x="1323754" y="607318"/>
            <a:ext cx="1009964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 name="矩形 9"/>
          <p:cNvSpPr/>
          <p:nvPr/>
        </p:nvSpPr>
        <p:spPr>
          <a:xfrm>
            <a:off x="932815" y="760095"/>
            <a:ext cx="7726680" cy="444500"/>
          </a:xfrm>
          <a:prstGeom prst="rect">
            <a:avLst/>
          </a:prstGeom>
          <a:solidFill>
            <a:srgbClr val="3185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1" fontAlgn="base" hangingPunct="1"/>
            <a:r>
              <a:rPr lang="zh-CN" altLang="en-US" sz="1800" b="1" dirty="0">
                <a:latin typeface="Times New Roman" panose="02020603050405020304" pitchFamily="18" charset="0"/>
                <a:ea typeface="微软雅黑" panose="020B0503020204020204" pitchFamily="34" charset="-122"/>
                <a:cs typeface="微软雅黑" panose="020B0503020204020204" pitchFamily="34" charset="-122"/>
              </a:rPr>
              <a:t>面向少样本场景的无人机射频指纹识别方法研究</a:t>
            </a:r>
            <a:endParaRPr lang="zh-CN" altLang="en-US" sz="1800" b="1"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矩形 12"/>
          <p:cNvSpPr/>
          <p:nvPr/>
        </p:nvSpPr>
        <p:spPr>
          <a:xfrm>
            <a:off x="920210" y="1472707"/>
            <a:ext cx="430887" cy="821989"/>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存在问题</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矩形: 圆角 13"/>
          <p:cNvSpPr/>
          <p:nvPr/>
        </p:nvSpPr>
        <p:spPr>
          <a:xfrm>
            <a:off x="1504315" y="1364615"/>
            <a:ext cx="2478405" cy="987425"/>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问题</a:t>
            </a:r>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1</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：非合作场景下信号获取困难，</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标注样本稀缺</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，模型训练约束性强。</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圆角 14"/>
          <p:cNvSpPr/>
          <p:nvPr/>
        </p:nvSpPr>
        <p:spPr>
          <a:xfrm>
            <a:off x="4099560" y="1382395"/>
            <a:ext cx="2005965" cy="979805"/>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问题</a:t>
            </a:r>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2</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：小样本场景下特征区分度不足，</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泛化能力有限</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nvSpPr>
        <p:spPr>
          <a:xfrm>
            <a:off x="920209" y="2482173"/>
            <a:ext cx="430887" cy="821989"/>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研究内容</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1" name="矩形 20"/>
          <p:cNvSpPr/>
          <p:nvPr/>
        </p:nvSpPr>
        <p:spPr>
          <a:xfrm>
            <a:off x="930910" y="4747260"/>
            <a:ext cx="654685" cy="271145"/>
          </a:xfrm>
          <a:prstGeom prst="rect">
            <a:avLst/>
          </a:prstGeom>
          <a:solidFill>
            <a:srgbClr val="FCEBDD"/>
          </a:solidFill>
          <a:ln>
            <a:solidFill>
              <a:srgbClr val="FCEB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矩形: 圆角 21"/>
          <p:cNvSpPr/>
          <p:nvPr/>
        </p:nvSpPr>
        <p:spPr>
          <a:xfrm>
            <a:off x="1951355" y="2540000"/>
            <a:ext cx="1754505" cy="596265"/>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buClrTx/>
              <a:buSzTx/>
              <a:buNone/>
            </a:pPr>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研究内容</a:t>
            </a:r>
            <a:r>
              <a:rPr lang="en-US" altLang="zh-CN"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1</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基于 I/Q 信号预处理的轻量化特征学习</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矩形: 圆角 23"/>
          <p:cNvSpPr/>
          <p:nvPr/>
        </p:nvSpPr>
        <p:spPr>
          <a:xfrm>
            <a:off x="4008755" y="2540000"/>
            <a:ext cx="2023110" cy="614680"/>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研究内容</a:t>
            </a:r>
            <a:r>
              <a:rPr lang="en-US" altLang="zh-CN"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2</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rPr>
              <a:t>基于余弦相似度的原型度量优化</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a:p>
            <a:pPr algn="ctr" defTabSz="914400" eaLnBrk="0" fontAlgn="base" hangingPunct="0"/>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nvSpPr>
        <p:spPr>
          <a:xfrm>
            <a:off x="2016760" y="4717415"/>
            <a:ext cx="6208395" cy="311150"/>
          </a:xfrm>
          <a:prstGeom prst="rect">
            <a:avLst/>
          </a:prstGeom>
          <a:solidFill>
            <a:srgbClr val="FCEBDD"/>
          </a:solidFill>
          <a:ln>
            <a:solidFill>
              <a:srgbClr val="FCEB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rPr>
              <a:t>实现少样本、低信噪比条件下的无人机个体识别</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9" name="矩形 18"/>
          <p:cNvSpPr/>
          <p:nvPr/>
        </p:nvSpPr>
        <p:spPr>
          <a:xfrm>
            <a:off x="1464310" y="1303655"/>
            <a:ext cx="7195820" cy="1111250"/>
          </a:xfrm>
          <a:prstGeom prst="rect">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9" name="箭头: 下 28"/>
          <p:cNvSpPr/>
          <p:nvPr/>
        </p:nvSpPr>
        <p:spPr>
          <a:xfrm>
            <a:off x="4918075" y="2318385"/>
            <a:ext cx="173355" cy="245110"/>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矩形 16"/>
          <p:cNvSpPr/>
          <p:nvPr/>
        </p:nvSpPr>
        <p:spPr>
          <a:xfrm>
            <a:off x="854710" y="699135"/>
            <a:ext cx="7891145" cy="4368165"/>
          </a:xfrm>
          <a:prstGeom prst="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0" name="矩形 19"/>
          <p:cNvSpPr/>
          <p:nvPr/>
        </p:nvSpPr>
        <p:spPr>
          <a:xfrm>
            <a:off x="1464310" y="2494915"/>
            <a:ext cx="7194550" cy="795020"/>
          </a:xfrm>
          <a:prstGeom prst="rect">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3" name="矩形 22"/>
          <p:cNvSpPr/>
          <p:nvPr/>
        </p:nvSpPr>
        <p:spPr>
          <a:xfrm>
            <a:off x="1504315" y="2539365"/>
            <a:ext cx="327660" cy="656590"/>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核心内容</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矩形: 圆角 14"/>
          <p:cNvSpPr/>
          <p:nvPr/>
        </p:nvSpPr>
        <p:spPr>
          <a:xfrm>
            <a:off x="6165215" y="1423670"/>
            <a:ext cx="2449830" cy="928370"/>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问题</a:t>
            </a:r>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3</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：复杂信道环境导致</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特征畸变，识别鲁棒性不足。</a:t>
            </a:r>
            <a:endPar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矩形: 圆角 23"/>
          <p:cNvSpPr/>
          <p:nvPr/>
        </p:nvSpPr>
        <p:spPr>
          <a:xfrm>
            <a:off x="6497320" y="2527935"/>
            <a:ext cx="1947545" cy="621030"/>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 </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研究内容</a:t>
            </a:r>
            <a:r>
              <a:rPr lang="en-US" altLang="zh-CN"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3</a:t>
            </a:r>
            <a:r>
              <a:rPr lang="zh-CN" altLang="en-US" sz="12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rPr>
              <a:t>基于 N-way K-shot 的元学习训练</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a:p>
            <a:pPr algn="ctr" defTabSz="914400" eaLnBrk="0" fontAlgn="base" hangingPunct="0"/>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矩形 10"/>
          <p:cNvSpPr/>
          <p:nvPr/>
        </p:nvSpPr>
        <p:spPr>
          <a:xfrm>
            <a:off x="1457960" y="3804285"/>
            <a:ext cx="7194550" cy="853440"/>
          </a:xfrm>
          <a:prstGeom prst="rect">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0" name="矩形 29"/>
          <p:cNvSpPr/>
          <p:nvPr/>
        </p:nvSpPr>
        <p:spPr>
          <a:xfrm>
            <a:off x="932909" y="3825833"/>
            <a:ext cx="430887" cy="821989"/>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研究方法</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5" name="矩形: 圆角 21"/>
          <p:cNvSpPr/>
          <p:nvPr/>
        </p:nvSpPr>
        <p:spPr>
          <a:xfrm>
            <a:off x="1717040" y="3974465"/>
            <a:ext cx="1263015" cy="537210"/>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I/Q</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信号预处理</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归一化与切片</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6" name="文本框 35"/>
          <p:cNvSpPr txBox="1"/>
          <p:nvPr/>
        </p:nvSpPr>
        <p:spPr>
          <a:xfrm>
            <a:off x="2930525" y="4048760"/>
            <a:ext cx="368935" cy="312420"/>
          </a:xfrm>
          <a:prstGeom prst="rect">
            <a:avLst/>
          </a:prstGeom>
          <a:noFill/>
        </p:spPr>
        <p:txBody>
          <a:bodyPr wrap="square" rtlCol="0">
            <a:noAutofit/>
          </a:bodyPr>
          <a:p>
            <a:pPr defTabSz="914400" eaLnBrk="0" fontAlgn="base" hangingPunct="0"/>
            <a:r>
              <a:rPr lang="en-US" altLang="zh-CN" sz="1800">
                <a:latin typeface="Times New Roman" panose="02020603050405020304" pitchFamily="18" charset="0"/>
                <a:ea typeface="微软雅黑" panose="020B0503020204020204" pitchFamily="34" charset="-122"/>
                <a:cs typeface="微软雅黑" panose="020B0503020204020204" pitchFamily="34" charset="-122"/>
              </a:rPr>
              <a:t>+</a:t>
            </a:r>
            <a:endParaRPr lang="en-US" altLang="zh-CN"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8" name="矩形 37"/>
          <p:cNvSpPr/>
          <p:nvPr/>
        </p:nvSpPr>
        <p:spPr>
          <a:xfrm>
            <a:off x="3211195" y="3887470"/>
            <a:ext cx="324485" cy="707390"/>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深度学习</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9" name="矩形 38"/>
          <p:cNvSpPr/>
          <p:nvPr/>
        </p:nvSpPr>
        <p:spPr>
          <a:xfrm>
            <a:off x="1584960" y="3874135"/>
            <a:ext cx="2121535" cy="705485"/>
          </a:xfrm>
          <a:prstGeom prst="rect">
            <a:avLst/>
          </a:prstGeom>
          <a:no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0" name="矩形 39"/>
          <p:cNvSpPr/>
          <p:nvPr/>
        </p:nvSpPr>
        <p:spPr>
          <a:xfrm>
            <a:off x="3927475" y="3885565"/>
            <a:ext cx="2394585" cy="705485"/>
          </a:xfrm>
          <a:prstGeom prst="rect">
            <a:avLst/>
          </a:prstGeom>
          <a:no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2" name="矩形: 圆角 21"/>
          <p:cNvSpPr/>
          <p:nvPr/>
        </p:nvSpPr>
        <p:spPr>
          <a:xfrm>
            <a:off x="4009390" y="3969385"/>
            <a:ext cx="1449705" cy="537210"/>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原型</a:t>
            </a:r>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三元组损失</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余弦相似度计算</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3" name="文本框 42"/>
          <p:cNvSpPr txBox="1"/>
          <p:nvPr/>
        </p:nvSpPr>
        <p:spPr>
          <a:xfrm>
            <a:off x="5389880" y="4082415"/>
            <a:ext cx="368935" cy="312420"/>
          </a:xfrm>
          <a:prstGeom prst="rect">
            <a:avLst/>
          </a:prstGeom>
          <a:noFill/>
        </p:spPr>
        <p:txBody>
          <a:bodyPr wrap="square" rtlCol="0">
            <a:noAutofit/>
          </a:bodyPr>
          <a:p>
            <a:pPr defTabSz="914400" eaLnBrk="0" fontAlgn="base" hangingPunct="0"/>
            <a:r>
              <a:rPr lang="en-US" altLang="zh-CN" sz="1800">
                <a:latin typeface="Times New Roman" panose="02020603050405020304" pitchFamily="18" charset="0"/>
                <a:ea typeface="微软雅黑" panose="020B0503020204020204" pitchFamily="34" charset="-122"/>
                <a:cs typeface="微软雅黑" panose="020B0503020204020204" pitchFamily="34" charset="-122"/>
              </a:rPr>
              <a:t>+</a:t>
            </a:r>
            <a:endParaRPr lang="en-US" altLang="zh-CN"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5" name="矩形 44"/>
          <p:cNvSpPr/>
          <p:nvPr/>
        </p:nvSpPr>
        <p:spPr>
          <a:xfrm>
            <a:off x="5695950" y="3887470"/>
            <a:ext cx="431165" cy="692150"/>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度量学习</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6" name="矩形 45"/>
          <p:cNvSpPr/>
          <p:nvPr/>
        </p:nvSpPr>
        <p:spPr>
          <a:xfrm>
            <a:off x="6480175" y="3879215"/>
            <a:ext cx="2121535" cy="705485"/>
          </a:xfrm>
          <a:prstGeom prst="rect">
            <a:avLst/>
          </a:prstGeom>
          <a:no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7" name="矩形: 圆角 21"/>
          <p:cNvSpPr/>
          <p:nvPr/>
        </p:nvSpPr>
        <p:spPr>
          <a:xfrm>
            <a:off x="6514465" y="3963035"/>
            <a:ext cx="1396365" cy="537210"/>
          </a:xfrm>
          <a:prstGeom prst="round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N-way K-shot</a:t>
            </a: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任务</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内外层联合梯度</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8" name="文本框 47"/>
          <p:cNvSpPr txBox="1"/>
          <p:nvPr/>
        </p:nvSpPr>
        <p:spPr>
          <a:xfrm>
            <a:off x="7847330" y="4076065"/>
            <a:ext cx="368935" cy="312420"/>
          </a:xfrm>
          <a:prstGeom prst="rect">
            <a:avLst/>
          </a:prstGeom>
          <a:noFill/>
        </p:spPr>
        <p:txBody>
          <a:bodyPr wrap="square" rtlCol="0">
            <a:noAutofit/>
          </a:bodyPr>
          <a:p>
            <a:pPr defTabSz="914400" eaLnBrk="0" fontAlgn="base" hangingPunct="0"/>
            <a:r>
              <a:rPr lang="en-US" altLang="zh-CN" sz="1800">
                <a:latin typeface="Times New Roman" panose="02020603050405020304" pitchFamily="18" charset="0"/>
                <a:ea typeface="微软雅黑" panose="020B0503020204020204" pitchFamily="34" charset="-122"/>
                <a:cs typeface="微软雅黑" panose="020B0503020204020204" pitchFamily="34" charset="-122"/>
              </a:rPr>
              <a:t>+</a:t>
            </a:r>
            <a:endParaRPr lang="en-US" altLang="zh-CN"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9" name="矩形 48"/>
          <p:cNvSpPr/>
          <p:nvPr/>
        </p:nvSpPr>
        <p:spPr>
          <a:xfrm>
            <a:off x="8082915" y="3881120"/>
            <a:ext cx="387350" cy="697865"/>
          </a:xfrm>
          <a:prstGeom prst="rect">
            <a:avLst/>
          </a:prstGeom>
          <a:solidFill>
            <a:srgbClr val="DBEEF3"/>
          </a:solidFill>
          <a:ln>
            <a:solidFill>
              <a:srgbClr val="DB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元学习</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3" name="矩形 32"/>
          <p:cNvSpPr/>
          <p:nvPr/>
        </p:nvSpPr>
        <p:spPr>
          <a:xfrm>
            <a:off x="1464310" y="3335020"/>
            <a:ext cx="7196455" cy="508000"/>
          </a:xfrm>
          <a:prstGeom prst="rect">
            <a:avLst/>
          </a:prstGeom>
          <a:solidFill>
            <a:schemeClr val="accent1">
              <a:lumMod val="60000"/>
              <a:lumOff val="40000"/>
            </a:schemeClr>
          </a:solidFill>
          <a:ln>
            <a:solidFill>
              <a:srgbClr val="FCEB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defTabSz="914400" eaLnBrk="0" fontAlgn="base" hangingPunct="0"/>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ea"/>
              </a:rPr>
              <a:t>评价指标：识别准确率、少样本性能、低信噪比鲁棒性，并</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ea"/>
              </a:rPr>
              <a:t>开发可视化原型系统完成验证。</a:t>
            </a:r>
            <a:endPar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4" name="箭头: 下 30"/>
          <p:cNvSpPr/>
          <p:nvPr/>
        </p:nvSpPr>
        <p:spPr>
          <a:xfrm>
            <a:off x="2726690" y="3137535"/>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7" name="箭头: 下 30"/>
          <p:cNvSpPr/>
          <p:nvPr/>
        </p:nvSpPr>
        <p:spPr>
          <a:xfrm>
            <a:off x="4887595" y="316103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1" name="箭头: 下 30"/>
          <p:cNvSpPr/>
          <p:nvPr/>
        </p:nvSpPr>
        <p:spPr>
          <a:xfrm>
            <a:off x="7369175" y="314833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4" name="箭头: 下 30"/>
          <p:cNvSpPr/>
          <p:nvPr/>
        </p:nvSpPr>
        <p:spPr>
          <a:xfrm>
            <a:off x="2726690" y="3804285"/>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0" name="箭头: 下 30"/>
          <p:cNvSpPr/>
          <p:nvPr/>
        </p:nvSpPr>
        <p:spPr>
          <a:xfrm>
            <a:off x="4887595" y="372745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1" name="箭头: 下 30"/>
          <p:cNvSpPr/>
          <p:nvPr/>
        </p:nvSpPr>
        <p:spPr>
          <a:xfrm>
            <a:off x="7369175" y="372745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2" name="箭头: 下 30"/>
          <p:cNvSpPr/>
          <p:nvPr/>
        </p:nvSpPr>
        <p:spPr>
          <a:xfrm>
            <a:off x="2726690" y="448183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3" name="箭头: 下 30"/>
          <p:cNvSpPr/>
          <p:nvPr/>
        </p:nvSpPr>
        <p:spPr>
          <a:xfrm>
            <a:off x="4887595" y="448183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4" name="箭头: 下 30"/>
          <p:cNvSpPr/>
          <p:nvPr/>
        </p:nvSpPr>
        <p:spPr>
          <a:xfrm>
            <a:off x="7369175" y="448183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 name="箭头: 下 30"/>
          <p:cNvSpPr/>
          <p:nvPr/>
        </p:nvSpPr>
        <p:spPr>
          <a:xfrm>
            <a:off x="2726690" y="2362200"/>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7" name="箭头: 下 30"/>
          <p:cNvSpPr/>
          <p:nvPr/>
        </p:nvSpPr>
        <p:spPr>
          <a:xfrm>
            <a:off x="7369175" y="2318385"/>
            <a:ext cx="203835" cy="235585"/>
          </a:xfrm>
          <a:prstGeom prst="downArrow">
            <a:avLst/>
          </a:prstGeom>
          <a:solidFill>
            <a:srgbClr val="B7DDE8"/>
          </a:solidFill>
          <a:ln>
            <a:solidFill>
              <a:srgbClr val="B7DD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500"/>
                                        <p:tgtEl>
                                          <p:spTgt spid="1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linds(horizontal)">
                                      <p:cBhvr>
                                        <p:cTn id="33" dur="500"/>
                                        <p:tgtEl>
                                          <p:spTgt spid="21"/>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blinds(horizontal)">
                                      <p:cBhvr>
                                        <p:cTn id="36" dur="500"/>
                                        <p:tgtEl>
                                          <p:spTgt spid="2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blinds(horizontal)">
                                      <p:cBhvr>
                                        <p:cTn id="39" dur="500"/>
                                        <p:tgtEl>
                                          <p:spTgt spid="2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blinds(horizontal)">
                                      <p:cBhvr>
                                        <p:cTn id="45" dur="500"/>
                                        <p:tgtEl>
                                          <p:spTgt spid="19"/>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blinds(horizontal)">
                                      <p:cBhvr>
                                        <p:cTn id="48" dur="500"/>
                                        <p:tgtEl>
                                          <p:spTgt spid="2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blinds(horizontal)">
                                      <p:cBhvr>
                                        <p:cTn id="51" dur="500"/>
                                        <p:tgtEl>
                                          <p:spTgt spid="1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linds(horizontal)">
                                      <p:cBhvr>
                                        <p:cTn id="54" dur="500"/>
                                        <p:tgtEl>
                                          <p:spTgt spid="20"/>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blinds(horizontal)">
                                      <p:cBhvr>
                                        <p:cTn id="57" dur="500"/>
                                        <p:tgtEl>
                                          <p:spTgt spid="23"/>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blinds(horizontal)">
                                      <p:cBhvr>
                                        <p:cTn id="60" dur="500"/>
                                        <p:tgtEl>
                                          <p:spTgt spid="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blinds(horizontal)">
                                      <p:cBhvr>
                                        <p:cTn id="63" dur="500"/>
                                        <p:tgtEl>
                                          <p:spTgt spid="5"/>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blinds(horizontal)">
                                      <p:cBhvr>
                                        <p:cTn id="66" dur="500"/>
                                        <p:tgtEl>
                                          <p:spTgt spid="11"/>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blinds(horizontal)">
                                      <p:cBhvr>
                                        <p:cTn id="69" dur="500"/>
                                        <p:tgtEl>
                                          <p:spTgt spid="30"/>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blinds(horizontal)">
                                      <p:cBhvr>
                                        <p:cTn id="72" dur="500"/>
                                        <p:tgtEl>
                                          <p:spTgt spid="35"/>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blinds(horizontal)">
                                      <p:cBhvr>
                                        <p:cTn id="75" dur="500"/>
                                        <p:tgtEl>
                                          <p:spTgt spid="38"/>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blinds(horizontal)">
                                      <p:cBhvr>
                                        <p:cTn id="78" dur="500"/>
                                        <p:tgtEl>
                                          <p:spTgt spid="3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blinds(horizontal)">
                                      <p:cBhvr>
                                        <p:cTn id="81" dur="500"/>
                                        <p:tgtEl>
                                          <p:spTgt spid="40"/>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blinds(horizontal)">
                                      <p:cBhvr>
                                        <p:cTn id="84" dur="500"/>
                                        <p:tgtEl>
                                          <p:spTgt spid="42"/>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blinds(horizontal)">
                                      <p:cBhvr>
                                        <p:cTn id="87" dur="500"/>
                                        <p:tgtEl>
                                          <p:spTgt spid="45"/>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blinds(horizontal)">
                                      <p:cBhvr>
                                        <p:cTn id="90" dur="500"/>
                                        <p:tgtEl>
                                          <p:spTgt spid="46"/>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blinds(horizontal)">
                                      <p:cBhvr>
                                        <p:cTn id="93" dur="500"/>
                                        <p:tgtEl>
                                          <p:spTgt spid="47"/>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49"/>
                                        </p:tgtEl>
                                        <p:attrNameLst>
                                          <p:attrName>style.visibility</p:attrName>
                                        </p:attrNameLst>
                                      </p:cBhvr>
                                      <p:to>
                                        <p:strVal val="visible"/>
                                      </p:to>
                                    </p:set>
                                    <p:animEffect transition="in" filter="blinds(horizontal)">
                                      <p:cBhvr>
                                        <p:cTn id="96" dur="500"/>
                                        <p:tgtEl>
                                          <p:spTgt spid="49"/>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blinds(horizontal)">
                                      <p:cBhvr>
                                        <p:cTn id="99" dur="500"/>
                                        <p:tgtEl>
                                          <p:spTgt spid="33"/>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blinds(horizontal)">
                                      <p:cBhvr>
                                        <p:cTn id="102" dur="500"/>
                                        <p:tgtEl>
                                          <p:spTgt spid="34"/>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blinds(horizontal)">
                                      <p:cBhvr>
                                        <p:cTn id="105" dur="500"/>
                                        <p:tgtEl>
                                          <p:spTgt spid="37"/>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blinds(horizontal)">
                                      <p:cBhvr>
                                        <p:cTn id="108" dur="500"/>
                                        <p:tgtEl>
                                          <p:spTgt spid="41"/>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blinds(horizontal)">
                                      <p:cBhvr>
                                        <p:cTn id="111" dur="500"/>
                                        <p:tgtEl>
                                          <p:spTgt spid="44"/>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blinds(horizontal)">
                                      <p:cBhvr>
                                        <p:cTn id="114" dur="500"/>
                                        <p:tgtEl>
                                          <p:spTgt spid="50"/>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blinds(horizontal)">
                                      <p:cBhvr>
                                        <p:cTn id="117" dur="500"/>
                                        <p:tgtEl>
                                          <p:spTgt spid="51"/>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52"/>
                                        </p:tgtEl>
                                        <p:attrNameLst>
                                          <p:attrName>style.visibility</p:attrName>
                                        </p:attrNameLst>
                                      </p:cBhvr>
                                      <p:to>
                                        <p:strVal val="visible"/>
                                      </p:to>
                                    </p:set>
                                    <p:animEffect transition="in" filter="blinds(horizontal)">
                                      <p:cBhvr>
                                        <p:cTn id="120" dur="500"/>
                                        <p:tgtEl>
                                          <p:spTgt spid="52"/>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blinds(horizontal)">
                                      <p:cBhvr>
                                        <p:cTn id="123" dur="500"/>
                                        <p:tgtEl>
                                          <p:spTgt spid="53"/>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blinds(horizontal)">
                                      <p:cBhvr>
                                        <p:cTn id="126" dur="500"/>
                                        <p:tgtEl>
                                          <p:spTgt spid="54"/>
                                        </p:tgtEl>
                                      </p:cBhvr>
                                    </p:animEffect>
                                  </p:childTnLst>
                                </p:cTn>
                              </p:par>
                              <p:par>
                                <p:cTn id="127" presetID="3" presetClass="entr" presetSubtype="10" fill="hold" grpId="0" nodeType="withEffect">
                                  <p:stCondLst>
                                    <p:cond delay="0"/>
                                  </p:stCondLst>
                                  <p:childTnLst>
                                    <p:set>
                                      <p:cBhvr>
                                        <p:cTn id="128" dur="1" fill="hold">
                                          <p:stCondLst>
                                            <p:cond delay="0"/>
                                          </p:stCondLst>
                                        </p:cTn>
                                        <p:tgtEl>
                                          <p:spTgt spid="25"/>
                                        </p:tgtEl>
                                        <p:attrNameLst>
                                          <p:attrName>style.visibility</p:attrName>
                                        </p:attrNameLst>
                                      </p:cBhvr>
                                      <p:to>
                                        <p:strVal val="visible"/>
                                      </p:to>
                                    </p:set>
                                    <p:animEffect transition="in" filter="blinds(horizontal)">
                                      <p:cBhvr>
                                        <p:cTn id="129" dur="500"/>
                                        <p:tgtEl>
                                          <p:spTgt spid="25"/>
                                        </p:tgtEl>
                                      </p:cBhvr>
                                    </p:animEffect>
                                  </p:childTnLst>
                                </p:cTn>
                              </p:par>
                              <p:par>
                                <p:cTn id="130" presetID="3" presetClass="entr" presetSubtype="10" fill="hold" grpId="0" nodeType="with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blinds(horizontal)">
                                      <p:cBhvr>
                                        <p:cTn id="1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p:bldP spid="7" grpId="1" animBg="1"/>
      <p:bldP spid="8" grpId="1" animBg="1"/>
      <p:bldP spid="9" grpId="1"/>
      <p:bldP spid="10" grpId="0" bldLvl="0" animBg="1"/>
      <p:bldP spid="13" grpId="0" bldLvl="0" animBg="1"/>
      <p:bldP spid="14" grpId="0" bldLvl="0" animBg="1"/>
      <p:bldP spid="15" grpId="0" bldLvl="0" animBg="1"/>
      <p:bldP spid="18" grpId="0" bldLvl="0" animBg="1"/>
      <p:bldP spid="21" grpId="0" bldLvl="0" animBg="1"/>
      <p:bldP spid="22" grpId="0" bldLvl="0" animBg="1"/>
      <p:bldP spid="24" grpId="0" bldLvl="0" animBg="1"/>
      <p:bldP spid="6" grpId="0" bldLvl="0" animBg="1"/>
      <p:bldP spid="19" grpId="0" bldLvl="0" animBg="1"/>
      <p:bldP spid="29" grpId="0" bldLvl="0" animBg="1"/>
      <p:bldP spid="17" grpId="0" bldLvl="0" animBg="1"/>
      <p:bldP spid="20" grpId="0" bldLvl="0" animBg="1"/>
      <p:bldP spid="23" grpId="0" bldLvl="0" animBg="1"/>
      <p:bldP spid="4" grpId="0" bldLvl="0" animBg="1"/>
      <p:bldP spid="5" grpId="0" bldLvl="0" animBg="1"/>
      <p:bldP spid="10" grpId="1" animBg="1"/>
      <p:bldP spid="13" grpId="1" animBg="1"/>
      <p:bldP spid="14" grpId="1" animBg="1"/>
      <p:bldP spid="15" grpId="1" animBg="1"/>
      <p:bldP spid="18" grpId="1" animBg="1"/>
      <p:bldP spid="21" grpId="1" animBg="1"/>
      <p:bldP spid="22" grpId="1" animBg="1"/>
      <p:bldP spid="24" grpId="1" animBg="1"/>
      <p:bldP spid="6" grpId="1" animBg="1"/>
      <p:bldP spid="19" grpId="1" animBg="1"/>
      <p:bldP spid="29" grpId="1" animBg="1"/>
      <p:bldP spid="17" grpId="1" animBg="1"/>
      <p:bldP spid="20" grpId="1" animBg="1"/>
      <p:bldP spid="23" grpId="1" animBg="1"/>
      <p:bldP spid="4" grpId="1" animBg="1"/>
      <p:bldP spid="5" grpId="1" animBg="1"/>
      <p:bldP spid="11" grpId="0" bldLvl="0" animBg="1"/>
      <p:bldP spid="11" grpId="1" animBg="1"/>
      <p:bldP spid="30" grpId="0" bldLvl="0" animBg="1"/>
      <p:bldP spid="30" grpId="1" animBg="1"/>
      <p:bldP spid="35" grpId="0" bldLvl="0" animBg="1"/>
      <p:bldP spid="35" grpId="1" animBg="1"/>
      <p:bldP spid="38" grpId="0" bldLvl="0" animBg="1"/>
      <p:bldP spid="38" grpId="1" animBg="1"/>
      <p:bldP spid="39" grpId="0" bldLvl="0" animBg="1"/>
      <p:bldP spid="39" grpId="1" animBg="1"/>
      <p:bldP spid="40" grpId="0" bldLvl="0" animBg="1"/>
      <p:bldP spid="40" grpId="1" animBg="1"/>
      <p:bldP spid="42" grpId="0" bldLvl="0" animBg="1"/>
      <p:bldP spid="42" grpId="1" animBg="1"/>
      <p:bldP spid="45" grpId="0" bldLvl="0" animBg="1"/>
      <p:bldP spid="45" grpId="1" animBg="1"/>
      <p:bldP spid="46" grpId="0" bldLvl="0" animBg="1"/>
      <p:bldP spid="46" grpId="1" animBg="1"/>
      <p:bldP spid="47" grpId="0" bldLvl="0" animBg="1"/>
      <p:bldP spid="47" grpId="1" animBg="1"/>
      <p:bldP spid="49" grpId="0" bldLvl="0" animBg="1"/>
      <p:bldP spid="49" grpId="1" animBg="1"/>
      <p:bldP spid="33" grpId="0" bldLvl="0" animBg="1"/>
      <p:bldP spid="33" grpId="1" animBg="1"/>
      <p:bldP spid="34" grpId="0" bldLvl="0" animBg="1"/>
      <p:bldP spid="34" grpId="1" animBg="1"/>
      <p:bldP spid="37" grpId="0" bldLvl="0" animBg="1"/>
      <p:bldP spid="37" grpId="1" animBg="1"/>
      <p:bldP spid="41" grpId="0" bldLvl="0" animBg="1"/>
      <p:bldP spid="41" grpId="1" animBg="1"/>
      <p:bldP spid="44" grpId="0" bldLvl="0" animBg="1"/>
      <p:bldP spid="44" grpId="1" animBg="1"/>
      <p:bldP spid="50" grpId="0" bldLvl="0" animBg="1"/>
      <p:bldP spid="50" grpId="1" animBg="1"/>
      <p:bldP spid="51" grpId="0" bldLvl="0" animBg="1"/>
      <p:bldP spid="51" grpId="1" animBg="1"/>
      <p:bldP spid="52" grpId="0" bldLvl="0" animBg="1"/>
      <p:bldP spid="52" grpId="1" animBg="1"/>
      <p:bldP spid="53" grpId="0" bldLvl="0" animBg="1"/>
      <p:bldP spid="53" grpId="1" animBg="1"/>
      <p:bldP spid="54" grpId="0" bldLvl="0" animBg="1"/>
      <p:bldP spid="54" grpId="1" animBg="1"/>
      <p:bldP spid="25" grpId="0" bldLvl="0" animBg="1"/>
      <p:bldP spid="25" grpId="1" animBg="1"/>
      <p:bldP spid="27" grpId="0" bldLvl="0" animBg="1"/>
      <p:bldP spid="2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grpSp>
        <p:nvGrpSpPr>
          <p:cNvPr id="34820" name="组合 8"/>
          <p:cNvGrpSpPr/>
          <p:nvPr/>
        </p:nvGrpSpPr>
        <p:grpSpPr bwMode="auto">
          <a:xfrm>
            <a:off x="641748" y="739008"/>
            <a:ext cx="8035290" cy="1833245"/>
            <a:chOff x="759599" y="920247"/>
            <a:chExt cx="6883811" cy="672861"/>
          </a:xfrm>
        </p:grpSpPr>
        <p:sp>
          <p:nvSpPr>
            <p:cNvPr id="4" name="矩形 3"/>
            <p:cNvSpPr/>
            <p:nvPr/>
          </p:nvSpPr>
          <p:spPr>
            <a:xfrm>
              <a:off x="759599" y="920247"/>
              <a:ext cx="1412775" cy="672628"/>
            </a:xfrm>
            <a:prstGeom prst="rect">
              <a:avLst/>
            </a:prstGeom>
            <a:solidFill>
              <a:srgbClr val="16537F"/>
            </a:solidFill>
            <a:ln>
              <a:solidFill>
                <a:srgbClr val="1D6FA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lnSpc>
                  <a:spcPts val="2300"/>
                </a:lnSpc>
              </a:pPr>
              <a:r>
                <a:rPr lang="zh-CN" altLang="en-US" sz="16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sym typeface="+mn-lt"/>
                </a:rPr>
                <a:t>  </a:t>
              </a:r>
              <a:r>
                <a:rPr lang="zh-CN" altLang="en-US" sz="16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lt"/>
                </a:rPr>
                <a:t>总体研究目标</a:t>
              </a:r>
              <a:endParaRPr lang="zh-CN" altLang="en-US" sz="16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nvSpPr>
          <p:spPr>
            <a:xfrm>
              <a:off x="2172374" y="920480"/>
              <a:ext cx="5471036" cy="672628"/>
            </a:xfrm>
            <a:prstGeom prst="rect">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defTabSz="914400" eaLnBrk="1" fontAlgn="auto" hangingPunct="1">
                <a:lnSpc>
                  <a:spcPct val="150000"/>
                </a:lnSpc>
                <a:spcBef>
                  <a:spcPts val="0"/>
                </a:spcBef>
                <a:spcAft>
                  <a:spcPts val="0"/>
                </a:spcAft>
                <a:defRPr/>
              </a:pP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针对</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lt"/>
                </a:rPr>
                <a:t>非合作少样本</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环境下的识别难题，设计任务驱动的元学习与度量学习相融合的解决方案，进一步提高模型在极端条件下的泛化能力与抗干扰能力，实现</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lt"/>
                </a:rPr>
                <a:t>特征鲁棒性</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和</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lt"/>
                </a:rPr>
                <a:t>模型快速适应性</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的统一。设计并开发</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lt"/>
                </a:rPr>
                <a:t>无人机射频指纹智能识别原型系统</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，打通数据输入到身份预警的完整链路，</a:t>
              </a:r>
              <a:r>
                <a:rPr lang="zh-CN" altLang="en-US" sz="160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sym typeface="+mn-lt"/>
                </a:rPr>
                <a:t>实现算法的工程验证与可视化落地</a:t>
              </a:r>
              <a:r>
                <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a:t>
              </a:r>
              <a:endParaRPr lang="zh-CN" altLang="en-US" sz="16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grpSp>
      <p:cxnSp>
        <p:nvCxnSpPr>
          <p:cNvPr id="34" name="直接连接符 33"/>
          <p:cNvCxnSpPr/>
          <p:nvPr/>
        </p:nvCxnSpPr>
        <p:spPr>
          <a:xfrm>
            <a:off x="11113" y="2571750"/>
            <a:ext cx="9132887" cy="0"/>
          </a:xfrm>
          <a:prstGeom prst="line">
            <a:avLst/>
          </a:prstGeom>
          <a:ln w="15875" cmpd="sng">
            <a:prstDash val="dashDot"/>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854075" y="207963"/>
            <a:ext cx="2659380" cy="398780"/>
          </a:xfrm>
          <a:prstGeom prst="rect">
            <a:avLst/>
          </a:prstGeom>
          <a:noFill/>
        </p:spPr>
        <p:txBody>
          <a:bodyPr wrap="none">
            <a:spAutoFit/>
          </a:bodyPr>
          <a:lstStyle/>
          <a:p>
            <a:pPr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2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5" name="组合 8"/>
          <p:cNvGrpSpPr/>
          <p:nvPr>
            <p:custDataLst>
              <p:tags r:id="rId1"/>
            </p:custDataLst>
          </p:nvPr>
        </p:nvGrpSpPr>
        <p:grpSpPr bwMode="auto">
          <a:xfrm>
            <a:off x="358910" y="2827342"/>
            <a:ext cx="8646795" cy="560070"/>
            <a:chOff x="908095" y="954507"/>
            <a:chExt cx="6834558" cy="720568"/>
          </a:xfrm>
        </p:grpSpPr>
        <p:sp>
          <p:nvSpPr>
            <p:cNvPr id="8" name="矩形 7"/>
            <p:cNvSpPr/>
            <p:nvPr>
              <p:custDataLst>
                <p:tags r:id="rId2"/>
              </p:custDataLst>
            </p:nvPr>
          </p:nvSpPr>
          <p:spPr>
            <a:xfrm>
              <a:off x="908095" y="954507"/>
              <a:ext cx="1234708" cy="719751"/>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lnSpc>
                  <a:spcPts val="2300"/>
                </a:lnSpc>
              </a:pPr>
              <a:r>
                <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rPr>
                <a:t>研究目标一</a:t>
              </a:r>
              <a:endPar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sp>
          <p:nvSpPr>
            <p:cNvPr id="9" name="矩形 8"/>
            <p:cNvSpPr/>
            <p:nvPr>
              <p:custDataLst>
                <p:tags r:id="rId3"/>
              </p:custDataLst>
            </p:nvPr>
          </p:nvSpPr>
          <p:spPr>
            <a:xfrm>
              <a:off x="2142803" y="954507"/>
              <a:ext cx="5599850" cy="720568"/>
            </a:xfrm>
            <a:prstGeom prst="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defTabSz="914400" eaLnBrk="1" fontAlgn="auto" hangingPunct="1">
                <a:lnSpc>
                  <a:spcPts val="2300"/>
                </a:lnSpc>
                <a:spcBef>
                  <a:spcPts val="0"/>
                </a:spcBef>
                <a:spcAft>
                  <a:spcPts val="0"/>
                </a:spcAft>
                <a:defRPr/>
              </a:pPr>
              <a:r>
                <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设计面向样本稀缺场景的任务驱动特征提取网络，解决传统模型高度依赖大规模标签数据的问题。</a:t>
              </a:r>
              <a:endPar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grpSp>
      <p:grpSp>
        <p:nvGrpSpPr>
          <p:cNvPr id="10" name="组合 8"/>
          <p:cNvGrpSpPr/>
          <p:nvPr>
            <p:custDataLst>
              <p:tags r:id="rId4"/>
            </p:custDataLst>
          </p:nvPr>
        </p:nvGrpSpPr>
        <p:grpSpPr bwMode="auto">
          <a:xfrm>
            <a:off x="358775" y="3463290"/>
            <a:ext cx="8646795" cy="569595"/>
            <a:chOff x="759600" y="954507"/>
            <a:chExt cx="6883557" cy="565185"/>
          </a:xfrm>
        </p:grpSpPr>
        <p:sp>
          <p:nvSpPr>
            <p:cNvPr id="17" name="矩形 16"/>
            <p:cNvSpPr/>
            <p:nvPr>
              <p:custDataLst>
                <p:tags r:id="rId5"/>
              </p:custDataLst>
            </p:nvPr>
          </p:nvSpPr>
          <p:spPr>
            <a:xfrm>
              <a:off x="759600" y="954507"/>
              <a:ext cx="1243470" cy="56518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lnSpc>
                  <a:spcPts val="2300"/>
                </a:lnSpc>
              </a:pPr>
              <a:r>
                <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rPr>
                <a:t>研究目标二</a:t>
              </a:r>
              <a:endPar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sp>
          <p:nvSpPr>
            <p:cNvPr id="18" name="矩形 17"/>
            <p:cNvSpPr/>
            <p:nvPr>
              <p:custDataLst>
                <p:tags r:id="rId6"/>
              </p:custDataLst>
            </p:nvPr>
          </p:nvSpPr>
          <p:spPr>
            <a:xfrm>
              <a:off x="2003160" y="954507"/>
              <a:ext cx="5639997" cy="558884"/>
            </a:xfrm>
            <a:prstGeom prst="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defTabSz="914400" eaLnBrk="1" fontAlgn="auto" hangingPunct="1">
                <a:lnSpc>
                  <a:spcPts val="2300"/>
                </a:lnSpc>
                <a:spcBef>
                  <a:spcPts val="0"/>
                </a:spcBef>
                <a:spcAft>
                  <a:spcPts val="0"/>
                </a:spcAft>
                <a:defRPr/>
              </a:pPr>
              <a:r>
                <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设计</a:t>
              </a:r>
              <a:r>
                <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基于深度度量的特征空间优化方案，最大化类间可分性与类内紧凑性，解决特征混叠与过拟合问题。</a:t>
              </a:r>
              <a:endPar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grpSp>
      <p:grpSp>
        <p:nvGrpSpPr>
          <p:cNvPr id="19" name="组合 8"/>
          <p:cNvGrpSpPr/>
          <p:nvPr>
            <p:custDataLst>
              <p:tags r:id="rId7"/>
            </p:custDataLst>
          </p:nvPr>
        </p:nvGrpSpPr>
        <p:grpSpPr bwMode="auto">
          <a:xfrm>
            <a:off x="358912" y="4099632"/>
            <a:ext cx="8646795" cy="556895"/>
            <a:chOff x="759600" y="954507"/>
            <a:chExt cx="6883557" cy="716483"/>
          </a:xfrm>
        </p:grpSpPr>
        <p:sp>
          <p:nvSpPr>
            <p:cNvPr id="21" name="矩形 20"/>
            <p:cNvSpPr/>
            <p:nvPr>
              <p:custDataLst>
                <p:tags r:id="rId8"/>
              </p:custDataLst>
            </p:nvPr>
          </p:nvSpPr>
          <p:spPr>
            <a:xfrm>
              <a:off x="759600" y="954507"/>
              <a:ext cx="1274901" cy="706679"/>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algn="ctr" defTabSz="914400" eaLnBrk="1" fontAlgn="base" hangingPunct="1">
                <a:lnSpc>
                  <a:spcPts val="2300"/>
                </a:lnSpc>
              </a:pPr>
              <a:r>
                <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rPr>
                <a:t>研究目标三</a:t>
              </a:r>
              <a:endParaRPr lang="zh-CN" altLang="en-US" sz="1600"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sp>
          <p:nvSpPr>
            <p:cNvPr id="22" name="矩形 21"/>
            <p:cNvSpPr/>
            <p:nvPr>
              <p:custDataLst>
                <p:tags r:id="rId9"/>
              </p:custDataLst>
            </p:nvPr>
          </p:nvSpPr>
          <p:spPr>
            <a:xfrm>
              <a:off x="2003160" y="954507"/>
              <a:ext cx="5639997" cy="716483"/>
            </a:xfrm>
            <a:prstGeom prst="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defTabSz="914400" eaLnBrk="1" fontAlgn="auto" hangingPunct="1">
                <a:lnSpc>
                  <a:spcPts val="2300"/>
                </a:lnSpc>
                <a:spcBef>
                  <a:spcPts val="0"/>
                </a:spcBef>
                <a:spcAft>
                  <a:spcPts val="0"/>
                </a:spcAft>
                <a:defRPr/>
              </a:pPr>
              <a:r>
                <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设计面向复杂电磁环境的鲁棒指纹解耦评估方案，剥离信道干扰，解决物理指纹易失真、识别率低的问题。</a:t>
              </a:r>
              <a:endParaRPr lang="zh-CN" altLang="en-US" sz="14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p:txBody>
        </p:sp>
      </p:grpSp>
      <p:sp>
        <p:nvSpPr>
          <p:cNvPr id="24" name="Freeform 846"/>
          <p:cNvSpPr/>
          <p:nvPr/>
        </p:nvSpPr>
        <p:spPr bwMode="auto">
          <a:xfrm>
            <a:off x="669132" y="1517866"/>
            <a:ext cx="236537" cy="222250"/>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rgbClr val="C00000"/>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28" name="Freeform 847"/>
          <p:cNvSpPr/>
          <p:nvPr/>
        </p:nvSpPr>
        <p:spPr bwMode="auto">
          <a:xfrm>
            <a:off x="756444" y="1470241"/>
            <a:ext cx="57150" cy="152400"/>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rgbClr val="C00000"/>
          </a:solidFill>
          <a:ln>
            <a:noFill/>
          </a:ln>
        </p:spPr>
        <p:txBody>
          <a:bodyPr lIns="121920" tIns="60960" rIns="121920" bIns="60960"/>
          <a:lstStyle/>
          <a:p>
            <a:pPr defTabSz="914400" eaLnBrk="1" fontAlgn="auto" hangingPunct="1">
              <a:spcBef>
                <a:spcPts val="0"/>
              </a:spcBef>
              <a:spcAft>
                <a:spcPts val="0"/>
              </a:spcAft>
              <a:defRPr/>
            </a:pPr>
            <a:endParaRPr lang="zh-CN" altLang="en-US" sz="2490">
              <a:solidFill>
                <a:srgbClr val="C00000"/>
              </a:solidFill>
              <a:latin typeface="Times New Roman" panose="02020603050405020304" pitchFamily="18" charset="0"/>
              <a:ea typeface="微软雅黑" panose="020B0503020204020204" pitchFamily="34" charset="-122"/>
              <a:cs typeface="Arial" panose="020B0604020202020204" pitchFamily="34" charset="0"/>
            </a:endParaRPr>
          </a:p>
        </p:txBody>
      </p:sp>
      <p:sp>
        <p:nvSpPr>
          <p:cNvPr id="23" name="文本框 22"/>
          <p:cNvSpPr txBox="1"/>
          <p:nvPr/>
        </p:nvSpPr>
        <p:spPr>
          <a:xfrm>
            <a:off x="8431703" y="4835723"/>
            <a:ext cx="712297" cy="307777"/>
          </a:xfrm>
          <a:prstGeom prst="rect">
            <a:avLst/>
          </a:prstGeom>
          <a:noFill/>
        </p:spPr>
        <p:txBody>
          <a:bodyPr wrap="square">
            <a:spAutoFit/>
          </a:bodyPr>
          <a:lstStyle/>
          <a:p>
            <a:pPr defTabSz="914400" eaLnBrk="0" fontAlgn="base" hangingPunct="0"/>
            <a:r>
              <a:rPr lang="en-US" altLang="zh-CN" sz="1400" b="1" dirty="0">
                <a:solidFill>
                  <a:srgbClr val="16537F"/>
                </a:solidFill>
                <a:latin typeface="微软雅黑" panose="020B0503020204020204" pitchFamily="34" charset="-122"/>
                <a:ea typeface="微软雅黑" panose="020B0503020204020204" pitchFamily="34" charset="-122"/>
                <a:cs typeface="Times New Roman" panose="02020603050405020304" pitchFamily="18" charset="0"/>
              </a:rPr>
              <a:t>15/30</a:t>
            </a:r>
            <a:endParaRPr lang="zh-CN" altLang="en-US" sz="1800" b="1" dirty="0">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linds(horizontal)">
                                      <p:cBhvr>
                                        <p:cTn id="7" dur="500"/>
                                        <p:tgtEl>
                                          <p:spTgt spid="3482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linds(horizontal)">
                                      <p:cBhvr>
                                        <p:cTn id="10" dur="500"/>
                                        <p:tgtEl>
                                          <p:spTgt spid="2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blinds(horizontal)">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par>
                                <p:cTn id="19" presetID="3"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horizontal)">
                                      <p:cBhvr>
                                        <p:cTn id="24" dur="500"/>
                                        <p:tgtEl>
                                          <p:spTgt spid="1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8" grpId="0" bldLvl="0" animBg="1"/>
      <p:bldP spid="24" grpId="1" animBg="1"/>
      <p:bldP spid="28" grpId="1" animBg="1"/>
      <p:bldP spid="23" grpId="0"/>
      <p:bldP spid="2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3" name="Freeform 846"/>
          <p:cNvSpPr/>
          <p:nvPr/>
        </p:nvSpPr>
        <p:spPr bwMode="auto">
          <a:xfrm>
            <a:off x="865188" y="797357"/>
            <a:ext cx="236537" cy="222250"/>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4" name="Freeform 847"/>
          <p:cNvSpPr/>
          <p:nvPr/>
        </p:nvSpPr>
        <p:spPr bwMode="auto">
          <a:xfrm>
            <a:off x="952500" y="749732"/>
            <a:ext cx="57150" cy="152400"/>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8" name="文本框 7"/>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文本框 14"/>
          <p:cNvSpPr txBox="1"/>
          <p:nvPr/>
        </p:nvSpPr>
        <p:spPr>
          <a:xfrm>
            <a:off x="1096962" y="717466"/>
            <a:ext cx="2601912" cy="368300"/>
          </a:xfrm>
          <a:prstGeom prst="rect">
            <a:avLst/>
          </a:prstGeom>
          <a:noFill/>
        </p:spPr>
        <p:txBody>
          <a:bodyPr wrap="square" rtlCol="0">
            <a:spAutoFit/>
          </a:bodyPr>
          <a:lstStyle/>
          <a:p>
            <a:pPr defTabSz="914400" eaLnBrk="0" fontAlgn="base" hangingPunct="0"/>
            <a:r>
              <a:rPr lang="zh-CN" altLang="en-US" sz="18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总体技术路线</a:t>
            </a:r>
            <a:endParaRPr lang="zh-CN" altLang="en-US" sz="18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5" name="矩形 54"/>
          <p:cNvSpPr/>
          <p:nvPr/>
        </p:nvSpPr>
        <p:spPr>
          <a:xfrm>
            <a:off x="141051" y="1197209"/>
            <a:ext cx="8861898" cy="3819904"/>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pic>
        <p:nvPicPr>
          <p:cNvPr id="46" name="Picture 1" descr="ChatGPT Image 2026年5月19日 15_02_36.png"/>
          <p:cNvPicPr>
            <a:picLocks noChangeAspect="1"/>
          </p:cNvPicPr>
          <p:nvPr/>
        </p:nvPicPr>
        <p:blipFill>
          <a:blip r:embed="rId1"/>
          <a:srcRect l="2145" t="773" r="2178" b="47894"/>
          <a:stretch>
            <a:fillRect/>
          </a:stretch>
        </p:blipFill>
        <p:spPr>
          <a:xfrm>
            <a:off x="140970" y="1199515"/>
            <a:ext cx="8849995" cy="3165475"/>
          </a:xfrm>
          <a:prstGeom prst="rect">
            <a:avLst/>
          </a:prstGeom>
        </p:spPr>
      </p:pic>
      <p:pic>
        <p:nvPicPr>
          <p:cNvPr id="47" name="图片 46"/>
          <p:cNvPicPr>
            <a:picLocks noChangeAspect="1"/>
          </p:cNvPicPr>
          <p:nvPr/>
        </p:nvPicPr>
        <p:blipFill>
          <a:blip r:embed="rId2"/>
          <a:stretch>
            <a:fillRect/>
          </a:stretch>
        </p:blipFill>
        <p:spPr>
          <a:xfrm>
            <a:off x="153670" y="4375150"/>
            <a:ext cx="8849360" cy="523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5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3" name="Freeform 846"/>
          <p:cNvSpPr/>
          <p:nvPr/>
        </p:nvSpPr>
        <p:spPr bwMode="auto">
          <a:xfrm>
            <a:off x="865188" y="797357"/>
            <a:ext cx="236537" cy="222250"/>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4" name="Freeform 847"/>
          <p:cNvSpPr/>
          <p:nvPr/>
        </p:nvSpPr>
        <p:spPr bwMode="auto">
          <a:xfrm>
            <a:off x="952500" y="749732"/>
            <a:ext cx="57150" cy="152400"/>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rgbClr val="ED493F"/>
          </a:solidFill>
          <a:ln>
            <a:noFill/>
          </a:ln>
        </p:spPr>
        <p:txBody>
          <a:bodyPr lIns="121920" tIns="60960" rIns="121920" bIns="60960"/>
          <a:lstStyle/>
          <a:p>
            <a:pPr defTabSz="914400" eaLnBrk="1" fontAlgn="auto" hangingPunct="1">
              <a:spcBef>
                <a:spcPts val="0"/>
              </a:spcBef>
              <a:spcAft>
                <a:spcPts val="0"/>
              </a:spcAft>
              <a:defRPr/>
            </a:pPr>
            <a:endParaRPr lang="zh-CN" altLang="en-US" sz="2490">
              <a:latin typeface="Times New Roman" panose="02020603050405020304" pitchFamily="18" charset="0"/>
              <a:ea typeface="微软雅黑" panose="020B0503020204020204" pitchFamily="34" charset="-122"/>
              <a:cs typeface="Arial" panose="020B0604020202020204" pitchFamily="34" charset="0"/>
            </a:endParaRPr>
          </a:p>
        </p:txBody>
      </p:sp>
      <p:sp>
        <p:nvSpPr>
          <p:cNvPr id="15" name="文本框 14"/>
          <p:cNvSpPr txBox="1"/>
          <p:nvPr/>
        </p:nvSpPr>
        <p:spPr>
          <a:xfrm>
            <a:off x="1096962" y="717466"/>
            <a:ext cx="2601912" cy="368300"/>
          </a:xfrm>
          <a:prstGeom prst="rect">
            <a:avLst/>
          </a:prstGeom>
          <a:noFill/>
        </p:spPr>
        <p:txBody>
          <a:bodyPr wrap="square" rtlCol="0">
            <a:spAutoFit/>
          </a:bodyPr>
          <a:lstStyle/>
          <a:p>
            <a:pPr defTabSz="914400" eaLnBrk="0" fontAlgn="base" hangingPunct="0"/>
            <a:r>
              <a:rPr lang="zh-CN" altLang="en-US" sz="18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总体技术路线</a:t>
            </a:r>
            <a:endParaRPr lang="zh-CN" altLang="en-US" sz="18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5" name="矩形 54"/>
          <p:cNvSpPr/>
          <p:nvPr/>
        </p:nvSpPr>
        <p:spPr>
          <a:xfrm>
            <a:off x="141051" y="1197209"/>
            <a:ext cx="8861898" cy="3819904"/>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11" name="文本框 10"/>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2" name="图片 11" descr="ChatGPT Image 2026年5月20日 16_52_26"/>
          <p:cNvPicPr>
            <a:picLocks noChangeAspect="1"/>
          </p:cNvPicPr>
          <p:nvPr/>
        </p:nvPicPr>
        <p:blipFill>
          <a:blip r:embed="rId1">
            <a:clrChange>
              <a:clrFrom>
                <a:srgbClr val="FEFEFE">
                  <a:alpha val="100000"/>
                </a:srgbClr>
              </a:clrFrom>
              <a:clrTo>
                <a:srgbClr val="FEFEFE">
                  <a:alpha val="100000"/>
                  <a:alpha val="0"/>
                </a:srgbClr>
              </a:clrTo>
            </a:clrChange>
          </a:blip>
          <a:stretch>
            <a:fillRect/>
          </a:stretch>
        </p:blipFill>
        <p:spPr>
          <a:xfrm>
            <a:off x="129540" y="1196975"/>
            <a:ext cx="8653780" cy="3924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5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圆角矩形 3"/>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问题描述</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26" name="组合 125"/>
          <p:cNvGrpSpPr/>
          <p:nvPr/>
        </p:nvGrpSpPr>
        <p:grpSpPr>
          <a:xfrm>
            <a:off x="360680" y="1087021"/>
            <a:ext cx="8360410" cy="3949884"/>
            <a:chOff x="576" y="2477"/>
            <a:chExt cx="18000" cy="8019"/>
          </a:xfrm>
        </p:grpSpPr>
        <p:sp>
          <p:nvSpPr>
            <p:cNvPr id="100" name="Rounded Rectangle 6"/>
            <p:cNvSpPr/>
            <p:nvPr/>
          </p:nvSpPr>
          <p:spPr>
            <a:xfrm>
              <a:off x="576" y="2530"/>
              <a:ext cx="10872" cy="6552"/>
            </a:xfrm>
            <a:prstGeom prst="roundRect">
              <a:avLst/>
            </a:prstGeom>
            <a:solidFill>
              <a:srgbClr val="FAFCFF"/>
            </a:solidFill>
            <a:ln w="16510">
              <a:solidFill>
                <a:srgbClr val="2F75B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1" name="Rounded Rectangle 7"/>
            <p:cNvSpPr/>
            <p:nvPr/>
          </p:nvSpPr>
          <p:spPr>
            <a:xfrm>
              <a:off x="936" y="2882"/>
              <a:ext cx="2423" cy="792"/>
            </a:xfrm>
            <a:prstGeom prst="roundRect">
              <a:avLst/>
            </a:prstGeom>
            <a:solidFill>
              <a:srgbClr val="DDEBF7"/>
            </a:solidFill>
            <a:ln w="15240">
              <a:solidFill>
                <a:srgbClr val="2F75B5"/>
              </a:solid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600" b="1">
                  <a:solidFill>
                    <a:srgbClr val="1F4E79"/>
                  </a:solidFill>
                  <a:latin typeface="微软雅黑" panose="020B0503020204020204" pitchFamily="34" charset="-122"/>
                </a:defRPr>
              </a:pPr>
              <a:r>
                <a:rPr sz="1400">
                  <a:latin typeface="Times New Roman" panose="02020603050405020304" pitchFamily="18" charset="0"/>
                  <a:ea typeface="微软雅黑" panose="020B0503020204020204" pitchFamily="34" charset="-122"/>
                  <a:cs typeface="微软雅黑" panose="020B0503020204020204" pitchFamily="34" charset="-122"/>
                </a:rPr>
                <a:t>无人机信号</a:t>
              </a:r>
              <a:endParaRPr sz="14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2" name="Oval 8"/>
            <p:cNvSpPr/>
            <p:nvPr/>
          </p:nvSpPr>
          <p:spPr>
            <a:xfrm>
              <a:off x="1555" y="3960"/>
              <a:ext cx="490" cy="259"/>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3" name="Oval 9"/>
            <p:cNvSpPr/>
            <p:nvPr/>
          </p:nvSpPr>
          <p:spPr>
            <a:xfrm>
              <a:off x="1094" y="3816"/>
              <a:ext cx="490" cy="115"/>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4" name="Oval 10"/>
            <p:cNvSpPr/>
            <p:nvPr/>
          </p:nvSpPr>
          <p:spPr>
            <a:xfrm>
              <a:off x="2520" y="3816"/>
              <a:ext cx="490" cy="115"/>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5" name="Oval 11"/>
            <p:cNvSpPr/>
            <p:nvPr/>
          </p:nvSpPr>
          <p:spPr>
            <a:xfrm>
              <a:off x="1094" y="4392"/>
              <a:ext cx="490" cy="115"/>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6" name="Oval 12"/>
            <p:cNvSpPr/>
            <p:nvPr/>
          </p:nvSpPr>
          <p:spPr>
            <a:xfrm>
              <a:off x="2520" y="4392"/>
              <a:ext cx="490" cy="115"/>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cxnSp>
          <p:nvCxnSpPr>
            <p:cNvPr id="107" name="Connector 13"/>
            <p:cNvCxnSpPr/>
            <p:nvPr/>
          </p:nvCxnSpPr>
          <p:spPr>
            <a:xfrm flipH="1" flipV="1">
              <a:off x="1339" y="3874"/>
              <a:ext cx="461" cy="216"/>
            </a:xfrm>
            <a:prstGeom prst="line">
              <a:avLst/>
            </a:prstGeom>
            <a:ln w="1270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108" name="Connector 14"/>
            <p:cNvCxnSpPr/>
            <p:nvPr/>
          </p:nvCxnSpPr>
          <p:spPr>
            <a:xfrm flipV="1">
              <a:off x="1800" y="3874"/>
              <a:ext cx="965" cy="216"/>
            </a:xfrm>
            <a:prstGeom prst="line">
              <a:avLst/>
            </a:prstGeom>
            <a:ln w="1270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109" name="Connector 15"/>
            <p:cNvCxnSpPr/>
            <p:nvPr/>
          </p:nvCxnSpPr>
          <p:spPr>
            <a:xfrm flipH="1">
              <a:off x="1339" y="4090"/>
              <a:ext cx="461" cy="360"/>
            </a:xfrm>
            <a:prstGeom prst="line">
              <a:avLst/>
            </a:prstGeom>
            <a:ln w="1270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110" name="Connector 16"/>
            <p:cNvCxnSpPr/>
            <p:nvPr/>
          </p:nvCxnSpPr>
          <p:spPr>
            <a:xfrm>
              <a:off x="1800" y="4090"/>
              <a:ext cx="965" cy="360"/>
            </a:xfrm>
            <a:prstGeom prst="line">
              <a:avLst/>
            </a:prstGeom>
            <a:ln w="12700">
              <a:solidFill>
                <a:srgbClr val="1E1E1E"/>
              </a:solidFill>
            </a:ln>
          </p:spPr>
          <p:style>
            <a:lnRef idx="2">
              <a:schemeClr val="accent1"/>
            </a:lnRef>
            <a:fillRef idx="0">
              <a:schemeClr val="accent1"/>
            </a:fillRef>
            <a:effectRef idx="1">
              <a:schemeClr val="accent1"/>
            </a:effectRef>
            <a:fontRef idx="minor">
              <a:schemeClr val="tx1"/>
            </a:fontRef>
          </p:style>
        </p:cxnSp>
        <p:sp>
          <p:nvSpPr>
            <p:cNvPr id="111" name="Rectangle 17"/>
            <p:cNvSpPr/>
            <p:nvPr/>
          </p:nvSpPr>
          <p:spPr>
            <a:xfrm>
              <a:off x="1008" y="4867"/>
              <a:ext cx="1872" cy="6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300" b="1">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I/Q 复基带</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12" name="Picture 18" descr="iq_wave_problem.png"/>
            <p:cNvPicPr>
              <a:picLocks noChangeAspect="1"/>
            </p:cNvPicPr>
            <p:nvPr/>
          </p:nvPicPr>
          <p:blipFill>
            <a:blip r:embed="rId1"/>
            <a:stretch>
              <a:fillRect/>
            </a:stretch>
          </p:blipFill>
          <p:spPr>
            <a:xfrm>
              <a:off x="893" y="5414"/>
              <a:ext cx="2160" cy="936"/>
            </a:xfrm>
            <a:prstGeom prst="rect">
              <a:avLst/>
            </a:prstGeom>
          </p:spPr>
        </p:pic>
        <p:cxnSp>
          <p:nvCxnSpPr>
            <p:cNvPr id="113" name="Connector 19"/>
            <p:cNvCxnSpPr/>
            <p:nvPr/>
          </p:nvCxnSpPr>
          <p:spPr>
            <a:xfrm>
              <a:off x="3096" y="5069"/>
              <a:ext cx="864" cy="0"/>
            </a:xfrm>
            <a:prstGeom prst="line">
              <a:avLst/>
            </a:prstGeom>
            <a:ln w="38100">
              <a:solidFill>
                <a:srgbClr val="2F75B5"/>
              </a:solidFill>
            </a:ln>
          </p:spPr>
          <p:style>
            <a:lnRef idx="2">
              <a:schemeClr val="accent1"/>
            </a:lnRef>
            <a:fillRef idx="0">
              <a:schemeClr val="accent1"/>
            </a:fillRef>
            <a:effectRef idx="1">
              <a:schemeClr val="accent1"/>
            </a:effectRef>
            <a:fontRef idx="minor">
              <a:schemeClr val="tx1"/>
            </a:fontRef>
          </p:style>
        </p:cxnSp>
        <p:sp>
          <p:nvSpPr>
            <p:cNvPr id="114" name="Rounded Rectangle 20"/>
            <p:cNvSpPr/>
            <p:nvPr/>
          </p:nvSpPr>
          <p:spPr>
            <a:xfrm>
              <a:off x="4104" y="2952"/>
              <a:ext cx="2232" cy="835"/>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700" b="1">
                  <a:solidFill>
                    <a:srgbClr val="DC322F"/>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少样本</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5" name="Rounded Rectangle 21"/>
            <p:cNvSpPr/>
            <p:nvPr/>
          </p:nvSpPr>
          <p:spPr>
            <a:xfrm>
              <a:off x="4104" y="4464"/>
              <a:ext cx="2232" cy="835"/>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700" b="1">
                  <a:solidFill>
                    <a:srgbClr val="DC322F"/>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低信噪比</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6" name="Rounded Rectangle 22"/>
            <p:cNvSpPr/>
            <p:nvPr/>
          </p:nvSpPr>
          <p:spPr>
            <a:xfrm>
              <a:off x="4104" y="5976"/>
              <a:ext cx="2232" cy="835"/>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700" b="1">
                  <a:solidFill>
                    <a:srgbClr val="DC322F"/>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多径衰落</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7" name="Rounded Rectangle 23"/>
            <p:cNvSpPr/>
            <p:nvPr/>
          </p:nvSpPr>
          <p:spPr>
            <a:xfrm>
              <a:off x="4032" y="7286"/>
              <a:ext cx="2420" cy="922"/>
            </a:xfrm>
            <a:prstGeom prst="roundRect">
              <a:avLst/>
            </a:prstGeom>
            <a:solidFill>
              <a:srgbClr val="FFF2CC"/>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1400" b="1">
                  <a:solidFill>
                    <a:srgbClr val="DC322F"/>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特征漂移 / 混叠</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18" name="Picture 24" descr="feature_overlap_problem.png"/>
            <p:cNvPicPr>
              <a:picLocks noChangeAspect="1"/>
            </p:cNvPicPr>
            <p:nvPr/>
          </p:nvPicPr>
          <p:blipFill>
            <a:blip r:embed="rId2"/>
            <a:stretch>
              <a:fillRect/>
            </a:stretch>
          </p:blipFill>
          <p:spPr>
            <a:xfrm>
              <a:off x="7200" y="3384"/>
              <a:ext cx="3240" cy="2100"/>
            </a:xfrm>
            <a:prstGeom prst="rect">
              <a:avLst/>
            </a:prstGeom>
          </p:spPr>
        </p:pic>
        <p:sp>
          <p:nvSpPr>
            <p:cNvPr id="119" name="Rectangle 25"/>
            <p:cNvSpPr/>
            <p:nvPr/>
          </p:nvSpPr>
          <p:spPr>
            <a:xfrm>
              <a:off x="6452" y="6391"/>
              <a:ext cx="4996" cy="14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lnSpc>
                  <a:spcPct val="150000"/>
                </a:lnSpc>
                <a:defRPr sz="1300" b="1">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传统方法下特征分布：</a:t>
              </a:r>
              <a:br>
                <a:rPr>
                  <a:latin typeface="Times New Roman" panose="02020603050405020304" pitchFamily="18" charset="0"/>
                  <a:ea typeface="微软雅黑" panose="020B0503020204020204" pitchFamily="34" charset="-122"/>
                  <a:cs typeface="微软雅黑" panose="020B0503020204020204" pitchFamily="34" charset="-122"/>
                </a:rPr>
              </a:br>
              <a:r>
                <a:rPr lang="en-US">
                  <a:latin typeface="Times New Roman" panose="02020603050405020304" pitchFamily="18" charset="0"/>
                  <a:ea typeface="微软雅黑" panose="020B0503020204020204" pitchFamily="34" charset="-122"/>
                  <a:cs typeface="微软雅黑" panose="020B0503020204020204" pitchFamily="34" charset="-122"/>
                </a:rPr>
                <a:t>           </a:t>
              </a:r>
              <a:r>
                <a:rPr>
                  <a:latin typeface="Times New Roman" panose="02020603050405020304" pitchFamily="18" charset="0"/>
                  <a:ea typeface="微软雅黑" panose="020B0503020204020204" pitchFamily="34" charset="-122"/>
                  <a:cs typeface="微软雅黑" panose="020B0503020204020204" pitchFamily="34" charset="-122"/>
                </a:rPr>
                <a:t>类内分散、类间重叠</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0" name="Rounded Rectangle 26"/>
            <p:cNvSpPr/>
            <p:nvPr/>
          </p:nvSpPr>
          <p:spPr>
            <a:xfrm>
              <a:off x="11880" y="2477"/>
              <a:ext cx="6696" cy="6552"/>
            </a:xfrm>
            <a:prstGeom prst="roundRect">
              <a:avLst/>
            </a:prstGeom>
            <a:solidFill>
              <a:srgbClr val="F8FBFF"/>
            </a:solidFill>
            <a:ln w="17780">
              <a:solidFill>
                <a:srgbClr val="2F75B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21" name="Rectangle 27"/>
            <p:cNvSpPr/>
            <p:nvPr/>
          </p:nvSpPr>
          <p:spPr>
            <a:xfrm>
              <a:off x="12355" y="2604"/>
              <a:ext cx="5760" cy="749"/>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defTabSz="914400" eaLnBrk="0" fontAlgn="base" hangingPunct="0">
                <a:defRPr sz="2400" b="1">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关键问题</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2" name="Rounded Rectangle 28"/>
            <p:cNvSpPr/>
            <p:nvPr/>
          </p:nvSpPr>
          <p:spPr>
            <a:xfrm>
              <a:off x="12269" y="3580"/>
              <a:ext cx="5875" cy="1312"/>
            </a:xfrm>
            <a:prstGeom prst="roundRect">
              <a:avLst/>
            </a:prstGeom>
            <a:solidFill>
              <a:srgbClr val="DDEBF7"/>
            </a:solidFill>
            <a:ln w="13970">
              <a:solidFill>
                <a:srgbClr val="2F75B5"/>
              </a:solidFill>
            </a:ln>
          </p:spPr>
          <p:style>
            <a:lnRef idx="1">
              <a:schemeClr val="accent1"/>
            </a:lnRef>
            <a:fillRef idx="3">
              <a:schemeClr val="accent1"/>
            </a:fillRef>
            <a:effectRef idx="2">
              <a:schemeClr val="accent1"/>
            </a:effectRef>
            <a:fontRef idx="minor">
              <a:schemeClr val="lt1"/>
            </a:fontRef>
          </p:style>
          <p:txBody>
            <a:bodyPr tIns="64008" rIns="73152" rtlCol="0" anchor="ctr"/>
            <a:lstStyle/>
            <a:p>
              <a:pPr algn="ctr" defTabSz="914400" eaLnBrk="0" fontAlgn="base" hangingPunct="0">
                <a:defRPr sz="1500" b="1">
                  <a:solidFill>
                    <a:srgbClr val="2F75B5"/>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defRPr sz="1500" b="1">
                  <a:solidFill>
                    <a:srgbClr val="2F75B5"/>
                  </a:solidFill>
                  <a:latin typeface="微软雅黑" panose="020B0503020204020204" pitchFamily="34" charset="-122"/>
                </a:defRPr>
              </a:pPr>
              <a:r>
                <a:rPr sz="1400">
                  <a:latin typeface="Times New Roman" panose="02020603050405020304" pitchFamily="18" charset="0"/>
                  <a:ea typeface="微软雅黑" panose="020B0503020204020204" pitchFamily="34" charset="-122"/>
                  <a:cs typeface="微软雅黑" panose="020B0503020204020204" pitchFamily="34" charset="-122"/>
                </a:rPr>
                <a:t>问题1：输入特征不稳定</a:t>
              </a:r>
              <a:endParaRPr sz="1400">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100"/>
                </a:spcAft>
                <a:defRPr sz="112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I/Q 信号幅度受接收距离、噪声和信道衰落影响，直接输入容易引入无关扰动</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defRPr sz="1150" b="1">
                  <a:solidFill>
                    <a:srgbClr val="DC322F"/>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3" name="Rounded Rectangle 29"/>
            <p:cNvSpPr/>
            <p:nvPr/>
          </p:nvSpPr>
          <p:spPr>
            <a:xfrm>
              <a:off x="12269" y="5371"/>
              <a:ext cx="5875" cy="1411"/>
            </a:xfrm>
            <a:prstGeom prst="roundRect">
              <a:avLst/>
            </a:prstGeom>
            <a:solidFill>
              <a:srgbClr val="E2F0D9"/>
            </a:solidFill>
            <a:ln w="13970">
              <a:solidFill>
                <a:srgbClr val="70AD47"/>
              </a:solidFill>
            </a:ln>
          </p:spPr>
          <p:style>
            <a:lnRef idx="1">
              <a:schemeClr val="accent1"/>
            </a:lnRef>
            <a:fillRef idx="3">
              <a:schemeClr val="accent1"/>
            </a:fillRef>
            <a:effectRef idx="2">
              <a:schemeClr val="accent1"/>
            </a:effectRef>
            <a:fontRef idx="minor">
              <a:schemeClr val="lt1"/>
            </a:fontRef>
          </p:style>
          <p:txBody>
            <a:bodyPr tIns="64008" rIns="73152" rtlCol="0" anchor="ctr"/>
            <a:lstStyle/>
            <a:p>
              <a:pPr algn="ctr" defTabSz="914400" eaLnBrk="0" fontAlgn="base" hangingPunct="0">
                <a:defRPr sz="1500" b="1">
                  <a:solidFill>
                    <a:srgbClr val="70AD47"/>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defRPr sz="1500" b="1">
                  <a:solidFill>
                    <a:srgbClr val="70AD47"/>
                  </a:solidFill>
                  <a:latin typeface="微软雅黑" panose="020B0503020204020204" pitchFamily="34" charset="-122"/>
                </a:defRPr>
              </a:pPr>
              <a:r>
                <a:rPr sz="1400">
                  <a:latin typeface="Times New Roman" panose="02020603050405020304" pitchFamily="18" charset="0"/>
                  <a:ea typeface="微软雅黑" panose="020B0503020204020204" pitchFamily="34" charset="-122"/>
                  <a:cs typeface="微软雅黑" panose="020B0503020204020204" pitchFamily="34" charset="-122"/>
                </a:rPr>
                <a:t>问题2：特征空间易混叠</a:t>
              </a:r>
              <a:endParaRPr sz="1400">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100"/>
                </a:spcAft>
                <a:defRPr sz="112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少样本条件下类内样本分散、类间边</a:t>
              </a:r>
              <a:r>
                <a:rPr lang="zh-CN">
                  <a:latin typeface="Times New Roman" panose="02020603050405020304" pitchFamily="18" charset="0"/>
                  <a:ea typeface="微软雅黑" panose="020B0503020204020204" pitchFamily="34" charset="-122"/>
                  <a:cs typeface="微软雅黑" panose="020B0503020204020204" pitchFamily="34" charset="-122"/>
                </a:rPr>
                <a:t>。</a:t>
              </a:r>
              <a:r>
                <a:rPr>
                  <a:latin typeface="Times New Roman" panose="02020603050405020304" pitchFamily="18" charset="0"/>
                  <a:ea typeface="微软雅黑" panose="020B0503020204020204" pitchFamily="34" charset="-122"/>
                  <a:cs typeface="微软雅黑" panose="020B0503020204020204" pitchFamily="34" charset="-122"/>
                </a:rPr>
                <a:t>模糊，传统 Softmax 分类器容易过拟合</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defRPr sz="1150" b="1">
                  <a:solidFill>
                    <a:srgbClr val="DC322F"/>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4" name="Rounded Rectangle 30"/>
            <p:cNvSpPr/>
            <p:nvPr/>
          </p:nvSpPr>
          <p:spPr>
            <a:xfrm>
              <a:off x="12269" y="7070"/>
              <a:ext cx="5875" cy="1411"/>
            </a:xfrm>
            <a:prstGeom prst="roundRect">
              <a:avLst/>
            </a:prstGeom>
            <a:solidFill>
              <a:srgbClr val="F2EBF7"/>
            </a:solidFill>
            <a:ln w="13970">
              <a:solidFill>
                <a:srgbClr val="7030A0"/>
              </a:solidFill>
            </a:ln>
          </p:spPr>
          <p:style>
            <a:lnRef idx="1">
              <a:schemeClr val="accent1"/>
            </a:lnRef>
            <a:fillRef idx="3">
              <a:schemeClr val="accent1"/>
            </a:fillRef>
            <a:effectRef idx="2">
              <a:schemeClr val="accent1"/>
            </a:effectRef>
            <a:fontRef idx="minor">
              <a:schemeClr val="lt1"/>
            </a:fontRef>
          </p:style>
          <p:txBody>
            <a:bodyPr tIns="64008" rIns="73152" rtlCol="0" anchor="ctr"/>
            <a:lstStyle/>
            <a:p>
              <a:pPr algn="ctr" defTabSz="914400" eaLnBrk="0" fontAlgn="base" hangingPunct="0">
                <a:defRPr sz="1500" b="1">
                  <a:solidFill>
                    <a:srgbClr val="7030A0"/>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a:p>
              <a:pPr algn="ctr" defTabSz="914400" eaLnBrk="0" fontAlgn="base" hangingPunct="0">
                <a:defRPr sz="1500" b="1">
                  <a:solidFill>
                    <a:srgbClr val="7030A0"/>
                  </a:solidFill>
                  <a:latin typeface="微软雅黑" panose="020B0503020204020204" pitchFamily="34" charset="-122"/>
                </a:defRPr>
              </a:pPr>
              <a:r>
                <a:rPr sz="1400">
                  <a:latin typeface="Times New Roman" panose="02020603050405020304" pitchFamily="18" charset="0"/>
                  <a:ea typeface="微软雅黑" panose="020B0503020204020204" pitchFamily="34" charset="-122"/>
                  <a:cs typeface="微软雅黑" panose="020B0503020204020204" pitchFamily="34" charset="-122"/>
                </a:rPr>
                <a:t>问题3：新设备适应困难</a:t>
              </a:r>
              <a:endParaRPr sz="1400">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100"/>
                </a:spcAft>
                <a:defRPr sz="112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未知无人机注册样本少，模型需要利用少量支持样本快速完成识别</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defRPr sz="1150" b="1">
                  <a:solidFill>
                    <a:srgbClr val="DC322F"/>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5" name="Rounded Rectangle 31"/>
            <p:cNvSpPr/>
            <p:nvPr/>
          </p:nvSpPr>
          <p:spPr>
            <a:xfrm>
              <a:off x="648" y="9288"/>
              <a:ext cx="17928" cy="1208"/>
            </a:xfrm>
            <a:prstGeom prst="roundRect">
              <a:avLst/>
            </a:prstGeom>
            <a:solidFill>
              <a:srgbClr val="E9F2FA"/>
            </a:solidFill>
            <a:ln w="13970">
              <a:solidFill>
                <a:srgbClr val="2F75B5"/>
              </a:solidFill>
            </a:ln>
          </p:spPr>
          <p:style>
            <a:lnRef idx="1">
              <a:schemeClr val="accent1"/>
            </a:lnRef>
            <a:fillRef idx="3">
              <a:schemeClr val="accent1"/>
            </a:fillRef>
            <a:effectRef idx="2">
              <a:schemeClr val="accent1"/>
            </a:effectRef>
            <a:fontRef idx="minor">
              <a:schemeClr val="lt1"/>
            </a:fontRef>
          </p:style>
          <p:txBody>
            <a:bodyPr lIns="164592" rIns="109728" rtlCol="0" anchor="ctr"/>
            <a:lstStyle/>
            <a:p>
              <a:pPr algn="l" defTabSz="914400" eaLnBrk="0" fontAlgn="base" hangingPunct="0">
                <a:defRPr sz="1600" b="1">
                  <a:solidFill>
                    <a:srgbClr val="1F4E79"/>
                  </a:solidFill>
                  <a:latin typeface="微软雅黑" panose="020B0503020204020204" pitchFamily="34" charset="-122"/>
                </a:defRPr>
              </a:pPr>
              <a:r>
                <a:rPr lang="zh-CN" altLang="en-US">
                  <a:cs typeface="微软雅黑" panose="020B0503020204020204" pitchFamily="34" charset="-122"/>
                </a:rPr>
                <a:t>针对少样本下无人机射频指纹识别存在的样本不足、特征易混叠和复杂信道干扰问题，提出通过轻量化特征提取、余弦原型度量和 </a:t>
              </a:r>
              <a:r>
                <a:rPr lang="en-US" altLang="zh-CN">
                  <a:cs typeface="微软雅黑" panose="020B0503020204020204" pitchFamily="34" charset="-122"/>
                </a:rPr>
                <a:t>N-way K-shot </a:t>
              </a:r>
              <a:r>
                <a:rPr lang="zh-CN" altLang="en-US">
                  <a:cs typeface="微软雅黑" panose="020B0503020204020204" pitchFamily="34" charset="-122"/>
                </a:rPr>
                <a:t>元学习训练提升模型识别能力</a:t>
              </a:r>
              <a:endParaRPr lang="en-US" altLang="zh-CN">
                <a:cs typeface="微软雅黑" panose="020B0503020204020204" pitchFamily="34" charset="-122"/>
              </a:endParaRPr>
            </a:p>
          </p:txBody>
        </p:sp>
      </p:grpSp>
      <p:sp>
        <p:nvSpPr>
          <p:cNvPr id="127" name="文本框 126"/>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圆角矩形 3"/>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研究内容一</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基于 I/Q 信号预处理的</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轻量化特征</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学习</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Shape 4"/>
          <p:cNvSpPr/>
          <p:nvPr/>
        </p:nvSpPr>
        <p:spPr>
          <a:xfrm>
            <a:off x="411480" y="1240155"/>
            <a:ext cx="1691640" cy="960120"/>
          </a:xfrm>
          <a:prstGeom prst="roundRect">
            <a:avLst>
              <a:gd name="adj" fmla="val 11429"/>
            </a:avLst>
          </a:prstGeom>
          <a:solidFill>
            <a:srgbClr val="EAF3FF"/>
          </a:solidFill>
          <a:ln w="12700">
            <a:solidFill>
              <a:srgbClr val="2F75B5"/>
            </a:solidFill>
            <a:prstDash val="solid"/>
          </a:ln>
        </p:spPr>
      </p:sp>
      <p:sp>
        <p:nvSpPr>
          <p:cNvPr id="10" name="Shape 6"/>
          <p:cNvSpPr/>
          <p:nvPr/>
        </p:nvSpPr>
        <p:spPr>
          <a:xfrm>
            <a:off x="2176272" y="1560195"/>
            <a:ext cx="310896" cy="256032"/>
          </a:xfrm>
          <a:prstGeom prst="rightArrow">
            <a:avLst/>
          </a:prstGeom>
          <a:solidFill>
            <a:srgbClr val="2F75B5"/>
          </a:solidFill>
          <a:ln w="12700">
            <a:solidFill>
              <a:srgbClr val="2F75B5"/>
            </a:solidFill>
            <a:prstDash val="solid"/>
          </a:ln>
        </p:spPr>
      </p:sp>
      <p:sp>
        <p:nvSpPr>
          <p:cNvPr id="11" name="Shape 7"/>
          <p:cNvSpPr/>
          <p:nvPr/>
        </p:nvSpPr>
        <p:spPr>
          <a:xfrm>
            <a:off x="2578608" y="1240155"/>
            <a:ext cx="1691640" cy="960120"/>
          </a:xfrm>
          <a:prstGeom prst="roundRect">
            <a:avLst>
              <a:gd name="adj" fmla="val 11429"/>
            </a:avLst>
          </a:prstGeom>
          <a:solidFill>
            <a:srgbClr val="EAF5E2"/>
          </a:solidFill>
          <a:ln w="12700">
            <a:solidFill>
              <a:srgbClr val="70AD47"/>
            </a:solidFill>
            <a:prstDash val="solid"/>
          </a:ln>
        </p:spPr>
      </p:sp>
      <p:sp>
        <p:nvSpPr>
          <p:cNvPr id="12" name="Shape 9"/>
          <p:cNvSpPr/>
          <p:nvPr/>
        </p:nvSpPr>
        <p:spPr>
          <a:xfrm>
            <a:off x="4343400" y="1560195"/>
            <a:ext cx="310896" cy="256032"/>
          </a:xfrm>
          <a:prstGeom prst="rightArrow">
            <a:avLst/>
          </a:prstGeom>
          <a:solidFill>
            <a:srgbClr val="2F75B5"/>
          </a:solidFill>
          <a:ln w="12700">
            <a:solidFill>
              <a:srgbClr val="2F75B5"/>
            </a:solidFill>
            <a:prstDash val="solid"/>
          </a:ln>
        </p:spPr>
      </p:sp>
      <p:sp>
        <p:nvSpPr>
          <p:cNvPr id="13" name="Shape 10"/>
          <p:cNvSpPr/>
          <p:nvPr/>
        </p:nvSpPr>
        <p:spPr>
          <a:xfrm>
            <a:off x="4729861" y="1240155"/>
            <a:ext cx="1691640" cy="960120"/>
          </a:xfrm>
          <a:prstGeom prst="roundRect">
            <a:avLst>
              <a:gd name="adj" fmla="val 11429"/>
            </a:avLst>
          </a:prstGeom>
          <a:solidFill>
            <a:srgbClr val="EAF0FF"/>
          </a:solidFill>
          <a:ln w="12700">
            <a:solidFill>
              <a:srgbClr val="2F75B5"/>
            </a:solidFill>
            <a:prstDash val="solid"/>
          </a:ln>
        </p:spPr>
      </p:sp>
      <p:sp>
        <p:nvSpPr>
          <p:cNvPr id="14" name="Text 11"/>
          <p:cNvSpPr/>
          <p:nvPr/>
        </p:nvSpPr>
        <p:spPr>
          <a:xfrm>
            <a:off x="4800600" y="1188085"/>
            <a:ext cx="1581785" cy="975360"/>
          </a:xfrm>
          <a:prstGeom prst="rect">
            <a:avLst/>
          </a:prstGeom>
          <a:noFill/>
        </p:spPr>
        <p:txBody>
          <a:bodyPr wrap="square" lIns="762" tIns="762" rIns="762" bIns="762" rtlCol="0" anchor="ctr">
            <a:normAutofit fontScale="90000" lnSpcReduction="10000"/>
          </a:bodyPr>
          <a:lstStyle/>
          <a:p>
            <a:pPr marL="0" algn="ctr" defTabSz="914400" eaLnBrk="0" fontAlgn="base" hangingPunct="0">
              <a:lnSpc>
                <a:spcPct val="150000"/>
              </a:lnSpc>
              <a:buClrTx/>
              <a:buSzTx/>
              <a:buNone/>
            </a:pPr>
            <a:r>
              <a:rPr 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③ 轻量化特征提取</a:t>
            </a:r>
            <a:endPar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 </a:t>
            </a: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1D-CNN 时序卷积</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 残差连接</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 局部特征映射</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15" name="Shape 12"/>
          <p:cNvSpPr/>
          <p:nvPr/>
        </p:nvSpPr>
        <p:spPr>
          <a:xfrm>
            <a:off x="6510528" y="1560195"/>
            <a:ext cx="310896" cy="256032"/>
          </a:xfrm>
          <a:prstGeom prst="rightArrow">
            <a:avLst/>
          </a:prstGeom>
          <a:solidFill>
            <a:srgbClr val="2F75B5"/>
          </a:solidFill>
          <a:ln w="12700">
            <a:solidFill>
              <a:srgbClr val="2F75B5"/>
            </a:solidFill>
            <a:prstDash val="solid"/>
          </a:ln>
        </p:spPr>
      </p:sp>
      <p:sp>
        <p:nvSpPr>
          <p:cNvPr id="16" name="Shape 13"/>
          <p:cNvSpPr/>
          <p:nvPr/>
        </p:nvSpPr>
        <p:spPr>
          <a:xfrm>
            <a:off x="6912864" y="1240155"/>
            <a:ext cx="1810512" cy="960120"/>
          </a:xfrm>
          <a:prstGeom prst="roundRect">
            <a:avLst>
              <a:gd name="adj" fmla="val 11429"/>
            </a:avLst>
          </a:prstGeom>
          <a:solidFill>
            <a:srgbClr val="FFF2CC"/>
          </a:solidFill>
          <a:ln w="12700">
            <a:solidFill>
              <a:srgbClr val="E0B353"/>
            </a:solidFill>
            <a:prstDash val="solid"/>
          </a:ln>
        </p:spPr>
      </p:sp>
      <p:sp>
        <p:nvSpPr>
          <p:cNvPr id="17" name="Text 14"/>
          <p:cNvSpPr/>
          <p:nvPr/>
        </p:nvSpPr>
        <p:spPr>
          <a:xfrm>
            <a:off x="6967855" y="1240155"/>
            <a:ext cx="1700530" cy="923925"/>
          </a:xfrm>
          <a:prstGeom prst="rect">
            <a:avLst/>
          </a:prstGeom>
          <a:noFill/>
        </p:spPr>
        <p:txBody>
          <a:bodyPr wrap="square" lIns="762" tIns="762" rIns="762" bIns="762" rtlCol="0" anchor="ctr">
            <a:normAutofit fontScale="90000" lnSpcReduction="10000"/>
          </a:bodyPr>
          <a:lstStyle/>
          <a:p>
            <a:pPr marL="0" indent="0" algn="ctr" defTabSz="914400" eaLnBrk="0" fontAlgn="base" hangingPunct="0">
              <a:buNone/>
            </a:pPr>
            <a:r>
              <a:rPr lang="en-US" sz="1335"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④ 特征嵌入输出</a:t>
            </a:r>
            <a:endParaRPr lang="en-US" sz="1335" dirty="0">
              <a:latin typeface="Times New Roman" panose="02020603050405020304" pitchFamily="18" charset="0"/>
              <a:ea typeface="微软雅黑" panose="020B0503020204020204" pitchFamily="34" charset="-122"/>
              <a:cs typeface="微软雅黑" panose="020B0503020204020204" pitchFamily="34" charset="-122"/>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高维特征向量 z</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输入后续原型度量</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支撑少样本分类</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18" name="Shape 15"/>
          <p:cNvSpPr/>
          <p:nvPr/>
        </p:nvSpPr>
        <p:spPr>
          <a:xfrm>
            <a:off x="332613" y="2451735"/>
            <a:ext cx="2148840" cy="960120"/>
          </a:xfrm>
          <a:prstGeom prst="roundRect">
            <a:avLst>
              <a:gd name="adj" fmla="val 11429"/>
            </a:avLst>
          </a:prstGeom>
          <a:solidFill>
            <a:srgbClr val="F8FBFF"/>
          </a:solidFill>
          <a:ln w="12700">
            <a:solidFill>
              <a:srgbClr val="AFC3D8"/>
            </a:solidFill>
            <a:prstDash val="solid"/>
          </a:ln>
        </p:spPr>
      </p:sp>
      <p:sp>
        <p:nvSpPr>
          <p:cNvPr id="19" name="Text 16"/>
          <p:cNvSpPr/>
          <p:nvPr/>
        </p:nvSpPr>
        <p:spPr>
          <a:xfrm>
            <a:off x="387477" y="2488311"/>
            <a:ext cx="2039112" cy="886968"/>
          </a:xfrm>
          <a:prstGeom prst="rect">
            <a:avLst/>
          </a:prstGeom>
          <a:noFill/>
        </p:spPr>
        <p:txBody>
          <a:bodyPr wrap="square" lIns="762" tIns="762" rIns="762" bIns="762" rtlCol="0" anchor="ctr">
            <a:normAutofit fontScale="90000" lnSpcReduction="20000"/>
          </a:bodyPr>
          <a:lstStyle/>
          <a:p>
            <a:pPr marL="0" indent="0" algn="ctr" defTabSz="914400" eaLnBrk="0" fontAlgn="base" hangingPunct="0">
              <a:buNone/>
            </a:pPr>
            <a:r>
              <a:rPr 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预处理目标</a:t>
            </a:r>
            <a:endParaRPr lang="en-US" sz="1335"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lnSpc>
                <a:spcPct val="150000"/>
              </a:lnSpc>
              <a:buNone/>
            </a:pPr>
            <a:r>
              <a:rPr lang="zh-CN" altLang="en-US" sz="1200" dirty="0">
                <a:latin typeface="Times New Roman" panose="02020603050405020304" pitchFamily="18" charset="0"/>
                <a:ea typeface="微软雅黑" panose="020B0503020204020204" pitchFamily="34" charset="-122"/>
                <a:cs typeface="微软雅黑" panose="020B0503020204020204" pitchFamily="34" charset="-120"/>
              </a:rPr>
              <a:t>统一不同样本的幅度尺度，减</a:t>
            </a:r>
            <a:endParaRPr lang="zh-CN" altLang="en-US" sz="1200" dirty="0">
              <a:latin typeface="Times New Roman" panose="02020603050405020304" pitchFamily="18" charset="0"/>
              <a:ea typeface="微软雅黑" panose="020B0503020204020204" pitchFamily="34" charset="-122"/>
              <a:cs typeface="微软雅黑" panose="020B0503020204020204" pitchFamily="34" charset="-120"/>
            </a:endParaRPr>
          </a:p>
          <a:p>
            <a:pPr marL="0" indent="0" algn="ctr" defTabSz="914400" eaLnBrk="0" fontAlgn="base" hangingPunct="0">
              <a:lnSpc>
                <a:spcPct val="150000"/>
              </a:lnSpc>
              <a:buNone/>
            </a:pPr>
            <a:r>
              <a:rPr lang="zh-CN" altLang="en-US" sz="1200" dirty="0">
                <a:latin typeface="Times New Roman" panose="02020603050405020304" pitchFamily="18" charset="0"/>
                <a:ea typeface="微软雅黑" panose="020B0503020204020204" pitchFamily="34" charset="-122"/>
                <a:cs typeface="微软雅黑" panose="020B0503020204020204" pitchFamily="34" charset="-120"/>
              </a:rPr>
              <a:t>弱接收距离、路径损耗等因素带来的功率差异。</a:t>
            </a:r>
            <a:endParaRPr lang="zh-CN" altLang="en-US" sz="1200" dirty="0">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0" name="Shape 17"/>
          <p:cNvSpPr/>
          <p:nvPr/>
        </p:nvSpPr>
        <p:spPr>
          <a:xfrm>
            <a:off x="2646045" y="2451735"/>
            <a:ext cx="1920240" cy="960120"/>
          </a:xfrm>
          <a:prstGeom prst="roundRect">
            <a:avLst>
              <a:gd name="adj" fmla="val 11429"/>
            </a:avLst>
          </a:prstGeom>
          <a:solidFill>
            <a:srgbClr val="F9FFF5"/>
          </a:solidFill>
          <a:ln w="12700">
            <a:solidFill>
              <a:srgbClr val="BDD7B7"/>
            </a:solidFill>
            <a:prstDash val="solid"/>
          </a:ln>
        </p:spPr>
      </p:sp>
      <p:sp>
        <p:nvSpPr>
          <p:cNvPr id="21" name="Text 18"/>
          <p:cNvSpPr/>
          <p:nvPr/>
        </p:nvSpPr>
        <p:spPr>
          <a:xfrm>
            <a:off x="2700655" y="2487930"/>
            <a:ext cx="1810385" cy="352425"/>
          </a:xfrm>
          <a:prstGeom prst="rect">
            <a:avLst/>
          </a:prstGeom>
          <a:noFill/>
        </p:spPr>
        <p:txBody>
          <a:bodyPr wrap="square" lIns="762" tIns="762" rIns="762" bIns="762" rtlCol="0" anchor="ctr">
            <a:normAutofit/>
          </a:bodyPr>
          <a:lstStyle/>
          <a:p>
            <a:pPr marL="0" indent="0" algn="ctr" defTabSz="914400" eaLnBrk="0" fontAlgn="base" hangingPunct="0">
              <a:buNone/>
            </a:pPr>
            <a:r>
              <a:rPr lang="en-US" sz="1200" b="1" dirty="0">
                <a:solidFill>
                  <a:srgbClr val="2B5D20"/>
                </a:solidFill>
                <a:latin typeface="Times New Roman" panose="02020603050405020304" pitchFamily="18" charset="0"/>
                <a:ea typeface="微软雅黑" panose="020B0503020204020204" pitchFamily="34" charset="-122"/>
                <a:cs typeface="微软雅黑" panose="020B0503020204020204" pitchFamily="34" charset="-120"/>
              </a:rPr>
              <a:t>归一化表示</a:t>
            </a:r>
            <a:endParaRPr lang="en-US" sz="1300" b="1" dirty="0">
              <a:solidFill>
                <a:srgbClr val="2B5D20"/>
              </a:solidFill>
              <a:latin typeface="Times New Roman" panose="02020603050405020304" pitchFamily="18" charset="0"/>
              <a:ea typeface="微软雅黑" panose="020B0503020204020204" pitchFamily="34" charset="-122"/>
              <a:cs typeface="微软雅黑" panose="020B0503020204020204" pitchFamily="34" charset="-120"/>
            </a:endParaRPr>
          </a:p>
          <a:p>
            <a:pPr marL="0" indent="0" algn="ctr" defTabSz="914400" eaLnBrk="0" fontAlgn="base" hangingPunct="0">
              <a:buNone/>
            </a:pPr>
            <a:endParaRPr lang="en-US" altLang="zh-CN"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 name="Shape 19"/>
          <p:cNvSpPr/>
          <p:nvPr/>
        </p:nvSpPr>
        <p:spPr>
          <a:xfrm>
            <a:off x="4730877" y="2451735"/>
            <a:ext cx="2103120" cy="960120"/>
          </a:xfrm>
          <a:prstGeom prst="roundRect">
            <a:avLst>
              <a:gd name="adj" fmla="val 11429"/>
            </a:avLst>
          </a:prstGeom>
          <a:solidFill>
            <a:srgbClr val="F7FAFF"/>
          </a:solidFill>
          <a:ln w="12700">
            <a:solidFill>
              <a:srgbClr val="B7C9E6"/>
            </a:solidFill>
            <a:prstDash val="solid"/>
          </a:ln>
        </p:spPr>
      </p:sp>
      <p:sp>
        <p:nvSpPr>
          <p:cNvPr id="23" name="Text 20"/>
          <p:cNvSpPr/>
          <p:nvPr/>
        </p:nvSpPr>
        <p:spPr>
          <a:xfrm>
            <a:off x="4785995" y="2452370"/>
            <a:ext cx="1993265" cy="434340"/>
          </a:xfrm>
          <a:prstGeom prst="rect">
            <a:avLst/>
          </a:prstGeom>
          <a:noFill/>
        </p:spPr>
        <p:txBody>
          <a:bodyPr wrap="square" lIns="762" tIns="762" rIns="762" bIns="762" rtlCol="0" anchor="ctr">
            <a:normAutofit/>
          </a:bodyPr>
          <a:lstStyle/>
          <a:p>
            <a:pPr marL="0" indent="0" algn="ctr" defTabSz="914400" eaLnBrk="0" fontAlgn="base" hangingPunct="0">
              <a:buNone/>
            </a:pPr>
            <a:r>
              <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卷积特征映射</a:t>
            </a: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buNone/>
            </a:pP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Shape 21"/>
          <p:cNvSpPr/>
          <p:nvPr/>
        </p:nvSpPr>
        <p:spPr>
          <a:xfrm>
            <a:off x="7035165" y="2451735"/>
            <a:ext cx="1508760" cy="960120"/>
          </a:xfrm>
          <a:prstGeom prst="roundRect">
            <a:avLst>
              <a:gd name="adj" fmla="val 11429"/>
            </a:avLst>
          </a:prstGeom>
          <a:solidFill>
            <a:srgbClr val="FFFCF4"/>
          </a:solidFill>
          <a:ln w="12700">
            <a:solidFill>
              <a:srgbClr val="E5C77A"/>
            </a:solidFill>
            <a:prstDash val="solid"/>
          </a:ln>
        </p:spPr>
      </p:sp>
      <p:sp>
        <p:nvSpPr>
          <p:cNvPr id="25" name="Text 22"/>
          <p:cNvSpPr/>
          <p:nvPr/>
        </p:nvSpPr>
        <p:spPr>
          <a:xfrm>
            <a:off x="7090029" y="2488311"/>
            <a:ext cx="1399032" cy="886968"/>
          </a:xfrm>
          <a:prstGeom prst="rect">
            <a:avLst/>
          </a:prstGeom>
          <a:noFill/>
        </p:spPr>
        <p:txBody>
          <a:bodyPr wrap="square" lIns="762" tIns="762" rIns="762" bIns="762" rtlCol="0" anchor="ctr">
            <a:normAutofit/>
          </a:bodyPr>
          <a:lstStyle/>
          <a:p>
            <a:pPr marL="0" indent="0" algn="ctr" defTabSz="914400" eaLnBrk="0" fontAlgn="base" hangingPunct="0">
              <a:buNone/>
            </a:pPr>
            <a:r>
              <a:rPr lang="en-US" sz="12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输出特征</a:t>
            </a: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buNone/>
            </a:pP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buNone/>
            </a:pP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用于余弦原型匹配</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6" name="Text 23"/>
          <p:cNvSpPr/>
          <p:nvPr/>
        </p:nvSpPr>
        <p:spPr>
          <a:xfrm>
            <a:off x="502920" y="3657600"/>
            <a:ext cx="731520" cy="201168"/>
          </a:xfrm>
          <a:prstGeom prst="rect">
            <a:avLst/>
          </a:prstGeom>
          <a:noFill/>
        </p:spPr>
        <p:txBody>
          <a:bodyPr wrap="square" lIns="762" tIns="762" rIns="762" bIns="762" rtlCol="0" anchor="ctr">
            <a:normAutofit/>
          </a:bodyPr>
          <a:lstStyle/>
          <a:p>
            <a:pPr marL="0" indent="0" algn="ctr" defTabSz="914400" eaLnBrk="0" fontAlgn="base" hangingPunct="0">
              <a:buNone/>
            </a:pPr>
            <a:r>
              <a:rPr lang="en-US" sz="11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处理前</a:t>
            </a:r>
            <a:endParaRPr lang="en-US" sz="11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8" name="Shape 24"/>
          <p:cNvSpPr/>
          <p:nvPr/>
        </p:nvSpPr>
        <p:spPr>
          <a:xfrm>
            <a:off x="1234440" y="3767328"/>
            <a:ext cx="1143000" cy="0"/>
          </a:xfrm>
          <a:prstGeom prst="line">
            <a:avLst/>
          </a:prstGeom>
          <a:noFill/>
          <a:ln w="25400">
            <a:solidFill>
              <a:srgbClr val="005BD8"/>
            </a:solidFill>
            <a:prstDash val="solid"/>
          </a:ln>
        </p:spPr>
      </p:sp>
      <p:sp>
        <p:nvSpPr>
          <p:cNvPr id="29" name="Shape 25"/>
          <p:cNvSpPr/>
          <p:nvPr/>
        </p:nvSpPr>
        <p:spPr>
          <a:xfrm>
            <a:off x="1234440" y="3977640"/>
            <a:ext cx="1143000" cy="0"/>
          </a:xfrm>
          <a:prstGeom prst="line">
            <a:avLst/>
          </a:prstGeom>
          <a:noFill/>
          <a:ln w="25400">
            <a:solidFill>
              <a:srgbClr val="FF0000"/>
            </a:solidFill>
            <a:prstDash val="solid"/>
          </a:ln>
        </p:spPr>
      </p:sp>
      <p:sp>
        <p:nvSpPr>
          <p:cNvPr id="30" name="Text 26"/>
          <p:cNvSpPr/>
          <p:nvPr/>
        </p:nvSpPr>
        <p:spPr>
          <a:xfrm>
            <a:off x="2743200" y="3685032"/>
            <a:ext cx="1234440" cy="402336"/>
          </a:xfrm>
          <a:prstGeom prst="rect">
            <a:avLst/>
          </a:prstGeom>
          <a:noFill/>
        </p:spPr>
        <p:txBody>
          <a:bodyPr wrap="square" lIns="762" tIns="762" rIns="762" bIns="762" rtlCol="0" anchor="ctr">
            <a:normAutofit/>
          </a:bodyPr>
          <a:lstStyle/>
          <a:p>
            <a:pPr marL="0" indent="0" algn="ctr" defTabSz="914400" eaLnBrk="0" fontAlgn="base" hangingPunct="0">
              <a:buNone/>
            </a:pPr>
            <a:r>
              <a:rPr lang="en-US" sz="1100" b="1" dirty="0">
                <a:solidFill>
                  <a:srgbClr val="2B5D20"/>
                </a:solidFill>
                <a:latin typeface="Times New Roman" panose="02020603050405020304" pitchFamily="18" charset="0"/>
                <a:ea typeface="微软雅黑" panose="020B0503020204020204" pitchFamily="34" charset="-122"/>
                <a:cs typeface="微软雅黑" panose="020B0503020204020204" pitchFamily="34" charset="-120"/>
              </a:rPr>
              <a:t>归一化 / 切片 / 增强</a:t>
            </a:r>
            <a:endParaRPr lang="en-US" sz="1100" b="1" dirty="0">
              <a:solidFill>
                <a:srgbClr val="2B5D20"/>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1" name="Shape 27"/>
          <p:cNvSpPr/>
          <p:nvPr/>
        </p:nvSpPr>
        <p:spPr>
          <a:xfrm>
            <a:off x="2423160" y="3730752"/>
            <a:ext cx="256032" cy="201168"/>
          </a:xfrm>
          <a:prstGeom prst="rightArrow">
            <a:avLst/>
          </a:prstGeom>
          <a:solidFill>
            <a:srgbClr val="70AD47"/>
          </a:solidFill>
          <a:ln w="12700">
            <a:solidFill>
              <a:srgbClr val="70AD47"/>
            </a:solidFill>
            <a:prstDash val="solid"/>
          </a:ln>
        </p:spPr>
      </p:sp>
      <p:sp>
        <p:nvSpPr>
          <p:cNvPr id="32" name="Shape 28"/>
          <p:cNvSpPr/>
          <p:nvPr/>
        </p:nvSpPr>
        <p:spPr>
          <a:xfrm>
            <a:off x="4023360" y="3730752"/>
            <a:ext cx="256032" cy="201168"/>
          </a:xfrm>
          <a:prstGeom prst="rightArrow">
            <a:avLst/>
          </a:prstGeom>
          <a:solidFill>
            <a:srgbClr val="2F75B5"/>
          </a:solidFill>
          <a:ln w="12700">
            <a:solidFill>
              <a:srgbClr val="2F75B5"/>
            </a:solidFill>
            <a:prstDash val="solid"/>
          </a:ln>
        </p:spPr>
      </p:sp>
      <p:sp>
        <p:nvSpPr>
          <p:cNvPr id="33" name="Text 29"/>
          <p:cNvSpPr/>
          <p:nvPr/>
        </p:nvSpPr>
        <p:spPr>
          <a:xfrm>
            <a:off x="4370832" y="3685032"/>
            <a:ext cx="1097280" cy="402336"/>
          </a:xfrm>
          <a:prstGeom prst="rect">
            <a:avLst/>
          </a:prstGeom>
          <a:noFill/>
        </p:spPr>
        <p:txBody>
          <a:bodyPr wrap="square" lIns="762" tIns="762" rIns="762" bIns="762" rtlCol="0" anchor="ctr">
            <a:normAutofit/>
          </a:bodyPr>
          <a:lstStyle/>
          <a:p>
            <a:pPr marL="0" indent="0" algn="ctr" defTabSz="914400" eaLnBrk="0" fontAlgn="base" hangingPunct="0">
              <a:buNone/>
            </a:pPr>
            <a:r>
              <a:rPr lang="en-US" sz="11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轻量化网络</a:t>
            </a:r>
            <a:endParaRPr lang="en-US" sz="11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4" name="Shape 30"/>
          <p:cNvSpPr/>
          <p:nvPr/>
        </p:nvSpPr>
        <p:spPr>
          <a:xfrm>
            <a:off x="5504688" y="3602736"/>
            <a:ext cx="109728" cy="502920"/>
          </a:xfrm>
          <a:prstGeom prst="rect">
            <a:avLst/>
          </a:prstGeom>
          <a:solidFill>
            <a:srgbClr val="8DB6E2"/>
          </a:solidFill>
          <a:ln w="6350">
            <a:solidFill>
              <a:srgbClr val="2F75B5"/>
            </a:solidFill>
            <a:prstDash val="solid"/>
          </a:ln>
        </p:spPr>
      </p:sp>
      <p:sp>
        <p:nvSpPr>
          <p:cNvPr id="37" name="Shape 31"/>
          <p:cNvSpPr/>
          <p:nvPr/>
        </p:nvSpPr>
        <p:spPr>
          <a:xfrm>
            <a:off x="5660136" y="3621024"/>
            <a:ext cx="109728" cy="448056"/>
          </a:xfrm>
          <a:prstGeom prst="rect">
            <a:avLst/>
          </a:prstGeom>
          <a:solidFill>
            <a:srgbClr val="B5D1F0"/>
          </a:solidFill>
          <a:ln w="6350">
            <a:solidFill>
              <a:srgbClr val="2F75B5"/>
            </a:solidFill>
            <a:prstDash val="solid"/>
          </a:ln>
        </p:spPr>
      </p:sp>
      <p:sp>
        <p:nvSpPr>
          <p:cNvPr id="38" name="Shape 32"/>
          <p:cNvSpPr/>
          <p:nvPr/>
        </p:nvSpPr>
        <p:spPr>
          <a:xfrm>
            <a:off x="5815584" y="3639312"/>
            <a:ext cx="109728" cy="393192"/>
          </a:xfrm>
          <a:prstGeom prst="rect">
            <a:avLst/>
          </a:prstGeom>
          <a:solidFill>
            <a:srgbClr val="D7E9FA"/>
          </a:solidFill>
          <a:ln w="6350">
            <a:solidFill>
              <a:srgbClr val="2F75B5"/>
            </a:solidFill>
            <a:prstDash val="solid"/>
          </a:ln>
        </p:spPr>
      </p:sp>
      <p:sp>
        <p:nvSpPr>
          <p:cNvPr id="51" name="Shape 33"/>
          <p:cNvSpPr/>
          <p:nvPr/>
        </p:nvSpPr>
        <p:spPr>
          <a:xfrm>
            <a:off x="5971032" y="3657600"/>
            <a:ext cx="109728" cy="338328"/>
          </a:xfrm>
          <a:prstGeom prst="rect">
            <a:avLst/>
          </a:prstGeom>
          <a:solidFill>
            <a:srgbClr val="EAF3FF"/>
          </a:solidFill>
          <a:ln w="6350">
            <a:solidFill>
              <a:srgbClr val="2F75B5"/>
            </a:solidFill>
            <a:prstDash val="solid"/>
          </a:ln>
        </p:spPr>
      </p:sp>
      <p:sp>
        <p:nvSpPr>
          <p:cNvPr id="77" name="Shape 34"/>
          <p:cNvSpPr/>
          <p:nvPr/>
        </p:nvSpPr>
        <p:spPr>
          <a:xfrm>
            <a:off x="6126480" y="3675888"/>
            <a:ext cx="109728" cy="283464"/>
          </a:xfrm>
          <a:prstGeom prst="rect">
            <a:avLst/>
          </a:prstGeom>
          <a:solidFill>
            <a:srgbClr val="F2F7FF"/>
          </a:solidFill>
          <a:ln w="6350">
            <a:solidFill>
              <a:srgbClr val="2F75B5"/>
            </a:solidFill>
            <a:prstDash val="solid"/>
          </a:ln>
        </p:spPr>
      </p:sp>
      <p:sp>
        <p:nvSpPr>
          <p:cNvPr id="78" name="Shape 35"/>
          <p:cNvSpPr/>
          <p:nvPr/>
        </p:nvSpPr>
        <p:spPr>
          <a:xfrm>
            <a:off x="6355080" y="3730752"/>
            <a:ext cx="256032" cy="201168"/>
          </a:xfrm>
          <a:prstGeom prst="rightArrow">
            <a:avLst/>
          </a:prstGeom>
          <a:solidFill>
            <a:srgbClr val="2F75B5"/>
          </a:solidFill>
          <a:ln w="12700">
            <a:solidFill>
              <a:srgbClr val="2F75B5"/>
            </a:solidFill>
            <a:prstDash val="solid"/>
          </a:ln>
        </p:spPr>
      </p:sp>
      <p:sp>
        <p:nvSpPr>
          <p:cNvPr id="83" name="Text 36"/>
          <p:cNvSpPr/>
          <p:nvPr/>
        </p:nvSpPr>
        <p:spPr>
          <a:xfrm>
            <a:off x="6720840" y="3685032"/>
            <a:ext cx="1005840" cy="402336"/>
          </a:xfrm>
          <a:prstGeom prst="rect">
            <a:avLst/>
          </a:prstGeom>
          <a:noFill/>
        </p:spPr>
        <p:txBody>
          <a:bodyPr wrap="square" lIns="762" tIns="762" rIns="762" bIns="762" rtlCol="0" anchor="ctr">
            <a:normAutofit/>
          </a:bodyPr>
          <a:lstStyle/>
          <a:p>
            <a:pPr marL="0" indent="0" algn="ctr" defTabSz="914400" eaLnBrk="0" fontAlgn="base" hangingPunct="0">
              <a:buNone/>
            </a:pPr>
            <a:r>
              <a:rPr lang="en-US" sz="11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特征嵌入 z</a:t>
            </a:r>
            <a:endParaRPr lang="en-US" sz="11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85" name="Shape 37"/>
          <p:cNvSpPr/>
          <p:nvPr/>
        </p:nvSpPr>
        <p:spPr>
          <a:xfrm>
            <a:off x="7818120" y="3776472"/>
            <a:ext cx="73152" cy="73152"/>
          </a:xfrm>
          <a:prstGeom prst="ellipse">
            <a:avLst/>
          </a:prstGeom>
          <a:solidFill>
            <a:srgbClr val="7E57C2"/>
          </a:solidFill>
          <a:ln w="12700">
            <a:solidFill>
              <a:srgbClr val="7E57C2"/>
            </a:solidFill>
            <a:prstDash val="solid"/>
          </a:ln>
        </p:spPr>
      </p:sp>
      <p:sp>
        <p:nvSpPr>
          <p:cNvPr id="86" name="Shape 38"/>
          <p:cNvSpPr/>
          <p:nvPr/>
        </p:nvSpPr>
        <p:spPr>
          <a:xfrm>
            <a:off x="7936992" y="3776472"/>
            <a:ext cx="73152" cy="73152"/>
          </a:xfrm>
          <a:prstGeom prst="ellipse">
            <a:avLst/>
          </a:prstGeom>
          <a:solidFill>
            <a:srgbClr val="7E57C2"/>
          </a:solidFill>
          <a:ln w="12700">
            <a:solidFill>
              <a:srgbClr val="7E57C2"/>
            </a:solidFill>
            <a:prstDash val="solid"/>
          </a:ln>
        </p:spPr>
      </p:sp>
      <p:sp>
        <p:nvSpPr>
          <p:cNvPr id="87" name="Shape 39"/>
          <p:cNvSpPr/>
          <p:nvPr/>
        </p:nvSpPr>
        <p:spPr>
          <a:xfrm>
            <a:off x="8055864" y="3776472"/>
            <a:ext cx="73152" cy="73152"/>
          </a:xfrm>
          <a:prstGeom prst="ellipse">
            <a:avLst/>
          </a:prstGeom>
          <a:solidFill>
            <a:srgbClr val="7E57C2"/>
          </a:solidFill>
          <a:ln w="12700">
            <a:solidFill>
              <a:srgbClr val="7E57C2"/>
            </a:solidFill>
            <a:prstDash val="solid"/>
          </a:ln>
        </p:spPr>
      </p:sp>
      <p:sp>
        <p:nvSpPr>
          <p:cNvPr id="88" name="Shape 40"/>
          <p:cNvSpPr/>
          <p:nvPr/>
        </p:nvSpPr>
        <p:spPr>
          <a:xfrm>
            <a:off x="8174736" y="3776472"/>
            <a:ext cx="73152" cy="73152"/>
          </a:xfrm>
          <a:prstGeom prst="ellipse">
            <a:avLst/>
          </a:prstGeom>
          <a:solidFill>
            <a:srgbClr val="7E57C2"/>
          </a:solidFill>
          <a:ln w="12700">
            <a:solidFill>
              <a:srgbClr val="7E57C2"/>
            </a:solidFill>
            <a:prstDash val="solid"/>
          </a:ln>
        </p:spPr>
      </p:sp>
      <p:sp>
        <p:nvSpPr>
          <p:cNvPr id="89" name="Shape 41"/>
          <p:cNvSpPr/>
          <p:nvPr/>
        </p:nvSpPr>
        <p:spPr>
          <a:xfrm>
            <a:off x="8293608" y="3776472"/>
            <a:ext cx="73152" cy="73152"/>
          </a:xfrm>
          <a:prstGeom prst="ellipse">
            <a:avLst/>
          </a:prstGeom>
          <a:solidFill>
            <a:srgbClr val="7E57C2"/>
          </a:solidFill>
          <a:ln w="12700">
            <a:solidFill>
              <a:srgbClr val="7E57C2"/>
            </a:solidFill>
            <a:prstDash val="solid"/>
          </a:ln>
        </p:spPr>
      </p:sp>
      <p:sp>
        <p:nvSpPr>
          <p:cNvPr id="90" name="Shape 42"/>
          <p:cNvSpPr/>
          <p:nvPr/>
        </p:nvSpPr>
        <p:spPr>
          <a:xfrm>
            <a:off x="8412480" y="3776472"/>
            <a:ext cx="73152" cy="73152"/>
          </a:xfrm>
          <a:prstGeom prst="ellipse">
            <a:avLst/>
          </a:prstGeom>
          <a:solidFill>
            <a:srgbClr val="7E57C2"/>
          </a:solidFill>
          <a:ln w="12700">
            <a:solidFill>
              <a:srgbClr val="7E57C2"/>
            </a:solidFill>
            <a:prstDash val="solid"/>
          </a:ln>
        </p:spPr>
      </p:sp>
      <p:sp>
        <p:nvSpPr>
          <p:cNvPr id="91" name="Shape 43"/>
          <p:cNvSpPr/>
          <p:nvPr/>
        </p:nvSpPr>
        <p:spPr>
          <a:xfrm>
            <a:off x="502920" y="4350258"/>
            <a:ext cx="8138160" cy="640080"/>
          </a:xfrm>
          <a:prstGeom prst="roundRect">
            <a:avLst>
              <a:gd name="adj" fmla="val 17143"/>
            </a:avLst>
          </a:prstGeom>
          <a:solidFill>
            <a:srgbClr val="F3F7FB"/>
          </a:solidFill>
          <a:ln w="12700">
            <a:solidFill>
              <a:srgbClr val="BFD0E0"/>
            </a:solidFill>
            <a:prstDash val="solid"/>
          </a:ln>
        </p:spPr>
      </p:sp>
      <p:sp>
        <p:nvSpPr>
          <p:cNvPr id="92" name="Text 44"/>
          <p:cNvSpPr/>
          <p:nvPr/>
        </p:nvSpPr>
        <p:spPr>
          <a:xfrm>
            <a:off x="557784" y="4386834"/>
            <a:ext cx="8028432" cy="566928"/>
          </a:xfrm>
          <a:prstGeom prst="rect">
            <a:avLst/>
          </a:prstGeom>
          <a:noFill/>
        </p:spPr>
        <p:txBody>
          <a:bodyPr wrap="square" lIns="762" tIns="762" rIns="762" bIns="762" rtlCol="0" anchor="ctr">
            <a:normAutofit/>
          </a:bodyPr>
          <a:lstStyle/>
          <a:p>
            <a:pPr marL="0" indent="0" algn="l" defTabSz="914400" eaLnBrk="0" fontAlgn="base" hangingPunct="0">
              <a:buNone/>
            </a:pPr>
            <a:r>
              <a:rPr lang="en-US" altLang="zh-CN"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本模块通过归一化、切片和数据增强处理 </a:t>
            </a:r>
            <a:r>
              <a:rPr lang="en-US" altLang="zh-CN"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I/Q </a:t>
            </a: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复基带信号，并利用轻量化 1</a:t>
            </a:r>
            <a:r>
              <a:rPr lang="en-US" altLang="zh-CN"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D-CNN </a:t>
            </a: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提取高维特征嵌入，为后续 </a:t>
            </a:r>
            <a:r>
              <a:rPr lang="en-US" altLang="zh-CN"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N-way K-shot </a:t>
            </a: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元学习训练和余弦原型匹配提供稳定的射频指纹表示。</a:t>
            </a: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graphicFrame>
        <p:nvGraphicFramePr>
          <p:cNvPr id="93" name="对象 92">
            <a:hlinkClick r:id="" action="ppaction://ole?verb="/>
          </p:cNvPr>
          <p:cNvGraphicFramePr>
            <a:graphicFrameLocks noChangeAspect="1"/>
          </p:cNvGraphicFramePr>
          <p:nvPr/>
        </p:nvGraphicFramePr>
        <p:xfrm>
          <a:off x="4514850" y="2463800"/>
          <a:ext cx="114300" cy="215900"/>
        </p:xfrm>
        <a:graphic>
          <a:graphicData uri="http://schemas.openxmlformats.org/presentationml/2006/ole">
            <mc:AlternateContent xmlns:mc="http://schemas.openxmlformats.org/markup-compatibility/2006">
              <mc:Choice xmlns:v="urn:schemas-microsoft-com:vml" Requires="v">
                <p:oleObj spid="_x0000_s94" name="" r:id="rId1" imgW="114300" imgH="215900" progId="Equation.KSEE3">
                  <p:embed/>
                </p:oleObj>
              </mc:Choice>
              <mc:Fallback>
                <p:oleObj name="" r:id="rId1" imgW="114300" imgH="215900" progId="Equation.KSEE3">
                  <p:embed/>
                  <p:pic>
                    <p:nvPicPr>
                      <p:cNvPr id="0" name="图片 1024"/>
                      <p:cNvPicPr/>
                      <p:nvPr/>
                    </p:nvPicPr>
                    <p:blipFill>
                      <a:blip r:embed="rId2"/>
                      <a:stretch>
                        <a:fillRect/>
                      </a:stretch>
                    </p:blipFill>
                    <p:spPr>
                      <a:xfrm>
                        <a:off x="4514850" y="2463800"/>
                        <a:ext cx="114300" cy="215900"/>
                      </a:xfrm>
                      <a:prstGeom prst="rect">
                        <a:avLst/>
                      </a:prstGeom>
                    </p:spPr>
                  </p:pic>
                </p:oleObj>
              </mc:Fallback>
            </mc:AlternateContent>
          </a:graphicData>
        </a:graphic>
      </p:graphicFrame>
      <p:sp>
        <p:nvSpPr>
          <p:cNvPr id="95" name="Text 11"/>
          <p:cNvSpPr/>
          <p:nvPr/>
        </p:nvSpPr>
        <p:spPr>
          <a:xfrm>
            <a:off x="411480" y="1276985"/>
            <a:ext cx="1657350" cy="1045845"/>
          </a:xfrm>
          <a:prstGeom prst="rect">
            <a:avLst/>
          </a:prstGeom>
          <a:noFill/>
        </p:spPr>
        <p:txBody>
          <a:bodyPr wrap="square" lIns="762" tIns="762" rIns="762" bIns="762" rtlCol="0" anchor="ctr">
            <a:normAutofit fontScale="90000"/>
          </a:bodyPr>
          <a:lstStyle/>
          <a:p>
            <a:pPr marL="0" indent="0" algn="ctr" defTabSz="914400" eaLnBrk="0" fontAlgn="base" hangingPunct="0">
              <a:lnSpc>
                <a:spcPct val="150000"/>
              </a:lnSpc>
              <a:buClrTx/>
              <a:buSzTx/>
              <a:buFont typeface="+mj-ea"/>
              <a:buNone/>
            </a:pPr>
            <a:r>
              <a:rPr 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① I/Q 复基带输入</a:t>
            </a:r>
            <a:endPar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I 路（同相）</a:t>
            </a:r>
            <a:endParaRPr lang="en-US" sz="1200" dirty="0">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 Q 路（正交） </a:t>
            </a:r>
            <a:endParaRPr lang="en-US" sz="1200" dirty="0">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x[n]=I[n]+jQ[n]</a:t>
            </a:r>
            <a:endParaRPr lang="en-US" sz="1200" dirty="0">
              <a:latin typeface="Times New Roman" panose="02020603050405020304" pitchFamily="18" charset="0"/>
              <a:ea typeface="微软雅黑" panose="020B0503020204020204" pitchFamily="34" charset="-122"/>
              <a:cs typeface="微软雅黑" panose="020B0503020204020204" pitchFamily="34" charset="-120"/>
            </a:endParaRPr>
          </a:p>
          <a:p>
            <a:pPr marL="0" indent="0" algn="ctr" defTabSz="914400" eaLnBrk="0" fontAlgn="base" hangingPunct="0">
              <a:lnSpc>
                <a:spcPct val="150000"/>
              </a:lnSpc>
              <a:buClrTx/>
              <a:buSzTx/>
              <a:buFont typeface="+mj-ea"/>
              <a:buNone/>
            </a:pP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p:txBody>
      </p:sp>
      <p:sp>
        <p:nvSpPr>
          <p:cNvPr id="96" name="Text 11"/>
          <p:cNvSpPr/>
          <p:nvPr/>
        </p:nvSpPr>
        <p:spPr>
          <a:xfrm>
            <a:off x="2646045" y="1187450"/>
            <a:ext cx="1581785" cy="975995"/>
          </a:xfrm>
          <a:prstGeom prst="rect">
            <a:avLst/>
          </a:prstGeom>
          <a:noFill/>
        </p:spPr>
        <p:txBody>
          <a:bodyPr wrap="square" lIns="762" tIns="762" rIns="762" bIns="762" rtlCol="0" anchor="ctr">
            <a:normAutofit fontScale="90000" lnSpcReduction="10000"/>
          </a:bodyPr>
          <a:lstStyle/>
          <a:p>
            <a:pPr marL="0" algn="ctr" defTabSz="914400" eaLnBrk="0" fontAlgn="base" hangingPunct="0">
              <a:lnSpc>
                <a:spcPct val="150000"/>
              </a:lnSpc>
              <a:buClrTx/>
              <a:buSzTx/>
              <a:buNone/>
            </a:pPr>
            <a:r>
              <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 </a:t>
            </a:r>
            <a:r>
              <a:rPr 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② 信号预处理</a:t>
            </a:r>
            <a:endPar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能量归一化</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样本切片</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 </a:t>
            </a: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数据增强</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p:txBody>
      </p:sp>
      <p:pic>
        <p:nvPicPr>
          <p:cNvPr id="97" name="图片 96"/>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853055" y="2679700"/>
            <a:ext cx="1490345" cy="706755"/>
          </a:xfrm>
          <a:prstGeom prst="rect">
            <a:avLst/>
          </a:prstGeom>
        </p:spPr>
      </p:pic>
      <p:pic>
        <p:nvPicPr>
          <p:cNvPr id="98" name="图片 9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730115" y="2840355"/>
            <a:ext cx="2103755" cy="400050"/>
          </a:xfrm>
          <a:prstGeom prst="rect">
            <a:avLst/>
          </a:prstGeom>
        </p:spPr>
      </p:pic>
      <p:pic>
        <p:nvPicPr>
          <p:cNvPr id="99" name="图片 98"/>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7282180" y="2764790"/>
            <a:ext cx="1084580" cy="335280"/>
          </a:xfrm>
          <a:prstGeom prst="rect">
            <a:avLst/>
          </a:prstGeom>
        </p:spPr>
      </p:pic>
      <p:sp>
        <p:nvSpPr>
          <p:cNvPr id="3" name="文本框 2"/>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研究内容二</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余弦相似度</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的原型度量优化</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Shape 4"/>
          <p:cNvSpPr/>
          <p:nvPr/>
        </p:nvSpPr>
        <p:spPr>
          <a:xfrm>
            <a:off x="411480" y="1240155"/>
            <a:ext cx="1691640" cy="960120"/>
          </a:xfrm>
          <a:prstGeom prst="roundRect">
            <a:avLst>
              <a:gd name="adj" fmla="val 11429"/>
            </a:avLst>
          </a:prstGeom>
          <a:solidFill>
            <a:srgbClr val="EAF3FF"/>
          </a:solidFill>
          <a:ln w="12700">
            <a:solidFill>
              <a:srgbClr val="2F75B5"/>
            </a:solidFill>
            <a:prstDash val="solid"/>
          </a:ln>
        </p:spPr>
      </p:sp>
      <p:sp>
        <p:nvSpPr>
          <p:cNvPr id="35" name="Shape 6"/>
          <p:cNvSpPr/>
          <p:nvPr/>
        </p:nvSpPr>
        <p:spPr>
          <a:xfrm>
            <a:off x="2176272" y="1560195"/>
            <a:ext cx="310896" cy="256032"/>
          </a:xfrm>
          <a:prstGeom prst="rightArrow">
            <a:avLst/>
          </a:prstGeom>
          <a:solidFill>
            <a:srgbClr val="2F75B5"/>
          </a:solidFill>
          <a:ln w="12700">
            <a:solidFill>
              <a:srgbClr val="2F75B5"/>
            </a:solidFill>
            <a:prstDash val="solid"/>
          </a:ln>
        </p:spPr>
      </p:sp>
      <p:sp>
        <p:nvSpPr>
          <p:cNvPr id="36" name="Shape 7"/>
          <p:cNvSpPr/>
          <p:nvPr/>
        </p:nvSpPr>
        <p:spPr>
          <a:xfrm>
            <a:off x="2578608" y="1240155"/>
            <a:ext cx="1691640" cy="960120"/>
          </a:xfrm>
          <a:prstGeom prst="roundRect">
            <a:avLst>
              <a:gd name="adj" fmla="val 11429"/>
            </a:avLst>
          </a:prstGeom>
          <a:solidFill>
            <a:srgbClr val="EAF5E2"/>
          </a:solidFill>
          <a:ln w="12700">
            <a:solidFill>
              <a:srgbClr val="70AD47"/>
            </a:solidFill>
            <a:prstDash val="solid"/>
          </a:ln>
        </p:spPr>
      </p:sp>
      <p:sp>
        <p:nvSpPr>
          <p:cNvPr id="39" name="Shape 9"/>
          <p:cNvSpPr/>
          <p:nvPr/>
        </p:nvSpPr>
        <p:spPr>
          <a:xfrm>
            <a:off x="4343400" y="1560195"/>
            <a:ext cx="310896" cy="256032"/>
          </a:xfrm>
          <a:prstGeom prst="rightArrow">
            <a:avLst/>
          </a:prstGeom>
          <a:solidFill>
            <a:srgbClr val="2F75B5"/>
          </a:solidFill>
          <a:ln w="12700">
            <a:solidFill>
              <a:srgbClr val="2F75B5"/>
            </a:solidFill>
            <a:prstDash val="solid"/>
          </a:ln>
        </p:spPr>
      </p:sp>
      <p:sp>
        <p:nvSpPr>
          <p:cNvPr id="40" name="Shape 10"/>
          <p:cNvSpPr/>
          <p:nvPr/>
        </p:nvSpPr>
        <p:spPr>
          <a:xfrm>
            <a:off x="4745736" y="1240155"/>
            <a:ext cx="1691640" cy="960120"/>
          </a:xfrm>
          <a:prstGeom prst="roundRect">
            <a:avLst>
              <a:gd name="adj" fmla="val 11429"/>
            </a:avLst>
          </a:prstGeom>
          <a:solidFill>
            <a:srgbClr val="EAF0FF"/>
          </a:solidFill>
          <a:ln w="12700">
            <a:solidFill>
              <a:srgbClr val="2F75B5"/>
            </a:solidFill>
            <a:prstDash val="solid"/>
          </a:ln>
        </p:spPr>
      </p:sp>
      <p:sp>
        <p:nvSpPr>
          <p:cNvPr id="41" name="Text 11"/>
          <p:cNvSpPr/>
          <p:nvPr/>
        </p:nvSpPr>
        <p:spPr>
          <a:xfrm>
            <a:off x="4800600" y="1193165"/>
            <a:ext cx="1581785" cy="970915"/>
          </a:xfrm>
          <a:prstGeom prst="rect">
            <a:avLst/>
          </a:prstGeom>
          <a:noFill/>
        </p:spPr>
        <p:txBody>
          <a:bodyPr wrap="square" lIns="762" tIns="762" rIns="762" bIns="762" rtlCol="0" anchor="ctr">
            <a:normAutofit fontScale="90000" lnSpcReduction="10000"/>
          </a:bodyPr>
          <a:lstStyle/>
          <a:p>
            <a:pPr marL="0" algn="ctr" defTabSz="914400" eaLnBrk="0" fontAlgn="base" hangingPunct="0">
              <a:lnSpc>
                <a:spcPct val="150000"/>
              </a:lnSpc>
              <a:buClrTx/>
              <a:buSzTx/>
              <a:buNone/>
            </a:pPr>
            <a:r>
              <a:rPr 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③ </a:t>
            </a:r>
            <a:r>
              <a:rPr lang="zh-CN" altLang="en-US" sz="1335"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余弦相似度计算</a:t>
            </a:r>
            <a:endParaRPr lang="en-US" sz="12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FontTx/>
              <a:buNone/>
            </a:pPr>
            <a:r>
              <a:rPr lang="en-US" sz="1200" dirty="0">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比较特征方向一致性</a:t>
            </a:r>
            <a:endParaRPr lang="en-US" sz="1200" dirty="0">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a:p>
            <a:pPr marL="0" algn="ctr" defTabSz="914400" eaLnBrk="0" fontAlgn="base" hangingPunct="0">
              <a:lnSpc>
                <a:spcPct val="150000"/>
              </a:lnSpc>
              <a:buClrTx/>
              <a:buSzTx/>
              <a:buFontTx/>
              <a:buNone/>
            </a:pP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  </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2" name="Shape 12"/>
          <p:cNvSpPr/>
          <p:nvPr/>
        </p:nvSpPr>
        <p:spPr>
          <a:xfrm>
            <a:off x="6510528" y="1560195"/>
            <a:ext cx="310896" cy="256032"/>
          </a:xfrm>
          <a:prstGeom prst="rightArrow">
            <a:avLst/>
          </a:prstGeom>
          <a:solidFill>
            <a:srgbClr val="2F75B5"/>
          </a:solidFill>
          <a:ln w="12700">
            <a:solidFill>
              <a:srgbClr val="2F75B5"/>
            </a:solidFill>
            <a:prstDash val="solid"/>
          </a:ln>
        </p:spPr>
      </p:sp>
      <p:sp>
        <p:nvSpPr>
          <p:cNvPr id="43" name="Shape 13"/>
          <p:cNvSpPr/>
          <p:nvPr/>
        </p:nvSpPr>
        <p:spPr>
          <a:xfrm>
            <a:off x="6912864" y="1240155"/>
            <a:ext cx="1810512" cy="960120"/>
          </a:xfrm>
          <a:prstGeom prst="roundRect">
            <a:avLst>
              <a:gd name="adj" fmla="val 11429"/>
            </a:avLst>
          </a:prstGeom>
          <a:solidFill>
            <a:srgbClr val="FFF2CC"/>
          </a:solidFill>
          <a:ln w="12700">
            <a:solidFill>
              <a:srgbClr val="E0B353"/>
            </a:solidFill>
            <a:prstDash val="solid"/>
          </a:ln>
        </p:spPr>
      </p:sp>
      <p:sp>
        <p:nvSpPr>
          <p:cNvPr id="44" name="Text 14"/>
          <p:cNvSpPr/>
          <p:nvPr/>
        </p:nvSpPr>
        <p:spPr>
          <a:xfrm>
            <a:off x="6967728" y="1276731"/>
            <a:ext cx="1700784" cy="886968"/>
          </a:xfrm>
          <a:prstGeom prst="rect">
            <a:avLst/>
          </a:prstGeom>
          <a:noFill/>
        </p:spPr>
        <p:txBody>
          <a:bodyPr wrap="square" lIns="762" tIns="762" rIns="762" bIns="762" rtlCol="0" anchor="ctr">
            <a:normAutofit/>
          </a:bodyPr>
          <a:lstStyle/>
          <a:p>
            <a:pPr marL="0" indent="0" algn="ctr" defTabSz="914400" eaLnBrk="0" fontAlgn="base" hangingPunct="0">
              <a:buNone/>
            </a:pPr>
            <a:r>
              <a:rPr lang="en-US" sz="12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④ </a:t>
            </a:r>
            <a:r>
              <a:rPr lang="zh-CN" altLang="en-US" sz="12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分类</a:t>
            </a:r>
            <a:r>
              <a:rPr lang="en-US" sz="1200" b="1" dirty="0">
                <a:solidFill>
                  <a:srgbClr val="7A4C00"/>
                </a:solidFill>
                <a:latin typeface="Times New Roman" panose="02020603050405020304" pitchFamily="18" charset="0"/>
                <a:ea typeface="微软雅黑" panose="020B0503020204020204" pitchFamily="34" charset="-122"/>
                <a:cs typeface="微软雅黑" panose="020B0503020204020204" pitchFamily="34" charset="-120"/>
              </a:rPr>
              <a:t>输出</a:t>
            </a:r>
            <a:endParaRPr 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marL="177165" algn="l" defTabSz="914400" rtl="0" eaLnBrk="0" fontAlgn="base" hangingPunct="0">
              <a:lnSpc>
                <a:spcPct val="95000"/>
              </a:lnSpc>
              <a:spcBef>
                <a:spcPts val="480"/>
              </a:spcBef>
            </a:pPr>
            <a:r>
              <a:rPr sz="1200" kern="0" spc="-10" dirty="0">
                <a:solidFill>
                  <a:srgbClr val="00000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选择相似度最高类别</a:t>
            </a:r>
            <a:endParaRPr sz="1200" dirty="0">
              <a:latin typeface="Times New Roman" panose="02020603050405020304" pitchFamily="18" charset="0"/>
              <a:ea typeface="微软雅黑" panose="020B0503020204020204" pitchFamily="34" charset="-122"/>
              <a:cs typeface="微软雅黑" panose="020B0503020204020204" pitchFamily="34" charset="-122"/>
            </a:endParaRPr>
          </a:p>
          <a:p>
            <a:pPr marL="19050" algn="l" defTabSz="914400" rtl="0" eaLnBrk="0" fontAlgn="base" hangingPunct="0">
              <a:lnSpc>
                <a:spcPct val="85000"/>
              </a:lnSpc>
              <a:spcBef>
                <a:spcPts val="250"/>
              </a:spcBef>
            </a:pPr>
            <a:r>
              <a:rPr sz="1200" kern="0" spc="-20" dirty="0">
                <a:solidFill>
                  <a:srgbClr val="00000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提升类内紧凑、类间分离</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5" name="Shape 15"/>
          <p:cNvSpPr/>
          <p:nvPr/>
        </p:nvSpPr>
        <p:spPr>
          <a:xfrm>
            <a:off x="332740" y="2451735"/>
            <a:ext cx="2595245" cy="1697990"/>
          </a:xfrm>
          <a:prstGeom prst="roundRect">
            <a:avLst>
              <a:gd name="adj" fmla="val 11429"/>
            </a:avLst>
          </a:prstGeom>
          <a:noFill/>
          <a:ln w="12700">
            <a:solidFill>
              <a:srgbClr val="AFC3D8"/>
            </a:solidFill>
            <a:prstDash val="solid"/>
          </a:ln>
          <a:extLst>
            <a:ext uri="{909E8E84-426E-40DD-AFC4-6F175D3DCCD1}">
              <a14:hiddenFill xmlns:a14="http://schemas.microsoft.com/office/drawing/2010/main">
                <a:solidFill>
                  <a:srgbClr val="F8FBFF"/>
                </a:solidFill>
              </a14:hiddenFill>
            </a:ext>
          </a:extLst>
        </p:spPr>
      </p:sp>
      <p:sp>
        <p:nvSpPr>
          <p:cNvPr id="49" name="Shape 19"/>
          <p:cNvSpPr/>
          <p:nvPr/>
        </p:nvSpPr>
        <p:spPr>
          <a:xfrm>
            <a:off x="3216910" y="2451735"/>
            <a:ext cx="2752090" cy="1698625"/>
          </a:xfrm>
          <a:prstGeom prst="roundRect">
            <a:avLst>
              <a:gd name="adj" fmla="val 11429"/>
            </a:avLst>
          </a:prstGeom>
          <a:noFill/>
          <a:ln w="12700">
            <a:solidFill>
              <a:srgbClr val="B7C9E6"/>
            </a:solidFill>
            <a:prstDash val="solid"/>
          </a:ln>
          <a:extLst>
            <a:ext uri="{909E8E84-426E-40DD-AFC4-6F175D3DCCD1}">
              <a14:hiddenFill xmlns:a14="http://schemas.microsoft.com/office/drawing/2010/main">
                <a:solidFill>
                  <a:srgbClr val="F7FAFF"/>
                </a:solidFill>
              </a14:hiddenFill>
            </a:ext>
          </a:extLst>
        </p:spPr>
      </p:sp>
      <p:sp>
        <p:nvSpPr>
          <p:cNvPr id="50" name="Text 20"/>
          <p:cNvSpPr/>
          <p:nvPr/>
        </p:nvSpPr>
        <p:spPr>
          <a:xfrm>
            <a:off x="3308350" y="2452370"/>
            <a:ext cx="2562225" cy="434340"/>
          </a:xfrm>
          <a:prstGeom prst="rect">
            <a:avLst/>
          </a:prstGeom>
          <a:noFill/>
        </p:spPr>
        <p:txBody>
          <a:bodyPr wrap="square" lIns="762" tIns="762" rIns="762" bIns="762" rtlCol="0" anchor="ctr">
            <a:normAutofit/>
          </a:bodyPr>
          <a:lstStyle/>
          <a:p>
            <a:pPr marL="0" indent="0" algn="ctr" defTabSz="914400" eaLnBrk="0" fontAlgn="base" hangingPunct="0">
              <a:buNone/>
            </a:pPr>
            <a:r>
              <a:rPr sz="12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原型度量过程</a:t>
            </a:r>
            <a:endParaRPr lang="en-US" sz="12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2" name="Shape 21"/>
          <p:cNvSpPr/>
          <p:nvPr/>
        </p:nvSpPr>
        <p:spPr>
          <a:xfrm>
            <a:off x="6103620" y="2468245"/>
            <a:ext cx="2657475" cy="1677035"/>
          </a:xfrm>
          <a:prstGeom prst="roundRect">
            <a:avLst>
              <a:gd name="adj" fmla="val 11429"/>
            </a:avLst>
          </a:prstGeom>
          <a:noFill/>
          <a:ln w="12700">
            <a:solidFill>
              <a:schemeClr val="accent1"/>
            </a:solidFill>
            <a:prstDash val="solid"/>
          </a:ln>
          <a:extLst>
            <a:ext uri="{909E8E84-426E-40DD-AFC4-6F175D3DCCD1}">
              <a14:hiddenFill xmlns:a14="http://schemas.microsoft.com/office/drawing/2010/main">
                <a:solidFill>
                  <a:srgbClr val="FFFCF4"/>
                </a:solidFill>
              </a14:hiddenFill>
            </a:ext>
          </a:extLst>
        </p:spPr>
      </p:sp>
      <p:sp>
        <p:nvSpPr>
          <p:cNvPr id="53" name="Text 22"/>
          <p:cNvSpPr/>
          <p:nvPr/>
        </p:nvSpPr>
        <p:spPr>
          <a:xfrm>
            <a:off x="6152515" y="2419985"/>
            <a:ext cx="2769870" cy="385445"/>
          </a:xfrm>
          <a:prstGeom prst="rect">
            <a:avLst/>
          </a:prstGeom>
          <a:noFill/>
        </p:spPr>
        <p:txBody>
          <a:bodyPr wrap="square" lIns="762" tIns="762" rIns="762" bIns="762" rtlCol="0" anchor="ctr">
            <a:normAutofit/>
          </a:bodyPr>
          <a:lstStyle/>
          <a:p>
            <a:pPr marL="0" algn="ctr" defTabSz="914400" eaLnBrk="0" fontAlgn="base" hangingPunct="0">
              <a:buClrTx/>
              <a:buSzTx/>
              <a:buFontTx/>
              <a:buNone/>
            </a:pPr>
            <a:r>
              <a:rPr sz="12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度量优化效果</a:t>
            </a:r>
            <a:endParaRPr sz="12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4" name="Shape 43"/>
          <p:cNvSpPr/>
          <p:nvPr/>
        </p:nvSpPr>
        <p:spPr>
          <a:xfrm>
            <a:off x="502920" y="4350258"/>
            <a:ext cx="8138160" cy="640080"/>
          </a:xfrm>
          <a:prstGeom prst="roundRect">
            <a:avLst>
              <a:gd name="adj" fmla="val 17143"/>
            </a:avLst>
          </a:prstGeom>
          <a:solidFill>
            <a:srgbClr val="F3F7FB"/>
          </a:solidFill>
          <a:ln w="12700">
            <a:solidFill>
              <a:srgbClr val="BFD0E0"/>
            </a:solidFill>
            <a:prstDash val="solid"/>
          </a:ln>
        </p:spPr>
      </p:sp>
      <p:sp>
        <p:nvSpPr>
          <p:cNvPr id="75" name="Text 44"/>
          <p:cNvSpPr/>
          <p:nvPr/>
        </p:nvSpPr>
        <p:spPr>
          <a:xfrm>
            <a:off x="557784" y="4386834"/>
            <a:ext cx="8028432" cy="566928"/>
          </a:xfrm>
          <a:prstGeom prst="rect">
            <a:avLst/>
          </a:prstGeom>
          <a:noFill/>
        </p:spPr>
        <p:txBody>
          <a:bodyPr wrap="square" lIns="762" tIns="762" rIns="762" bIns="762" rtlCol="0" anchor="ctr">
            <a:normAutofit/>
          </a:bodyPr>
          <a:lstStyle/>
          <a:p>
            <a:pPr marL="0" indent="0" algn="l" defTabSz="914400" eaLnBrk="0" fontAlgn="base" hangingPunct="0">
              <a:buNone/>
            </a:pPr>
            <a:r>
              <a:rPr lang="en-US" altLang="zh-CN"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本模块通过支持集样本构建类别原型，并采用余弦相似度度量查询样本与各类原型的特征方向一致性，从而减弱信道幅度变化影响，提升少样本条件下的类内聚集性和类间区分度。</a:t>
            </a:r>
            <a:endPar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76" name="对象 75">
            <a:hlinkClick r:id="" action="ppaction://ole?verb="/>
          </p:cNvPr>
          <p:cNvGraphicFramePr>
            <a:graphicFrameLocks noChangeAspect="1"/>
          </p:cNvGraphicFramePr>
          <p:nvPr/>
        </p:nvGraphicFramePr>
        <p:xfrm>
          <a:off x="4514850" y="2463800"/>
          <a:ext cx="114300" cy="215900"/>
        </p:xfrm>
        <a:graphic>
          <a:graphicData uri="http://schemas.openxmlformats.org/presentationml/2006/ole">
            <mc:AlternateContent xmlns:mc="http://schemas.openxmlformats.org/markup-compatibility/2006">
              <mc:Choice xmlns:v="urn:schemas-microsoft-com:vml" Requires="v">
                <p:oleObj spid="_x0000_s1025" name="" r:id="rId1" imgW="114300" imgH="215900" progId="Equation.KSEE3">
                  <p:embed/>
                </p:oleObj>
              </mc:Choice>
              <mc:Fallback>
                <p:oleObj name="" r:id="rId1" imgW="114300" imgH="215900" progId="Equation.KSEE3">
                  <p:embed/>
                  <p:pic>
                    <p:nvPicPr>
                      <p:cNvPr id="0" name="图片 1024"/>
                      <p:cNvPicPr/>
                      <p:nvPr/>
                    </p:nvPicPr>
                    <p:blipFill>
                      <a:blip r:embed="rId2"/>
                      <a:stretch>
                        <a:fillRect/>
                      </a:stretch>
                    </p:blipFill>
                    <p:spPr>
                      <a:xfrm>
                        <a:off x="4514850" y="2463800"/>
                        <a:ext cx="114300" cy="215900"/>
                      </a:xfrm>
                      <a:prstGeom prst="rect">
                        <a:avLst/>
                      </a:prstGeom>
                    </p:spPr>
                  </p:pic>
                </p:oleObj>
              </mc:Fallback>
            </mc:AlternateContent>
          </a:graphicData>
        </a:graphic>
      </p:graphicFrame>
      <p:sp>
        <p:nvSpPr>
          <p:cNvPr id="79" name="Text 11"/>
          <p:cNvSpPr/>
          <p:nvPr/>
        </p:nvSpPr>
        <p:spPr>
          <a:xfrm>
            <a:off x="411480" y="1213485"/>
            <a:ext cx="1657350" cy="950595"/>
          </a:xfrm>
          <a:prstGeom prst="rect">
            <a:avLst/>
          </a:prstGeom>
          <a:noFill/>
        </p:spPr>
        <p:txBody>
          <a:bodyPr wrap="square" lIns="762" tIns="762" rIns="762" bIns="762" rtlCol="0" anchor="ctr">
            <a:normAutofit fontScale="90000" lnSpcReduction="10000"/>
          </a:bodyPr>
          <a:lstStyle/>
          <a:p>
            <a:pPr marL="0" indent="0" algn="ctr" defTabSz="914400" eaLnBrk="0" fontAlgn="base" hangingPunct="0">
              <a:lnSpc>
                <a:spcPct val="150000"/>
              </a:lnSpc>
              <a:buClrTx/>
              <a:buSzTx/>
              <a:buFont typeface="+mj-ea"/>
              <a:buNone/>
            </a:pPr>
            <a:r>
              <a:rPr lang="en-US" sz="13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① 特征输入</a:t>
            </a:r>
            <a:endParaRPr lang="zh-CN" altLang="en-US" sz="13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mn-ea"/>
            </a:endParaRPr>
          </a:p>
          <a:p>
            <a:pPr marL="0" indent="0" algn="ctr" defTabSz="914400" eaLnBrk="0" fontAlgn="base" hangingPunct="0">
              <a:lnSpc>
                <a:spcPct val="150000"/>
              </a:lnSpc>
              <a:buClrTx/>
              <a:buSzTx/>
              <a:buFont typeface="+mj-ea"/>
              <a:buNone/>
            </a:pP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mn-ea"/>
              </a:rPr>
              <a:t>高维特征向量 z</a:t>
            </a:r>
            <a:endPar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12700" algn="ctr" defTabSz="914400" rtl="0" eaLnBrk="0" fontAlgn="base" hangingPunct="0">
              <a:lnSpc>
                <a:spcPct val="95000"/>
              </a:lnSpc>
              <a:spcBef>
                <a:spcPts val="320"/>
              </a:spcBef>
            </a:pPr>
            <a:r>
              <a:rPr lang="zh-CN" alt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mn-ea"/>
              </a:rPr>
              <a:t>来自轻量化特征提取网络</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rPr>
              <a:t>x[n]=I[n]+jQ[n]</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p:txBody>
      </p:sp>
      <p:sp>
        <p:nvSpPr>
          <p:cNvPr id="80" name="Text 11"/>
          <p:cNvSpPr/>
          <p:nvPr/>
        </p:nvSpPr>
        <p:spPr>
          <a:xfrm>
            <a:off x="2646045" y="1223645"/>
            <a:ext cx="1581785" cy="977265"/>
          </a:xfrm>
          <a:prstGeom prst="rect">
            <a:avLst/>
          </a:prstGeom>
          <a:noFill/>
        </p:spPr>
        <p:txBody>
          <a:bodyPr wrap="square" lIns="762" tIns="762" rIns="762" bIns="762" rtlCol="0" anchor="ctr">
            <a:normAutofit fontScale="90000" lnSpcReduction="10000"/>
          </a:bodyPr>
          <a:lstStyle/>
          <a:p>
            <a:pPr marL="0" algn="ctr" defTabSz="914400" eaLnBrk="0" fontAlgn="base" hangingPunct="0">
              <a:lnSpc>
                <a:spcPct val="150000"/>
              </a:lnSpc>
              <a:buClrTx/>
              <a:buSzTx/>
              <a:buNone/>
            </a:pPr>
            <a:r>
              <a:rPr lang="en-US" sz="13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rPr>
              <a:t> </a:t>
            </a:r>
            <a:r>
              <a:rPr sz="1300" b="1" kern="0" spc="-10" dirty="0">
                <a:solidFill>
                  <a:srgbClr val="40503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②</a:t>
            </a:r>
            <a:r>
              <a:rPr sz="1300" kern="0" spc="-100" dirty="0">
                <a:solidFill>
                  <a:srgbClr val="40503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 </a:t>
            </a:r>
            <a:r>
              <a:rPr sz="1300" b="1" kern="0" spc="-10" dirty="0">
                <a:solidFill>
                  <a:srgbClr val="40503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类别原型构建</a:t>
            </a:r>
            <a:endParaRPr lang="en-US" sz="1300" b="1" dirty="0">
              <a:solidFill>
                <a:srgbClr val="0B3A75"/>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a:p>
            <a:pPr marL="0" algn="ctr" defTabSz="914400" eaLnBrk="0" fontAlgn="base" hangingPunct="0">
              <a:lnSpc>
                <a:spcPct val="150000"/>
              </a:lnSpc>
              <a:buClrTx/>
              <a:buSzTx/>
              <a:buNone/>
            </a:pPr>
            <a:r>
              <a:rPr sz="1200" kern="0" spc="-10" dirty="0">
                <a:solidFill>
                  <a:srgbClr val="00000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对支持集同类样本求均值</a:t>
            </a:r>
            <a:endParaRPr sz="1200" dirty="0">
              <a:latin typeface="Times New Roman" panose="02020603050405020304" pitchFamily="18" charset="0"/>
              <a:ea typeface="微软雅黑" panose="020B0503020204020204" pitchFamily="34" charset="-122"/>
              <a:cs typeface="微软雅黑" panose="020B0503020204020204" pitchFamily="34" charset="-122"/>
            </a:endParaRPr>
          </a:p>
          <a:p>
            <a:pPr marL="0" algn="ctr" defTabSz="914400" eaLnBrk="0" fontAlgn="base" hangingPunct="0">
              <a:lnSpc>
                <a:spcPct val="150000"/>
              </a:lnSpc>
              <a:buClrTx/>
              <a:buSzTx/>
              <a:buNone/>
            </a:pP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a:p>
            <a:pPr marL="0" algn="ctr" defTabSz="914400" eaLnBrk="0" fontAlgn="base" hangingPunct="0">
              <a:lnSpc>
                <a:spcPct val="150000"/>
              </a:lnSpc>
              <a:buClrTx/>
              <a:buSzTx/>
              <a:buNone/>
            </a:pPr>
            <a:r>
              <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 </a:t>
            </a:r>
            <a:endParaRPr lang="en-US" sz="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sym typeface="微软雅黑" panose="020B0503020204020204" pitchFamily="34" charset="-122"/>
            </a:endParaRPr>
          </a:p>
        </p:txBody>
      </p:sp>
      <p:pic>
        <p:nvPicPr>
          <p:cNvPr id="4"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646045" y="1715135"/>
            <a:ext cx="1609090" cy="485775"/>
          </a:xfrm>
          <a:prstGeom prst="rect">
            <a:avLst/>
          </a:prstGeom>
        </p:spPr>
      </p:pic>
      <p:pic>
        <p:nvPicPr>
          <p:cNvPr id="7" name="图片 6"/>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898390" y="1681480"/>
            <a:ext cx="1513205" cy="481965"/>
          </a:xfrm>
          <a:prstGeom prst="rect">
            <a:avLst/>
          </a:prstGeom>
        </p:spPr>
      </p:pic>
      <p:pic>
        <p:nvPicPr>
          <p:cNvPr id="14" name="图片 13"/>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6907530" y="1896110"/>
            <a:ext cx="1779270" cy="290195"/>
          </a:xfrm>
          <a:prstGeom prst="rect">
            <a:avLst/>
          </a:prstGeom>
        </p:spPr>
      </p:pic>
      <p:sp>
        <p:nvSpPr>
          <p:cNvPr id="15" name="文本框 14"/>
          <p:cNvSpPr txBox="1"/>
          <p:nvPr/>
        </p:nvSpPr>
        <p:spPr>
          <a:xfrm>
            <a:off x="412115" y="2520315"/>
            <a:ext cx="2722245" cy="407670"/>
          </a:xfrm>
          <a:prstGeom prst="rect">
            <a:avLst/>
          </a:prstGeom>
          <a:noFill/>
        </p:spPr>
        <p:txBody>
          <a:bodyPr wrap="square" rtlCol="0">
            <a:noAutofit/>
          </a:bodyPr>
          <a:p>
            <a:pPr algn="ctr" defTabSz="914400" eaLnBrk="0" fontAlgn="base" hangingPunct="0"/>
            <a:r>
              <a:rPr sz="12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为什么选择余弦相似度</a:t>
            </a:r>
            <a:r>
              <a:rPr sz="1800"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 </a:t>
            </a:r>
            <a:endParaRPr lang="zh-CN" altLang="en-US" sz="1800"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6" name="textbox 20"/>
          <p:cNvSpPr/>
          <p:nvPr/>
        </p:nvSpPr>
        <p:spPr>
          <a:xfrm>
            <a:off x="617855" y="3449320"/>
            <a:ext cx="1960880" cy="654685"/>
          </a:xfrm>
          <a:prstGeom prst="rect">
            <a:avLst/>
          </a:prstGeom>
          <a:noFill/>
          <a:ln w="0" cap="flat">
            <a:noFill/>
            <a:prstDash val="solid"/>
            <a:miter lim="0"/>
          </a:ln>
        </p:spPr>
        <p:txBody>
          <a:bodyPr vert="horz" wrap="square" lIns="0" tIns="0" rIns="0" bIns="0"/>
          <a:lstStyle/>
          <a:p>
            <a:pPr algn="l" defTabSz="914400" rtl="0" eaLnBrk="0" fontAlgn="base" hangingPunct="0">
              <a:lnSpc>
                <a:spcPct val="85000"/>
              </a:lnSpc>
            </a:pPr>
            <a:endParaRPr sz="100" dirty="0">
              <a:latin typeface="Times New Roman" panose="02020603050405020304" pitchFamily="18" charset="0"/>
              <a:ea typeface="微软雅黑" panose="020B0503020204020204" pitchFamily="34" charset="-122"/>
              <a:cs typeface="微软雅黑" panose="020B0503020204020204" pitchFamily="34" charset="-122"/>
            </a:endParaRPr>
          </a:p>
          <a:p>
            <a:pPr algn="l" defTabSz="914400" rtl="0" eaLnBrk="0" fontAlgn="base" hangingPunct="0">
              <a:lnSpc>
                <a:spcPct val="150000"/>
              </a:lnSpc>
              <a:buClrTx/>
              <a:buSzTx/>
              <a:buFontTx/>
            </a:pPr>
            <a:r>
              <a:rPr sz="9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rPr>
              <a:t>关注特征方向而非绝对幅值</a:t>
            </a:r>
            <a:endParaRPr sz="9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endParaRPr>
          </a:p>
          <a:p>
            <a:pPr algn="l" defTabSz="914400" rtl="0" eaLnBrk="0" fontAlgn="base" hangingPunct="0">
              <a:lnSpc>
                <a:spcPct val="150000"/>
              </a:lnSpc>
              <a:spcBef>
                <a:spcPts val="145"/>
              </a:spcBef>
              <a:buClrTx/>
              <a:buSzTx/>
              <a:buFontTx/>
            </a:pPr>
            <a:r>
              <a:rPr sz="9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rPr>
              <a:t>减弱信道衰落带来的幅度扰动 </a:t>
            </a:r>
            <a:endParaRPr sz="9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endParaRPr>
          </a:p>
          <a:p>
            <a:pPr algn="l" defTabSz="914400" rtl="0" eaLnBrk="0" fontAlgn="base" hangingPunct="0">
              <a:lnSpc>
                <a:spcPct val="150000"/>
              </a:lnSpc>
              <a:spcBef>
                <a:spcPts val="145"/>
              </a:spcBef>
              <a:buClrTx/>
              <a:buSzTx/>
              <a:buFontTx/>
            </a:pPr>
            <a:r>
              <a:rPr sz="900" b="1" kern="0" spc="-30" dirty="0">
                <a:solidFill>
                  <a:srgbClr val="1040A0">
                    <a:alpha val="100000"/>
                  </a:srgbClr>
                </a:solidFill>
                <a:latin typeface="Times New Roman" panose="02020603050405020304" pitchFamily="18" charset="0"/>
                <a:ea typeface="微软雅黑" panose="020B0503020204020204" pitchFamily="34" charset="-122"/>
                <a:cs typeface="微软雅黑" panose="020B0503020204020204" pitchFamily="34" charset="-122"/>
              </a:rPr>
              <a:t>更适合复杂信道下的原型匹配</a:t>
            </a:r>
            <a:endParaRPr sz="900" dirty="0">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7" name="图片 16"/>
          <p:cNvPicPr>
            <a:picLocks noChangeAspect="1"/>
          </p:cNvPicPr>
          <p:nvPr/>
        </p:nvPicPr>
        <p:blipFill>
          <a:blip r:embed="rId6">
            <a:clrChange>
              <a:clrFrom>
                <a:srgbClr val="FEFEFE">
                  <a:alpha val="100000"/>
                </a:srgbClr>
              </a:clrFrom>
              <a:clrTo>
                <a:srgbClr val="FEFEFE">
                  <a:alpha val="100000"/>
                  <a:alpha val="0"/>
                </a:srgbClr>
              </a:clrTo>
            </a:clrChange>
          </a:blip>
          <a:stretch>
            <a:fillRect/>
          </a:stretch>
        </p:blipFill>
        <p:spPr>
          <a:xfrm>
            <a:off x="502920" y="2758440"/>
            <a:ext cx="2328545" cy="791210"/>
          </a:xfrm>
          <a:prstGeom prst="rect">
            <a:avLst/>
          </a:prstGeom>
        </p:spPr>
      </p:pic>
      <p:pic>
        <p:nvPicPr>
          <p:cNvPr id="18" name="图片 17"/>
          <p:cNvPicPr>
            <a:picLocks noChangeAspect="1"/>
          </p:cNvPicPr>
          <p:nvPr/>
        </p:nvPicPr>
        <p:blipFill>
          <a:blip r:embed="rId7">
            <a:clrChange>
              <a:clrFrom>
                <a:srgbClr val="FEFEFE">
                  <a:alpha val="100000"/>
                </a:srgbClr>
              </a:clrFrom>
              <a:clrTo>
                <a:srgbClr val="FEFEFE">
                  <a:alpha val="100000"/>
                  <a:alpha val="0"/>
                </a:srgbClr>
              </a:clrTo>
            </a:clrChange>
          </a:blip>
          <a:stretch>
            <a:fillRect/>
          </a:stretch>
        </p:blipFill>
        <p:spPr>
          <a:xfrm>
            <a:off x="3416300" y="2728595"/>
            <a:ext cx="2355215" cy="1473200"/>
          </a:xfrm>
          <a:prstGeom prst="rect">
            <a:avLst/>
          </a:prstGeom>
        </p:spPr>
      </p:pic>
      <p:pic>
        <p:nvPicPr>
          <p:cNvPr id="19" name="图片 18"/>
          <p:cNvPicPr>
            <a:picLocks noChangeAspect="1"/>
          </p:cNvPicPr>
          <p:nvPr/>
        </p:nvPicPr>
        <p:blipFill>
          <a:blip r:embed="rId8">
            <a:clrChange>
              <a:clrFrom>
                <a:srgbClr val="FEFEFE">
                  <a:alpha val="100000"/>
                </a:srgbClr>
              </a:clrFrom>
              <a:clrTo>
                <a:srgbClr val="FEFEFE">
                  <a:alpha val="100000"/>
                  <a:alpha val="0"/>
                </a:srgbClr>
              </a:clrTo>
            </a:clrChange>
          </a:blip>
          <a:stretch>
            <a:fillRect/>
          </a:stretch>
        </p:blipFill>
        <p:spPr>
          <a:xfrm>
            <a:off x="6232525" y="2691130"/>
            <a:ext cx="2388235" cy="1539240"/>
          </a:xfrm>
          <a:prstGeom prst="rect">
            <a:avLst/>
          </a:prstGeom>
        </p:spPr>
      </p:pic>
      <p:sp>
        <p:nvSpPr>
          <p:cNvPr id="9" name="文本框 8"/>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研究内容三</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N-way K-shot 的元学习</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训练</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78" name="组合 277"/>
          <p:cNvGrpSpPr/>
          <p:nvPr/>
        </p:nvGrpSpPr>
        <p:grpSpPr>
          <a:xfrm>
            <a:off x="125868" y="1242695"/>
            <a:ext cx="8739085" cy="3161432"/>
            <a:chOff x="792" y="2520"/>
            <a:chExt cx="17351" cy="6151"/>
          </a:xfrm>
        </p:grpSpPr>
        <p:sp>
          <p:nvSpPr>
            <p:cNvPr id="223" name="Shape 7"/>
            <p:cNvSpPr/>
            <p:nvPr/>
          </p:nvSpPr>
          <p:spPr>
            <a:xfrm>
              <a:off x="792" y="2520"/>
              <a:ext cx="3384" cy="1924"/>
            </a:xfrm>
            <a:prstGeom prst="roundRect">
              <a:avLst>
                <a:gd name="adj" fmla="val 6400"/>
              </a:avLst>
            </a:prstGeom>
            <a:solidFill>
              <a:srgbClr val="EAF3FF"/>
            </a:solidFill>
            <a:ln w="16510">
              <a:solidFill>
                <a:srgbClr val="2F75B5"/>
              </a:solidFill>
              <a:prstDash val="solid"/>
            </a:ln>
          </p:spPr>
        </p:sp>
        <p:sp>
          <p:nvSpPr>
            <p:cNvPr id="224" name="Text 8"/>
            <p:cNvSpPr/>
            <p:nvPr/>
          </p:nvSpPr>
          <p:spPr>
            <a:xfrm>
              <a:off x="907" y="2592"/>
              <a:ext cx="3154" cy="403"/>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rPr>
                <a:t>① 构造少样本任务</a:t>
              </a:r>
              <a:endPar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25" name="Text 9"/>
            <p:cNvSpPr/>
            <p:nvPr/>
          </p:nvSpPr>
          <p:spPr>
            <a:xfrm>
              <a:off x="792" y="3155"/>
              <a:ext cx="3384" cy="909"/>
            </a:xfrm>
            <a:prstGeom prst="rect">
              <a:avLst/>
            </a:prstGeom>
            <a:noFill/>
          </p:spPr>
          <p:txBody>
            <a:bodyPr wrap="square" lIns="254" tIns="254" rIns="254" bIns="254" rtlCol="0" anchor="ctr"/>
            <a:lstStyle/>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从训练类别中随机选N 类</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每类抽取 K 个支持样本</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再抽取 q 个查询样本</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6" name="Shape 10"/>
            <p:cNvSpPr/>
            <p:nvPr/>
          </p:nvSpPr>
          <p:spPr>
            <a:xfrm>
              <a:off x="4349" y="3154"/>
              <a:ext cx="605" cy="461"/>
            </a:xfrm>
            <a:prstGeom prst="rightArrow">
              <a:avLst/>
            </a:prstGeom>
            <a:solidFill>
              <a:srgbClr val="2F75B5"/>
            </a:solidFill>
            <a:ln w="12700">
              <a:solidFill>
                <a:srgbClr val="2F75B5">
                  <a:alpha val="0"/>
                </a:srgbClr>
              </a:solidFill>
              <a:prstDash val="solid"/>
            </a:ln>
          </p:spPr>
        </p:sp>
        <p:sp>
          <p:nvSpPr>
            <p:cNvPr id="227" name="Shape 11"/>
            <p:cNvSpPr/>
            <p:nvPr/>
          </p:nvSpPr>
          <p:spPr>
            <a:xfrm>
              <a:off x="5112" y="2520"/>
              <a:ext cx="3384" cy="1924"/>
            </a:xfrm>
            <a:prstGeom prst="roundRect">
              <a:avLst>
                <a:gd name="adj" fmla="val 6400"/>
              </a:avLst>
            </a:prstGeom>
            <a:solidFill>
              <a:srgbClr val="EEF7E9"/>
            </a:solidFill>
            <a:ln w="16510">
              <a:solidFill>
                <a:srgbClr val="70AD47"/>
              </a:solidFill>
              <a:prstDash val="solid"/>
            </a:ln>
          </p:spPr>
        </p:sp>
        <p:sp>
          <p:nvSpPr>
            <p:cNvPr id="228" name="Text 12"/>
            <p:cNvSpPr/>
            <p:nvPr/>
          </p:nvSpPr>
          <p:spPr>
            <a:xfrm>
              <a:off x="5227" y="2592"/>
              <a:ext cx="3154" cy="403"/>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rPr>
                <a:t>② 支持集与查询集</a:t>
              </a:r>
              <a:endPar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29" name="Text 13"/>
            <p:cNvSpPr/>
            <p:nvPr/>
          </p:nvSpPr>
          <p:spPr>
            <a:xfrm>
              <a:off x="5400" y="3167"/>
              <a:ext cx="1244" cy="288"/>
            </a:xfrm>
            <a:prstGeom prst="rect">
              <a:avLst/>
            </a:prstGeom>
            <a:noFill/>
          </p:spPr>
          <p:txBody>
            <a:bodyPr wrap="square" lIns="0" tIns="0" rIns="0" bIns="0" rtlCol="0" anchor="ctr"/>
            <a:lstStyle/>
            <a:p>
              <a:pPr marL="0" indent="0" defTabSz="914400" eaLnBrk="0" fontAlgn="base" hangingPunct="0">
                <a:buNone/>
              </a:pPr>
              <a:r>
                <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rPr>
                <a:t>支持集 S</a:t>
              </a:r>
              <a:endPar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30" name="Text 14"/>
            <p:cNvSpPr/>
            <p:nvPr/>
          </p:nvSpPr>
          <p:spPr>
            <a:xfrm>
              <a:off x="7012" y="3167"/>
              <a:ext cx="1181" cy="288"/>
            </a:xfrm>
            <a:prstGeom prst="rect">
              <a:avLst/>
            </a:prstGeom>
            <a:noFill/>
          </p:spPr>
          <p:txBody>
            <a:bodyPr wrap="square" lIns="0" tIns="0" rIns="0" bIns="0" rtlCol="0" anchor="ctr"/>
            <a:lstStyle/>
            <a:p>
              <a:pPr marL="0" indent="0" defTabSz="914400" eaLnBrk="0" fontAlgn="base" hangingPunct="0">
                <a:buNone/>
              </a:pPr>
              <a:r>
                <a:rPr lang="en-US" sz="1050" b="1" dirty="0">
                  <a:solidFill>
                    <a:srgbClr val="8064A2"/>
                  </a:solidFill>
                  <a:latin typeface="Times New Roman" panose="02020603050405020304" pitchFamily="18" charset="0"/>
                  <a:ea typeface="微软雅黑" panose="020B0503020204020204" pitchFamily="34" charset="-122"/>
                  <a:cs typeface="微软雅黑" panose="020B0503020204020204" pitchFamily="34" charset="-122"/>
                </a:rPr>
                <a:t>查询集 Q</a:t>
              </a:r>
              <a:endParaRPr lang="en-US" sz="1050" b="1" dirty="0">
                <a:solidFill>
                  <a:srgbClr val="8064A2"/>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31" name="Shape 15"/>
            <p:cNvSpPr/>
            <p:nvPr/>
          </p:nvSpPr>
          <p:spPr>
            <a:xfrm>
              <a:off x="5544" y="3648"/>
              <a:ext cx="173" cy="173"/>
            </a:xfrm>
            <a:prstGeom prst="triangle">
              <a:avLst/>
            </a:prstGeom>
            <a:solidFill>
              <a:srgbClr val="FF0000"/>
            </a:solidFill>
            <a:ln w="12700">
              <a:solidFill>
                <a:srgbClr val="FF0000"/>
              </a:solidFill>
              <a:prstDash val="solid"/>
            </a:ln>
          </p:spPr>
        </p:sp>
        <p:sp>
          <p:nvSpPr>
            <p:cNvPr id="232" name="Shape 16"/>
            <p:cNvSpPr/>
            <p:nvPr/>
          </p:nvSpPr>
          <p:spPr>
            <a:xfrm>
              <a:off x="5904" y="3648"/>
              <a:ext cx="173" cy="173"/>
            </a:xfrm>
            <a:prstGeom prst="rect">
              <a:avLst/>
            </a:prstGeom>
            <a:solidFill>
              <a:srgbClr val="4472C4"/>
            </a:solidFill>
            <a:ln w="12700">
              <a:solidFill>
                <a:srgbClr val="4472C4"/>
              </a:solidFill>
              <a:prstDash val="solid"/>
            </a:ln>
          </p:spPr>
        </p:sp>
        <p:sp>
          <p:nvSpPr>
            <p:cNvPr id="233" name="Shape 17"/>
            <p:cNvSpPr/>
            <p:nvPr/>
          </p:nvSpPr>
          <p:spPr>
            <a:xfrm>
              <a:off x="6264" y="3648"/>
              <a:ext cx="173" cy="173"/>
            </a:xfrm>
            <a:prstGeom prst="ellipse">
              <a:avLst/>
            </a:prstGeom>
            <a:solidFill>
              <a:srgbClr val="70AD47"/>
            </a:solidFill>
            <a:ln w="12700">
              <a:solidFill>
                <a:srgbClr val="70AD47"/>
              </a:solidFill>
              <a:prstDash val="solid"/>
            </a:ln>
          </p:spPr>
        </p:sp>
        <p:sp>
          <p:nvSpPr>
            <p:cNvPr id="234" name="Shape 18"/>
            <p:cNvSpPr/>
            <p:nvPr/>
          </p:nvSpPr>
          <p:spPr>
            <a:xfrm>
              <a:off x="6840" y="3648"/>
              <a:ext cx="173" cy="173"/>
            </a:xfrm>
            <a:prstGeom prst="triangle">
              <a:avLst/>
            </a:prstGeom>
            <a:solidFill>
              <a:srgbClr val="9E480E"/>
            </a:solidFill>
            <a:ln w="12700">
              <a:solidFill>
                <a:srgbClr val="9E480E"/>
              </a:solidFill>
              <a:prstDash val="solid"/>
            </a:ln>
          </p:spPr>
        </p:sp>
        <p:sp>
          <p:nvSpPr>
            <p:cNvPr id="235" name="Shape 19"/>
            <p:cNvSpPr/>
            <p:nvPr/>
          </p:nvSpPr>
          <p:spPr>
            <a:xfrm>
              <a:off x="7200" y="3648"/>
              <a:ext cx="173" cy="173"/>
            </a:xfrm>
            <a:prstGeom prst="rect">
              <a:avLst/>
            </a:prstGeom>
            <a:solidFill>
              <a:srgbClr val="8064A2"/>
            </a:solidFill>
            <a:ln w="12700">
              <a:solidFill>
                <a:srgbClr val="8064A2"/>
              </a:solidFill>
              <a:prstDash val="solid"/>
            </a:ln>
          </p:spPr>
        </p:sp>
        <p:sp>
          <p:nvSpPr>
            <p:cNvPr id="236" name="Shape 20"/>
            <p:cNvSpPr/>
            <p:nvPr/>
          </p:nvSpPr>
          <p:spPr>
            <a:xfrm>
              <a:off x="7560" y="3648"/>
              <a:ext cx="173" cy="173"/>
            </a:xfrm>
            <a:prstGeom prst="ellipse">
              <a:avLst/>
            </a:prstGeom>
            <a:solidFill>
              <a:srgbClr val="C00000"/>
            </a:solidFill>
            <a:ln w="12700">
              <a:solidFill>
                <a:srgbClr val="C00000"/>
              </a:solidFill>
              <a:prstDash val="solid"/>
            </a:ln>
          </p:spPr>
        </p:sp>
        <p:sp>
          <p:nvSpPr>
            <p:cNvPr id="237" name="Text 21"/>
            <p:cNvSpPr/>
            <p:nvPr/>
          </p:nvSpPr>
          <p:spPr>
            <a:xfrm>
              <a:off x="5472" y="3922"/>
              <a:ext cx="2592" cy="288"/>
            </a:xfrm>
            <a:prstGeom prst="rect">
              <a:avLst/>
            </a:prstGeom>
            <a:noFill/>
          </p:spPr>
          <p:txBody>
            <a:bodyPr wrap="square" lIns="0" tIns="0" rIns="0" bIns="0" rtlCol="0" anchor="ctr"/>
            <a:lstStyle/>
            <a:p>
              <a:pPr marL="0" indent="0" algn="ctr" defTabSz="914400" eaLnBrk="0" fontAlgn="base" hangingPunct="0">
                <a:buNone/>
              </a:pPr>
              <a:r>
                <a:rPr lang="en-US" sz="1250" b="1"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任务 T = (S, Q)</a:t>
              </a:r>
              <a:endParaRPr lang="en-US" sz="1250" b="1"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38" name="Shape 22"/>
            <p:cNvSpPr/>
            <p:nvPr/>
          </p:nvSpPr>
          <p:spPr>
            <a:xfrm>
              <a:off x="8669" y="3154"/>
              <a:ext cx="605" cy="461"/>
            </a:xfrm>
            <a:prstGeom prst="rightArrow">
              <a:avLst/>
            </a:prstGeom>
            <a:solidFill>
              <a:srgbClr val="2F75B5"/>
            </a:solidFill>
            <a:ln w="12700">
              <a:solidFill>
                <a:srgbClr val="2F75B5">
                  <a:alpha val="0"/>
                </a:srgbClr>
              </a:solidFill>
              <a:prstDash val="solid"/>
            </a:ln>
          </p:spPr>
        </p:sp>
        <p:sp>
          <p:nvSpPr>
            <p:cNvPr id="239" name="Shape 23"/>
            <p:cNvSpPr/>
            <p:nvPr/>
          </p:nvSpPr>
          <p:spPr>
            <a:xfrm>
              <a:off x="9432" y="2520"/>
              <a:ext cx="3528" cy="1924"/>
            </a:xfrm>
            <a:prstGeom prst="roundRect">
              <a:avLst>
                <a:gd name="adj" fmla="val 6400"/>
              </a:avLst>
            </a:prstGeom>
            <a:solidFill>
              <a:srgbClr val="FFF2E6"/>
            </a:solidFill>
            <a:ln w="16510">
              <a:solidFill>
                <a:srgbClr val="D9A441"/>
              </a:solidFill>
              <a:prstDash val="solid"/>
            </a:ln>
          </p:spPr>
        </p:sp>
        <p:sp>
          <p:nvSpPr>
            <p:cNvPr id="240" name="Text 24"/>
            <p:cNvSpPr/>
            <p:nvPr/>
          </p:nvSpPr>
          <p:spPr>
            <a:xfrm>
              <a:off x="9547" y="2592"/>
              <a:ext cx="3298" cy="403"/>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rPr>
                <a:t>③ 类别原型计算</a:t>
              </a:r>
              <a:endPar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41" name="Text 25"/>
            <p:cNvSpPr/>
            <p:nvPr/>
          </p:nvSpPr>
          <p:spPr>
            <a:xfrm>
              <a:off x="9432" y="2997"/>
              <a:ext cx="3529" cy="488"/>
            </a:xfrm>
            <a:prstGeom prst="rect">
              <a:avLst/>
            </a:prstGeom>
            <a:noFill/>
          </p:spPr>
          <p:txBody>
            <a:bodyPr wrap="square" lIns="0" tIns="0" rIns="0" bIns="0" rtlCol="0" anchor="ctr"/>
            <a:lstStyle/>
            <a:p>
              <a:pPr marL="0" indent="0" algn="ctr" defTabSz="914400" eaLnBrk="0" fontAlgn="base" hangingPunct="0">
                <a:buNone/>
              </a:pPr>
              <a:r>
                <a:rPr lang="en-US" sz="115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对同类支持样本特征求均值</a:t>
              </a:r>
              <a:endParaRPr lang="en-US" sz="115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2" name="Text 26"/>
            <p:cNvSpPr/>
            <p:nvPr/>
          </p:nvSpPr>
          <p:spPr>
            <a:xfrm>
              <a:off x="9676" y="3384"/>
              <a:ext cx="2880" cy="838"/>
            </a:xfrm>
            <a:prstGeom prst="rect">
              <a:avLst/>
            </a:prstGeom>
            <a:noFill/>
          </p:spPr>
          <p:txBody>
            <a:bodyPr wrap="square" lIns="0" tIns="0" rIns="0" bIns="0" rtlCol="0" anchor="ctr"/>
            <a:lstStyle/>
            <a:p>
              <a:pPr marL="0" indent="0" algn="ctr" defTabSz="914400" eaLnBrk="0" fontAlgn="base" hangingPunct="0">
                <a:buNone/>
              </a:pP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3" name="Shape 27"/>
            <p:cNvSpPr/>
            <p:nvPr/>
          </p:nvSpPr>
          <p:spPr>
            <a:xfrm>
              <a:off x="10080" y="4140"/>
              <a:ext cx="216" cy="216"/>
            </a:xfrm>
            <a:prstGeom prst="star5">
              <a:avLst/>
            </a:prstGeom>
            <a:solidFill>
              <a:srgbClr val="FF0000"/>
            </a:solidFill>
            <a:ln w="12700">
              <a:solidFill>
                <a:srgbClr val="FF0000"/>
              </a:solidFill>
              <a:prstDash val="solid"/>
            </a:ln>
          </p:spPr>
        </p:sp>
        <p:sp>
          <p:nvSpPr>
            <p:cNvPr id="244" name="Shape 28"/>
            <p:cNvSpPr/>
            <p:nvPr/>
          </p:nvSpPr>
          <p:spPr>
            <a:xfrm>
              <a:off x="10771" y="4140"/>
              <a:ext cx="216" cy="216"/>
            </a:xfrm>
            <a:prstGeom prst="star5">
              <a:avLst/>
            </a:prstGeom>
            <a:solidFill>
              <a:srgbClr val="4472C4"/>
            </a:solidFill>
            <a:ln w="12700">
              <a:solidFill>
                <a:srgbClr val="4472C4"/>
              </a:solidFill>
              <a:prstDash val="solid"/>
            </a:ln>
          </p:spPr>
        </p:sp>
        <p:sp>
          <p:nvSpPr>
            <p:cNvPr id="245" name="Shape 29"/>
            <p:cNvSpPr/>
            <p:nvPr/>
          </p:nvSpPr>
          <p:spPr>
            <a:xfrm>
              <a:off x="11448" y="4140"/>
              <a:ext cx="216" cy="216"/>
            </a:xfrm>
            <a:prstGeom prst="star5">
              <a:avLst/>
            </a:prstGeom>
            <a:solidFill>
              <a:srgbClr val="70AD47"/>
            </a:solidFill>
            <a:ln w="12700">
              <a:solidFill>
                <a:srgbClr val="70AD47"/>
              </a:solidFill>
              <a:prstDash val="solid"/>
            </a:ln>
          </p:spPr>
        </p:sp>
        <p:sp>
          <p:nvSpPr>
            <p:cNvPr id="246" name="Shape 30"/>
            <p:cNvSpPr/>
            <p:nvPr/>
          </p:nvSpPr>
          <p:spPr>
            <a:xfrm>
              <a:off x="13133" y="3154"/>
              <a:ext cx="605" cy="461"/>
            </a:xfrm>
            <a:prstGeom prst="rightArrow">
              <a:avLst/>
            </a:prstGeom>
            <a:solidFill>
              <a:srgbClr val="2F75B5"/>
            </a:solidFill>
            <a:ln w="12700">
              <a:solidFill>
                <a:srgbClr val="2F75B5">
                  <a:alpha val="0"/>
                </a:srgbClr>
              </a:solidFill>
              <a:prstDash val="solid"/>
            </a:ln>
          </p:spPr>
        </p:sp>
        <p:sp>
          <p:nvSpPr>
            <p:cNvPr id="247" name="Shape 31"/>
            <p:cNvSpPr/>
            <p:nvPr/>
          </p:nvSpPr>
          <p:spPr>
            <a:xfrm>
              <a:off x="13896" y="2520"/>
              <a:ext cx="4247" cy="1924"/>
            </a:xfrm>
            <a:prstGeom prst="roundRect">
              <a:avLst>
                <a:gd name="adj" fmla="val 6400"/>
              </a:avLst>
            </a:prstGeom>
            <a:solidFill>
              <a:srgbClr val="F2ECF8"/>
            </a:solidFill>
            <a:ln w="16510">
              <a:solidFill>
                <a:srgbClr val="8064A2"/>
              </a:solidFill>
              <a:prstDash val="solid"/>
            </a:ln>
          </p:spPr>
        </p:sp>
        <p:sp>
          <p:nvSpPr>
            <p:cNvPr id="248" name="Text 32"/>
            <p:cNvSpPr/>
            <p:nvPr/>
          </p:nvSpPr>
          <p:spPr>
            <a:xfrm>
              <a:off x="14011" y="2592"/>
              <a:ext cx="4018" cy="403"/>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rPr>
                <a:t>④ 查询集损失与参数更新</a:t>
              </a:r>
              <a:endParaRPr lang="en-US" sz="12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49" name="Text 33"/>
            <p:cNvSpPr/>
            <p:nvPr/>
          </p:nvSpPr>
          <p:spPr>
            <a:xfrm>
              <a:off x="13896" y="2998"/>
              <a:ext cx="4246" cy="1281"/>
            </a:xfrm>
            <a:prstGeom prst="rect">
              <a:avLst/>
            </a:prstGeom>
            <a:noFill/>
          </p:spPr>
          <p:txBody>
            <a:bodyPr wrap="square" lIns="254" tIns="254" rIns="254" bIns="254" rtlCol="0" anchor="ctr"/>
            <a:lstStyle/>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查询样本与各类原型计算相似度</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根据预测结果计算交叉熵损失</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algn="ctr" defTabSz="914400" eaLnBrk="0" fontAlgn="base" hangingPunct="0">
                <a:lnSpc>
                  <a:spcPct val="150000"/>
                </a:lnSpc>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反向传播更新模型参数</a:t>
              </a:r>
              <a:endParaRPr lang="en-US" sz="11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0" name="Shape 34"/>
            <p:cNvSpPr/>
            <p:nvPr/>
          </p:nvSpPr>
          <p:spPr>
            <a:xfrm>
              <a:off x="864" y="4723"/>
              <a:ext cx="4536" cy="2232"/>
            </a:xfrm>
            <a:prstGeom prst="roundRect">
              <a:avLst>
                <a:gd name="adj" fmla="val 5161"/>
              </a:avLst>
            </a:prstGeom>
            <a:solidFill>
              <a:srgbClr val="F8FBFF"/>
            </a:solidFill>
            <a:ln w="16510">
              <a:solidFill>
                <a:srgbClr val="2F75B5"/>
              </a:solidFill>
              <a:prstDash val="solid"/>
            </a:ln>
          </p:spPr>
        </p:sp>
        <p:sp>
          <p:nvSpPr>
            <p:cNvPr id="251" name="Text 35"/>
            <p:cNvSpPr/>
            <p:nvPr/>
          </p:nvSpPr>
          <p:spPr>
            <a:xfrm>
              <a:off x="1080" y="4925"/>
              <a:ext cx="3960" cy="374"/>
            </a:xfrm>
            <a:prstGeom prst="rect">
              <a:avLst/>
            </a:prstGeom>
            <a:noFill/>
          </p:spPr>
          <p:txBody>
            <a:bodyPr wrap="square" lIns="0" tIns="0" rIns="0" bIns="0" rtlCol="0" anchor="ctr"/>
            <a:lstStyle/>
            <a:p>
              <a:pPr marL="0" indent="0" algn="ctr" defTabSz="914400" eaLnBrk="0" fontAlgn="base" hangingPunct="0">
                <a:buNone/>
              </a:pPr>
              <a:r>
                <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rPr>
                <a:t>N-way K-shot 情景任务</a:t>
              </a:r>
              <a:endPar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2" name="Text 36"/>
            <p:cNvSpPr/>
            <p:nvPr/>
          </p:nvSpPr>
          <p:spPr>
            <a:xfrm>
              <a:off x="1152" y="5473"/>
              <a:ext cx="3816" cy="749"/>
            </a:xfrm>
            <a:prstGeom prst="rect">
              <a:avLst/>
            </a:prstGeom>
            <a:noFill/>
          </p:spPr>
          <p:txBody>
            <a:bodyPr wrap="square" lIns="0" tIns="0" rIns="0" bIns="0" rtlCol="0" anchor="ctr"/>
            <a:lstStyle/>
            <a:p>
              <a:pPr marL="0" algn="ctr" defTabSz="914400" eaLnBrk="0" fontAlgn="base" hangingPunct="0">
                <a:lnSpc>
                  <a:spcPct val="150000"/>
                </a:lnSpc>
                <a:buClrTx/>
                <a:buSzTx/>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N 个类别 × K 个支持样本</a:t>
              </a:r>
              <a:endPar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endParaRPr>
            </a:p>
            <a:p>
              <a:pPr marL="0" algn="ctr" defTabSz="914400" eaLnBrk="0" fontAlgn="base" hangingPunct="0">
                <a:lnSpc>
                  <a:spcPct val="150000"/>
                </a:lnSpc>
                <a:buClrTx/>
                <a:buSzTx/>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查询集用于评价当前任务</a:t>
              </a:r>
              <a:endParaRPr lang="en-US" sz="118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3" name="Shape 37"/>
            <p:cNvSpPr/>
            <p:nvPr/>
          </p:nvSpPr>
          <p:spPr>
            <a:xfrm>
              <a:off x="1526" y="6345"/>
              <a:ext cx="187" cy="187"/>
            </a:xfrm>
            <a:prstGeom prst="triangle">
              <a:avLst/>
            </a:prstGeom>
            <a:solidFill>
              <a:srgbClr val="FF0000"/>
            </a:solidFill>
            <a:ln w="12700">
              <a:solidFill>
                <a:srgbClr val="FF0000"/>
              </a:solidFill>
              <a:prstDash val="solid"/>
            </a:ln>
          </p:spPr>
        </p:sp>
        <p:sp>
          <p:nvSpPr>
            <p:cNvPr id="254" name="Shape 38"/>
            <p:cNvSpPr/>
            <p:nvPr/>
          </p:nvSpPr>
          <p:spPr>
            <a:xfrm>
              <a:off x="2074" y="6345"/>
              <a:ext cx="187" cy="187"/>
            </a:xfrm>
            <a:prstGeom prst="rect">
              <a:avLst/>
            </a:prstGeom>
            <a:solidFill>
              <a:srgbClr val="4472C4"/>
            </a:solidFill>
            <a:ln w="12700">
              <a:solidFill>
                <a:srgbClr val="4472C4"/>
              </a:solidFill>
              <a:prstDash val="solid"/>
            </a:ln>
          </p:spPr>
        </p:sp>
        <p:sp>
          <p:nvSpPr>
            <p:cNvPr id="255" name="Shape 39"/>
            <p:cNvSpPr/>
            <p:nvPr/>
          </p:nvSpPr>
          <p:spPr>
            <a:xfrm>
              <a:off x="2621" y="6345"/>
              <a:ext cx="187" cy="187"/>
            </a:xfrm>
            <a:prstGeom prst="ellipse">
              <a:avLst/>
            </a:prstGeom>
            <a:solidFill>
              <a:srgbClr val="70AD47"/>
            </a:solidFill>
            <a:ln w="12700">
              <a:solidFill>
                <a:srgbClr val="70AD47"/>
              </a:solidFill>
              <a:prstDash val="solid"/>
            </a:ln>
          </p:spPr>
        </p:sp>
        <p:sp>
          <p:nvSpPr>
            <p:cNvPr id="256" name="Shape 40"/>
            <p:cNvSpPr/>
            <p:nvPr/>
          </p:nvSpPr>
          <p:spPr>
            <a:xfrm>
              <a:off x="3168" y="6345"/>
              <a:ext cx="187" cy="187"/>
            </a:xfrm>
            <a:prstGeom prst="triangle">
              <a:avLst/>
            </a:prstGeom>
            <a:solidFill>
              <a:srgbClr val="8064A2"/>
            </a:solidFill>
            <a:ln w="12700">
              <a:solidFill>
                <a:srgbClr val="8064A2"/>
              </a:solidFill>
              <a:prstDash val="solid"/>
            </a:ln>
          </p:spPr>
        </p:sp>
        <p:sp>
          <p:nvSpPr>
            <p:cNvPr id="257" name="Shape 41"/>
            <p:cNvSpPr/>
            <p:nvPr/>
          </p:nvSpPr>
          <p:spPr>
            <a:xfrm>
              <a:off x="3715" y="6345"/>
              <a:ext cx="187" cy="187"/>
            </a:xfrm>
            <a:prstGeom prst="rect">
              <a:avLst/>
            </a:prstGeom>
            <a:solidFill>
              <a:srgbClr val="F4B183"/>
            </a:solidFill>
            <a:ln w="12700">
              <a:solidFill>
                <a:srgbClr val="F4B183"/>
              </a:solidFill>
              <a:prstDash val="solid"/>
            </a:ln>
          </p:spPr>
        </p:sp>
        <p:sp>
          <p:nvSpPr>
            <p:cNvPr id="258" name="Shape 42"/>
            <p:cNvSpPr/>
            <p:nvPr/>
          </p:nvSpPr>
          <p:spPr>
            <a:xfrm>
              <a:off x="1526" y="6662"/>
              <a:ext cx="187" cy="187"/>
            </a:xfrm>
            <a:prstGeom prst="triangle">
              <a:avLst/>
            </a:prstGeom>
            <a:solidFill>
              <a:srgbClr val="FF0000"/>
            </a:solidFill>
            <a:ln w="12700">
              <a:solidFill>
                <a:srgbClr val="FF0000"/>
              </a:solidFill>
              <a:prstDash val="solid"/>
            </a:ln>
          </p:spPr>
        </p:sp>
        <p:sp>
          <p:nvSpPr>
            <p:cNvPr id="259" name="Shape 43"/>
            <p:cNvSpPr/>
            <p:nvPr/>
          </p:nvSpPr>
          <p:spPr>
            <a:xfrm>
              <a:off x="2074" y="6662"/>
              <a:ext cx="187" cy="187"/>
            </a:xfrm>
            <a:prstGeom prst="rect">
              <a:avLst/>
            </a:prstGeom>
            <a:solidFill>
              <a:srgbClr val="4472C4"/>
            </a:solidFill>
            <a:ln w="12700">
              <a:solidFill>
                <a:srgbClr val="4472C4"/>
              </a:solidFill>
              <a:prstDash val="solid"/>
            </a:ln>
          </p:spPr>
        </p:sp>
        <p:sp>
          <p:nvSpPr>
            <p:cNvPr id="260" name="Shape 44"/>
            <p:cNvSpPr/>
            <p:nvPr/>
          </p:nvSpPr>
          <p:spPr>
            <a:xfrm>
              <a:off x="2621" y="6662"/>
              <a:ext cx="187" cy="187"/>
            </a:xfrm>
            <a:prstGeom prst="ellipse">
              <a:avLst/>
            </a:prstGeom>
            <a:solidFill>
              <a:srgbClr val="70AD47"/>
            </a:solidFill>
            <a:ln w="12700">
              <a:solidFill>
                <a:srgbClr val="70AD47"/>
              </a:solidFill>
              <a:prstDash val="solid"/>
            </a:ln>
          </p:spPr>
        </p:sp>
        <p:sp>
          <p:nvSpPr>
            <p:cNvPr id="261" name="Shape 45"/>
            <p:cNvSpPr/>
            <p:nvPr/>
          </p:nvSpPr>
          <p:spPr>
            <a:xfrm>
              <a:off x="3168" y="6662"/>
              <a:ext cx="187" cy="187"/>
            </a:xfrm>
            <a:prstGeom prst="triangle">
              <a:avLst/>
            </a:prstGeom>
            <a:solidFill>
              <a:srgbClr val="8064A2"/>
            </a:solidFill>
            <a:ln w="12700">
              <a:solidFill>
                <a:srgbClr val="8064A2"/>
              </a:solidFill>
              <a:prstDash val="solid"/>
            </a:ln>
          </p:spPr>
        </p:sp>
        <p:sp>
          <p:nvSpPr>
            <p:cNvPr id="262" name="Shape 46"/>
            <p:cNvSpPr/>
            <p:nvPr/>
          </p:nvSpPr>
          <p:spPr>
            <a:xfrm>
              <a:off x="3715" y="6662"/>
              <a:ext cx="187" cy="187"/>
            </a:xfrm>
            <a:prstGeom prst="rect">
              <a:avLst/>
            </a:prstGeom>
            <a:solidFill>
              <a:srgbClr val="F4B183"/>
            </a:solidFill>
            <a:ln w="12700">
              <a:solidFill>
                <a:srgbClr val="F4B183"/>
              </a:solidFill>
              <a:prstDash val="solid"/>
            </a:ln>
          </p:spPr>
        </p:sp>
        <p:sp>
          <p:nvSpPr>
            <p:cNvPr id="263" name="Shape 47"/>
            <p:cNvSpPr/>
            <p:nvPr/>
          </p:nvSpPr>
          <p:spPr>
            <a:xfrm>
              <a:off x="5832" y="4723"/>
              <a:ext cx="5688" cy="2232"/>
            </a:xfrm>
            <a:prstGeom prst="roundRect">
              <a:avLst>
                <a:gd name="adj" fmla="val 5161"/>
              </a:avLst>
            </a:prstGeom>
            <a:solidFill>
              <a:srgbClr val="FFFFFF"/>
            </a:solidFill>
            <a:ln w="16510">
              <a:solidFill>
                <a:srgbClr val="BFBFBF"/>
              </a:solidFill>
              <a:prstDash val="solid"/>
            </a:ln>
          </p:spPr>
        </p:sp>
        <p:sp>
          <p:nvSpPr>
            <p:cNvPr id="264" name="Text 48"/>
            <p:cNvSpPr/>
            <p:nvPr/>
          </p:nvSpPr>
          <p:spPr>
            <a:xfrm>
              <a:off x="6192" y="4924"/>
              <a:ext cx="4967" cy="374"/>
            </a:xfrm>
            <a:prstGeom prst="rect">
              <a:avLst/>
            </a:prstGeom>
            <a:noFill/>
          </p:spPr>
          <p:txBody>
            <a:bodyPr wrap="square" lIns="0" tIns="0" rIns="0" bIns="0" rtlCol="0" anchor="ctr"/>
            <a:lstStyle/>
            <a:p>
              <a:pPr marL="0" indent="0" algn="ctr" defTabSz="914400" eaLnBrk="0" fontAlgn="base" hangingPunct="0">
                <a:buNone/>
              </a:pPr>
              <a:r>
                <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rPr>
                <a:t>元学习训练机制</a:t>
              </a:r>
              <a:endPar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5" name="Text 49"/>
            <p:cNvSpPr/>
            <p:nvPr/>
          </p:nvSpPr>
          <p:spPr>
            <a:xfrm>
              <a:off x="5904" y="5299"/>
              <a:ext cx="5760" cy="1657"/>
            </a:xfrm>
            <a:prstGeom prst="rect">
              <a:avLst/>
            </a:prstGeom>
            <a:noFill/>
          </p:spPr>
          <p:txBody>
            <a:bodyPr wrap="square" lIns="254" tIns="254" rIns="254" bIns="254" rtlCol="0" anchor="ctr">
              <a:normAutofit/>
            </a:bodyPr>
            <a:lstStyle/>
            <a:p>
              <a:pPr marL="0" indent="0" defTabSz="914400" eaLnBrk="0" fontAlgn="base" hangingPunct="0">
                <a:buNone/>
              </a:pPr>
              <a:r>
                <a:rPr lang="en-US" sz="1150" b="1" dirty="0">
                  <a:solidFill>
                    <a:srgbClr val="E60012"/>
                  </a:solidFill>
                  <a:latin typeface="Times New Roman" panose="02020603050405020304" pitchFamily="18" charset="0"/>
                  <a:ea typeface="微软雅黑" panose="020B0503020204020204" pitchFamily="34" charset="-122"/>
                  <a:cs typeface="微软雅黑" panose="020B0503020204020204" pitchFamily="34" charset="-120"/>
                </a:rPr>
                <a:t>内循环：</a:t>
              </a:r>
              <a:r>
                <a:rPr lang="en-US" sz="115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0"/>
                </a:rPr>
                <a:t> 在单个任务上计算损失并更新特征表示
</a:t>
              </a:r>
              <a:r>
                <a:rPr lang="en-US" sz="1150" b="1" dirty="0">
                  <a:solidFill>
                    <a:srgbClr val="E60012"/>
                  </a:solidFill>
                  <a:latin typeface="Times New Roman" panose="02020603050405020304" pitchFamily="18" charset="0"/>
                  <a:ea typeface="微软雅黑" panose="020B0503020204020204" pitchFamily="34" charset="-122"/>
                  <a:cs typeface="微软雅黑" panose="020B0503020204020204" pitchFamily="34" charset="-120"/>
                </a:rPr>
                <a:t>外循环：</a:t>
              </a:r>
              <a:r>
                <a:rPr lang="en-US" sz="115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0"/>
                </a:rPr>
                <a:t> 在多任务上优化模型初始参数
</a:t>
              </a:r>
              <a:r>
                <a:rPr lang="en-US" sz="1150" b="1" dirty="0">
                  <a:solidFill>
                    <a:srgbClr val="E60012"/>
                  </a:solidFill>
                  <a:latin typeface="Times New Roman" panose="02020603050405020304" pitchFamily="18" charset="0"/>
                  <a:ea typeface="微软雅黑" panose="020B0503020204020204" pitchFamily="34" charset="-122"/>
                  <a:cs typeface="微软雅黑" panose="020B0503020204020204" pitchFamily="34" charset="-120"/>
                </a:rPr>
                <a:t>目标：</a:t>
              </a:r>
              <a:r>
                <a:rPr lang="en-US" sz="115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0"/>
                </a:rPr>
                <a:t> 学习适合少样本任务的通用特征空间</a:t>
              </a:r>
              <a:endParaRPr lang="en-US" sz="11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6" name="Shape 50"/>
            <p:cNvSpPr/>
            <p:nvPr/>
          </p:nvSpPr>
          <p:spPr>
            <a:xfrm>
              <a:off x="12024" y="4723"/>
              <a:ext cx="5976" cy="2232"/>
            </a:xfrm>
            <a:prstGeom prst="roundRect">
              <a:avLst>
                <a:gd name="adj" fmla="val 5161"/>
              </a:avLst>
            </a:prstGeom>
            <a:solidFill>
              <a:srgbClr val="F8FBFF"/>
            </a:solidFill>
            <a:ln w="16510">
              <a:solidFill>
                <a:srgbClr val="2F75B5"/>
              </a:solidFill>
              <a:prstDash val="solid"/>
            </a:ln>
          </p:spPr>
        </p:sp>
        <p:sp>
          <p:nvSpPr>
            <p:cNvPr id="267" name="Text 51"/>
            <p:cNvSpPr/>
            <p:nvPr/>
          </p:nvSpPr>
          <p:spPr>
            <a:xfrm>
              <a:off x="12413" y="4924"/>
              <a:ext cx="5112" cy="374"/>
            </a:xfrm>
            <a:prstGeom prst="rect">
              <a:avLst/>
            </a:prstGeom>
            <a:noFill/>
          </p:spPr>
          <p:txBody>
            <a:bodyPr wrap="square" lIns="0" tIns="0" rIns="0" bIns="0" rtlCol="0" anchor="ctr"/>
            <a:lstStyle/>
            <a:p>
              <a:pPr marL="0" indent="0" algn="ctr" defTabSz="914400" eaLnBrk="0" fontAlgn="base" hangingPunct="0">
                <a:buNone/>
              </a:pPr>
              <a:r>
                <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rPr>
                <a:t>少样本识别阶段</a:t>
              </a:r>
              <a:endParaRPr lang="en-US" sz="140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8" name="Text 52"/>
            <p:cNvSpPr/>
            <p:nvPr/>
          </p:nvSpPr>
          <p:spPr>
            <a:xfrm>
              <a:off x="12528" y="5443"/>
              <a:ext cx="4967" cy="1405"/>
            </a:xfrm>
            <a:prstGeom prst="rect">
              <a:avLst/>
            </a:prstGeom>
            <a:noFill/>
          </p:spPr>
          <p:txBody>
            <a:bodyPr wrap="square" lIns="254" tIns="254" rIns="254" bIns="254" rtlCol="0" anchor="ctr"/>
            <a:lstStyle/>
            <a:p>
              <a:pPr marL="0" algn="ctr" defTabSz="914400" eaLnBrk="0" fontAlgn="base" hangingPunct="0">
                <a:lnSpc>
                  <a:spcPct val="150000"/>
                </a:lnSpc>
                <a:buClrTx/>
                <a:buSzTx/>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新无人机类别仅提供少量支持样本</a:t>
              </a:r>
              <a:endPar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endParaRPr>
            </a:p>
            <a:p>
              <a:pPr marL="0" algn="ctr" defTabSz="914400" eaLnBrk="0" fontAlgn="base" hangingPunct="0">
                <a:lnSpc>
                  <a:spcPct val="150000"/>
                </a:lnSpc>
                <a:buClrTx/>
                <a:buSzTx/>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通过原型匹配完成查询样本预测</a:t>
              </a:r>
              <a:endPar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endParaRPr>
            </a:p>
            <a:p>
              <a:pPr marL="0" algn="ctr" defTabSz="914400" eaLnBrk="0" fontAlgn="base" hangingPunct="0">
                <a:lnSpc>
                  <a:spcPct val="150000"/>
                </a:lnSpc>
                <a:buClrTx/>
                <a:buSzTx/>
                <a:buNone/>
              </a:pPr>
              <a:r>
                <a:rPr lang="en-US" sz="1100" dirty="0">
                  <a:solidFill>
                    <a:srgbClr val="000000"/>
                  </a:solidFill>
                  <a:latin typeface="Times New Roman" panose="02020603050405020304" pitchFamily="18" charset="0"/>
                  <a:ea typeface="微软雅黑" panose="020B0503020204020204" pitchFamily="34" charset="-122"/>
                  <a:cs typeface="微软雅黑" panose="020B0503020204020204" pitchFamily="34" charset="-122"/>
                </a:rPr>
                <a:t>无需从头训练完整分类器</a:t>
              </a:r>
              <a:endParaRPr lang="en-US" sz="118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9" name="Shape 53"/>
            <p:cNvSpPr/>
            <p:nvPr/>
          </p:nvSpPr>
          <p:spPr>
            <a:xfrm>
              <a:off x="935" y="7230"/>
              <a:ext cx="17208" cy="1386"/>
            </a:xfrm>
            <a:prstGeom prst="roundRect">
              <a:avLst>
                <a:gd name="adj" fmla="val 9677"/>
              </a:avLst>
            </a:prstGeom>
            <a:solidFill>
              <a:srgbClr val="F2F7FF"/>
            </a:solidFill>
            <a:ln w="12700">
              <a:solidFill>
                <a:srgbClr val="2F75B5"/>
              </a:solidFill>
              <a:prstDash val="solid"/>
            </a:ln>
          </p:spPr>
        </p:sp>
        <p:sp>
          <p:nvSpPr>
            <p:cNvPr id="270" name="Text 54"/>
            <p:cNvSpPr/>
            <p:nvPr/>
          </p:nvSpPr>
          <p:spPr>
            <a:xfrm>
              <a:off x="935" y="7335"/>
              <a:ext cx="1495" cy="1336"/>
            </a:xfrm>
            <a:prstGeom prst="rect">
              <a:avLst/>
            </a:prstGeom>
            <a:noFill/>
          </p:spPr>
          <p:txBody>
            <a:bodyPr wrap="square" lIns="0" tIns="0" rIns="0" bIns="0" rtlCol="0" anchor="ctr"/>
            <a:lstStyle/>
            <a:p>
              <a:pPr marL="0" indent="0" defTabSz="914400" eaLnBrk="0" fontAlgn="base" hangingPunct="0">
                <a:buNone/>
              </a:pPr>
              <a:r>
                <a:rPr lang="en-US" sz="1150" b="1" dirty="0">
                  <a:solidFill>
                    <a:srgbClr val="174A96"/>
                  </a:solidFill>
                  <a:latin typeface="Times New Roman" panose="02020603050405020304" pitchFamily="18" charset="0"/>
                  <a:ea typeface="微软雅黑" panose="020B0503020204020204" pitchFamily="34" charset="-122"/>
                  <a:cs typeface="微软雅黑" panose="020B0503020204020204" pitchFamily="34" charset="-122"/>
                </a:rPr>
                <a:t>核心公式：</a:t>
              </a:r>
              <a:endParaRPr lang="en-US" sz="1150" dirty="0">
                <a:latin typeface="Times New Roman" panose="02020603050405020304" pitchFamily="18" charset="0"/>
                <a:ea typeface="微软雅黑" panose="020B0503020204020204" pitchFamily="34" charset="-122"/>
                <a:cs typeface="微软雅黑" panose="020B0503020204020204" pitchFamily="34" charset="-122"/>
              </a:endParaRPr>
            </a:p>
          </p:txBody>
        </p:sp>
      </p:grpSp>
      <p:pic>
        <p:nvPicPr>
          <p:cNvPr id="280" name="图片 279"/>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10285" y="3692525"/>
            <a:ext cx="1291590" cy="347980"/>
          </a:xfrm>
          <a:prstGeom prst="rect">
            <a:avLst/>
          </a:prstGeom>
        </p:spPr>
      </p:pic>
      <p:pic>
        <p:nvPicPr>
          <p:cNvPr id="281" name="图片 280"/>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446655" y="3663315"/>
            <a:ext cx="1588770" cy="364490"/>
          </a:xfrm>
          <a:prstGeom prst="rect">
            <a:avLst/>
          </a:prstGeom>
        </p:spPr>
      </p:pic>
      <p:pic>
        <p:nvPicPr>
          <p:cNvPr id="282" name="图片 28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41400" y="4056380"/>
            <a:ext cx="1405255" cy="319405"/>
          </a:xfrm>
          <a:prstGeom prst="rect">
            <a:avLst/>
          </a:prstGeom>
        </p:spPr>
      </p:pic>
      <p:pic>
        <p:nvPicPr>
          <p:cNvPr id="283" name="图片 282"/>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167505" y="3799205"/>
            <a:ext cx="1635760" cy="523240"/>
          </a:xfrm>
          <a:prstGeom prst="rect">
            <a:avLst/>
          </a:prstGeom>
        </p:spPr>
      </p:pic>
      <p:pic>
        <p:nvPicPr>
          <p:cNvPr id="284" name="图片 283"/>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6051550" y="3872865"/>
            <a:ext cx="1483360" cy="319405"/>
          </a:xfrm>
          <a:prstGeom prst="rect">
            <a:avLst/>
          </a:prstGeom>
        </p:spPr>
      </p:pic>
      <p:pic>
        <p:nvPicPr>
          <p:cNvPr id="286" name="图片 285"/>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4538345" y="1635760"/>
            <a:ext cx="1670685" cy="400050"/>
          </a:xfrm>
          <a:prstGeom prst="rect">
            <a:avLst/>
          </a:prstGeom>
        </p:spPr>
      </p:pic>
      <p:sp>
        <p:nvSpPr>
          <p:cNvPr id="287" name="Shape 43"/>
          <p:cNvSpPr/>
          <p:nvPr/>
        </p:nvSpPr>
        <p:spPr>
          <a:xfrm>
            <a:off x="161925" y="4452620"/>
            <a:ext cx="8703310" cy="640080"/>
          </a:xfrm>
          <a:prstGeom prst="roundRect">
            <a:avLst>
              <a:gd name="adj" fmla="val 17143"/>
            </a:avLst>
          </a:prstGeom>
          <a:solidFill>
            <a:srgbClr val="F3F7FB"/>
          </a:solidFill>
          <a:ln w="12700">
            <a:solidFill>
              <a:schemeClr val="accent1"/>
            </a:solidFill>
            <a:prstDash val="solid"/>
          </a:ln>
        </p:spPr>
      </p:sp>
      <p:sp>
        <p:nvSpPr>
          <p:cNvPr id="288" name="Text 61"/>
          <p:cNvSpPr/>
          <p:nvPr/>
        </p:nvSpPr>
        <p:spPr>
          <a:xfrm>
            <a:off x="495054" y="4538787"/>
            <a:ext cx="8261108" cy="450238"/>
          </a:xfrm>
          <a:prstGeom prst="rect">
            <a:avLst/>
          </a:prstGeom>
          <a:noFill/>
        </p:spPr>
        <p:txBody>
          <a:bodyPr wrap="square" lIns="0" tIns="0" rIns="0" bIns="0" rtlCol="0" anchor="ctr">
            <a:normAutofit/>
          </a:bodyPr>
          <a:lstStyle/>
          <a:p>
            <a:pPr marL="0" indent="0" defTabSz="914400" eaLnBrk="0" fontAlgn="base" hangingPunct="0">
              <a:buNone/>
            </a:pPr>
            <a:r>
              <a:rPr lang="zh-CN" altLang="en-US" sz="1300" b="1" dirty="0">
                <a:solidFill>
                  <a:srgbClr val="0B3A75"/>
                </a:solidFill>
                <a:latin typeface="微软雅黑" panose="020B0503020204020204" pitchFamily="34" charset="-122"/>
                <a:ea typeface="微软雅黑" panose="020B0503020204020204" pitchFamily="34" charset="-122"/>
                <a:cs typeface="微软雅黑" panose="020B0503020204020204" pitchFamily="34" charset="-120"/>
              </a:rPr>
              <a:t>本模块通过反复构造 N-way K-shot 情景任务，使模型在少量支持样本上学习类别原型，并利用查询集损失更新参数，从而提升新无人机类别的快速适应能力。</a:t>
            </a: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文本框 3"/>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5" name="圆角矩形 4"/>
          <p:cNvSpPr/>
          <p:nvPr/>
        </p:nvSpPr>
        <p:spPr>
          <a:xfrm>
            <a:off x="1033463" y="703214"/>
            <a:ext cx="1639887"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主要特色与创新：</a:t>
            </a:r>
            <a:endPar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63493" name="文本框 2"/>
          <p:cNvSpPr txBox="1">
            <a:spLocks noChangeArrowheads="1"/>
          </p:cNvSpPr>
          <p:nvPr/>
        </p:nvSpPr>
        <p:spPr bwMode="auto">
          <a:xfrm>
            <a:off x="739021" y="917977"/>
            <a:ext cx="7822417" cy="75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36550">
              <a:defRPr>
                <a:solidFill>
                  <a:schemeClr val="tx1"/>
                </a:solidFill>
                <a:latin typeface="Calibri" panose="020F0502020204030204" pitchFamily="34" charset="0"/>
                <a:ea typeface="等线" panose="02010600030101010101" pitchFamily="2" charset="-122"/>
              </a:defRPr>
            </a:lvl1pPr>
            <a:lvl2pPr marL="742950" indent="-285750">
              <a:defRPr>
                <a:solidFill>
                  <a:schemeClr val="tx1"/>
                </a:solidFill>
                <a:latin typeface="Calibri" panose="020F0502020204030204" pitchFamily="34" charset="0"/>
                <a:ea typeface="等线" panose="02010600030101010101" pitchFamily="2" charset="-122"/>
              </a:defRPr>
            </a:lvl2pPr>
            <a:lvl3pPr marL="1143000" indent="-228600">
              <a:defRPr>
                <a:solidFill>
                  <a:schemeClr val="tx1"/>
                </a:solidFill>
                <a:latin typeface="Calibri" panose="020F0502020204030204" pitchFamily="34" charset="0"/>
                <a:ea typeface="等线" panose="02010600030101010101" pitchFamily="2" charset="-122"/>
              </a:defRPr>
            </a:lvl3pPr>
            <a:lvl4pPr marL="1600200" indent="-228600">
              <a:defRPr>
                <a:solidFill>
                  <a:schemeClr val="tx1"/>
                </a:solidFill>
                <a:latin typeface="Calibri" panose="020F0502020204030204" pitchFamily="34" charset="0"/>
                <a:ea typeface="等线" panose="02010600030101010101" pitchFamily="2" charset="-122"/>
              </a:defRPr>
            </a:lvl4pPr>
            <a:lvl5pPr marL="2057400" indent="-228600">
              <a:defRPr>
                <a:solidFill>
                  <a:schemeClr val="tx1"/>
                </a:solidFill>
                <a:latin typeface="Calibri" panose="020F0502020204030204" pitchFamily="34" charset="0"/>
                <a:ea typeface="等线"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等线" panose="02010600030101010101" pitchFamily="2" charset="-122"/>
              </a:defRPr>
            </a:lvl9pPr>
          </a:lstStyle>
          <a:p>
            <a:pPr indent="0" defTabSz="914400" eaLnBrk="1" fontAlgn="base" hangingPunct="1">
              <a:lnSpc>
                <a:spcPts val="2600"/>
              </a:lnSpc>
            </a:pPr>
            <a:r>
              <a:rPr lang="zh-CN" altLang="en-US" sz="1400" dirty="0">
                <a:latin typeface="Times New Roman" panose="02020603050405020304" pitchFamily="18" charset="0"/>
                <a:ea typeface="微软雅黑" panose="020B0503020204020204" pitchFamily="34" charset="-122"/>
                <a:cs typeface="微软雅黑" panose="020B0503020204020204" pitchFamily="34" charset="-122"/>
              </a:rPr>
              <a:t>       本研究将深度度量学习、元学习理论与射频物理层安全需求相结合，致力于解决实际环境下的无人机身份辨识痛点。</a:t>
            </a:r>
            <a:r>
              <a:rPr lang="zh-CN" altLang="en-US" sz="1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本课题的主要</a:t>
            </a:r>
            <a:r>
              <a:rPr lang="zh-CN" altLang="en-US" sz="1400" b="1" dirty="0">
                <a:solidFill>
                  <a:srgbClr val="C00000"/>
                </a:solidFill>
                <a:latin typeface="Times New Roman" panose="02020603050405020304" pitchFamily="18" charset="0"/>
                <a:ea typeface="微软雅黑" panose="020B0503020204020204" pitchFamily="34" charset="-122"/>
                <a:cs typeface="微软雅黑" panose="020B0503020204020204" pitchFamily="34" charset="-122"/>
              </a:rPr>
              <a:t>特色和创新</a:t>
            </a:r>
            <a:r>
              <a:rPr lang="zh-CN" altLang="en-US" sz="1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如下</a:t>
            </a:r>
            <a:r>
              <a:rPr lang="zh-CN" altLang="en-US" sz="1400" b="1" dirty="0">
                <a:latin typeface="Times New Roman" panose="02020603050405020304" pitchFamily="18" charset="0"/>
                <a:ea typeface="微软雅黑" panose="020B0503020204020204" pitchFamily="34" charset="-122"/>
                <a:cs typeface="微软雅黑" panose="020B0503020204020204" pitchFamily="34" charset="-122"/>
              </a:rPr>
              <a:t>：</a:t>
            </a:r>
            <a:endParaRPr lang="zh-CN" altLang="en-US" sz="1400" b="1"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1" name="KSO_Shape"/>
          <p:cNvSpPr/>
          <p:nvPr/>
        </p:nvSpPr>
        <p:spPr bwMode="auto">
          <a:xfrm>
            <a:off x="633413" y="744489"/>
            <a:ext cx="349250" cy="269875"/>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mn-lt"/>
              <a:ea typeface="微软雅黑" panose="020B0503020204020204" pitchFamily="34" charset="-122"/>
              <a:cs typeface="微软雅黑" panose="020B0503020204020204" pitchFamily="34" charset="-122"/>
            </a:endParaRPr>
          </a:p>
        </p:txBody>
      </p:sp>
      <p:sp>
        <p:nvSpPr>
          <p:cNvPr id="3" name="文本框 2"/>
          <p:cNvSpPr txBox="1"/>
          <p:nvPr/>
        </p:nvSpPr>
        <p:spPr>
          <a:xfrm>
            <a:off x="865188" y="219075"/>
            <a:ext cx="390144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3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基于Meta-DML的识别方法设计</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nvGrpSpPr>
          <p:cNvPr id="72" name="组合 71"/>
          <p:cNvGrpSpPr/>
          <p:nvPr/>
        </p:nvGrpSpPr>
        <p:grpSpPr>
          <a:xfrm>
            <a:off x="323215" y="1744980"/>
            <a:ext cx="8469630" cy="3232150"/>
            <a:chOff x="792" y="2049"/>
            <a:chExt cx="17453" cy="6564"/>
          </a:xfrm>
        </p:grpSpPr>
        <p:sp>
          <p:nvSpPr>
            <p:cNvPr id="7" name="Text 4"/>
            <p:cNvSpPr/>
            <p:nvPr/>
          </p:nvSpPr>
          <p:spPr>
            <a:xfrm>
              <a:off x="792" y="2049"/>
              <a:ext cx="3312" cy="657"/>
            </a:xfrm>
            <a:prstGeom prst="roundRect">
              <a:avLst/>
            </a:prstGeom>
            <a:solidFill>
              <a:srgbClr val="CFE2F8"/>
            </a:solidFill>
            <a:ln w="15240">
              <a:solidFill>
                <a:srgbClr val="2F75B5"/>
              </a:solidFill>
            </a:ln>
          </p:spPr>
          <p:txBody>
            <a:bodyPr wrap="square" lIns="1016" tIns="1016" rIns="1016" bIns="1016" rtlCol="0" anchor="ctr">
              <a:normAutofit lnSpcReduction="10000"/>
            </a:bodyPr>
            <a:lstStyle/>
            <a:p>
              <a:pPr marL="0" indent="0" algn="ctr" defTabSz="914400" eaLnBrk="0" fontAlgn="base" hangingPunct="0">
                <a:buNone/>
              </a:pPr>
              <a:r>
                <a:rPr lang="en-US" sz="16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研究痛点</a:t>
              </a:r>
              <a:endParaRPr lang="en-US" sz="16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 name="Text 5"/>
            <p:cNvSpPr/>
            <p:nvPr/>
          </p:nvSpPr>
          <p:spPr>
            <a:xfrm>
              <a:off x="4824" y="2049"/>
              <a:ext cx="6408" cy="656"/>
            </a:xfrm>
            <a:prstGeom prst="roundRect">
              <a:avLst/>
            </a:prstGeom>
            <a:solidFill>
              <a:srgbClr val="D8E6FF"/>
            </a:solidFill>
            <a:ln w="15240">
              <a:solidFill>
                <a:srgbClr val="2F75B5"/>
              </a:solidFill>
            </a:ln>
          </p:spPr>
          <p:txBody>
            <a:bodyPr wrap="square" lIns="1016" tIns="1016" rIns="1016" bIns="1016" rtlCol="0" anchor="ctr">
              <a:normAutofit/>
            </a:bodyPr>
            <a:lstStyle/>
            <a:p>
              <a:pPr marL="0" indent="0" algn="ctr" defTabSz="914400" eaLnBrk="0" fontAlgn="base" hangingPunct="0">
                <a:buNone/>
              </a:pPr>
              <a:r>
                <a:rPr lang="en-US" sz="16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Meta-DML 联合创新框架</a:t>
              </a:r>
              <a:endParaRPr lang="en-US" sz="16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3" name="Text 6"/>
            <p:cNvSpPr/>
            <p:nvPr/>
          </p:nvSpPr>
          <p:spPr>
            <a:xfrm>
              <a:off x="12312" y="2049"/>
              <a:ext cx="3240" cy="656"/>
            </a:xfrm>
            <a:prstGeom prst="roundRect">
              <a:avLst/>
            </a:prstGeom>
            <a:solidFill>
              <a:srgbClr val="E3F2DF"/>
            </a:solidFill>
            <a:ln w="15240">
              <a:solidFill>
                <a:srgbClr val="62A95A"/>
              </a:solidFill>
            </a:ln>
          </p:spPr>
          <p:txBody>
            <a:bodyPr wrap="square" lIns="1016" tIns="1016" rIns="1016" bIns="1016" rtlCol="0" anchor="ctr">
              <a:normAutofit/>
            </a:bodyPr>
            <a:lstStyle/>
            <a:p>
              <a:pPr marL="0" indent="0" algn="ctr" defTabSz="914400" eaLnBrk="0" fontAlgn="base" hangingPunct="0">
                <a:buNone/>
              </a:pPr>
              <a:r>
                <a:rPr lang="en-US" sz="16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rPr>
                <a:t>创新成效</a:t>
              </a:r>
              <a:endParaRPr lang="en-US" sz="16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4" name="Text 7"/>
            <p:cNvSpPr/>
            <p:nvPr/>
          </p:nvSpPr>
          <p:spPr>
            <a:xfrm>
              <a:off x="16013" y="2050"/>
              <a:ext cx="2232" cy="656"/>
            </a:xfrm>
            <a:prstGeom prst="roundRect">
              <a:avLst/>
            </a:prstGeom>
            <a:solidFill>
              <a:srgbClr val="FFF2CC"/>
            </a:solidFill>
            <a:ln w="15240">
              <a:solidFill>
                <a:srgbClr val="F39C12"/>
              </a:solidFill>
            </a:ln>
          </p:spPr>
          <p:txBody>
            <a:bodyPr wrap="square" lIns="1016" tIns="1016" rIns="1016" bIns="1016" rtlCol="0" anchor="ctr">
              <a:normAutofit/>
            </a:bodyPr>
            <a:lstStyle/>
            <a:p>
              <a:pPr marL="0" indent="0" algn="ctr" defTabSz="914400" eaLnBrk="0" fontAlgn="base" hangingPunct="0">
                <a:buNone/>
              </a:pPr>
              <a:r>
                <a:rPr lang="en-US" sz="160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rPr>
                <a:t>工程支撑</a:t>
              </a:r>
              <a:endParaRPr lang="en-US" sz="160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5" name="Shape 8"/>
            <p:cNvSpPr/>
            <p:nvPr/>
          </p:nvSpPr>
          <p:spPr>
            <a:xfrm>
              <a:off x="4248" y="4867"/>
              <a:ext cx="504" cy="792"/>
            </a:xfrm>
            <a:prstGeom prst="chevron">
              <a:avLst/>
            </a:prstGeom>
            <a:solidFill>
              <a:srgbClr val="2F75B5"/>
            </a:solidFill>
            <a:ln w="12700">
              <a:solidFill>
                <a:srgbClr val="2F75B5"/>
              </a:solidFill>
              <a:prstDash val="solid"/>
            </a:ln>
          </p:spPr>
        </p:sp>
        <p:sp>
          <p:nvSpPr>
            <p:cNvPr id="40" name="Shape 9"/>
            <p:cNvSpPr/>
            <p:nvPr/>
          </p:nvSpPr>
          <p:spPr>
            <a:xfrm>
              <a:off x="11448" y="4867"/>
              <a:ext cx="504" cy="792"/>
            </a:xfrm>
            <a:prstGeom prst="chevron">
              <a:avLst/>
            </a:prstGeom>
            <a:solidFill>
              <a:srgbClr val="2F75B5"/>
            </a:solidFill>
            <a:ln w="12700">
              <a:solidFill>
                <a:srgbClr val="2F75B5"/>
              </a:solidFill>
              <a:prstDash val="solid"/>
            </a:ln>
          </p:spPr>
        </p:sp>
        <p:sp>
          <p:nvSpPr>
            <p:cNvPr id="41" name="Shape 10"/>
            <p:cNvSpPr/>
            <p:nvPr/>
          </p:nvSpPr>
          <p:spPr>
            <a:xfrm>
              <a:off x="15696" y="4867"/>
              <a:ext cx="504" cy="792"/>
            </a:xfrm>
            <a:prstGeom prst="chevron">
              <a:avLst/>
            </a:prstGeom>
            <a:solidFill>
              <a:srgbClr val="F39C12"/>
            </a:solidFill>
            <a:ln w="12700">
              <a:solidFill>
                <a:srgbClr val="F39C12"/>
              </a:solidFill>
              <a:prstDash val="solid"/>
            </a:ln>
          </p:spPr>
        </p:sp>
        <p:sp>
          <p:nvSpPr>
            <p:cNvPr id="42" name="Text 11"/>
            <p:cNvSpPr/>
            <p:nvPr/>
          </p:nvSpPr>
          <p:spPr>
            <a:xfrm>
              <a:off x="1037" y="3357"/>
              <a:ext cx="547" cy="547"/>
            </a:xfrm>
            <a:prstGeom prst="ellipse">
              <a:avLst/>
            </a:prstGeom>
            <a:solidFill>
              <a:srgbClr val="F39C12"/>
            </a:solidFill>
            <a:ln>
              <a:solidFill>
                <a:srgbClr val="F39C12"/>
              </a:solidFill>
            </a:ln>
          </p:spPr>
          <p:txBody>
            <a:bodyPr wrap="square" rtlCol="0" anchor="ctr"/>
            <a:lstStyle/>
            <a:p>
              <a:pPr marL="0" indent="0" algn="ctr" defTabSz="914400" eaLnBrk="0" fontAlgn="base" hangingPunct="0">
                <a:buNone/>
              </a:pPr>
              <a:r>
                <a:rPr lang="en-US" sz="13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1</a:t>
              </a: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3" name="Text 12"/>
            <p:cNvSpPr/>
            <p:nvPr/>
          </p:nvSpPr>
          <p:spPr>
            <a:xfrm>
              <a:off x="1613" y="3256"/>
              <a:ext cx="2088" cy="547"/>
            </a:xfrm>
            <a:prstGeom prst="roundRect">
              <a:avLst/>
            </a:prstGeom>
            <a:solidFill>
              <a:srgbClr val="FFF4E6"/>
            </a:solidFill>
            <a:ln w="15240">
              <a:solidFill>
                <a:srgbClr val="F39C12"/>
              </a:solidFill>
            </a:ln>
          </p:spPr>
          <p:txBody>
            <a:bodyPr wrap="square" lIns="1016" tIns="1016" rIns="1016" bIns="1016" rtlCol="0" anchor="ctr">
              <a:normAutofit/>
            </a:bodyPr>
            <a:lstStyle/>
            <a:p>
              <a:pPr marL="0" indent="0" algn="ctr" defTabSz="914400" eaLnBrk="0" fontAlgn="base" hangingPunct="0">
                <a:buNone/>
              </a:pPr>
              <a:r>
                <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rPr>
                <a:t>样本不足</a:t>
              </a:r>
              <a:endPar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4" name="Text 13"/>
            <p:cNvSpPr/>
            <p:nvPr/>
          </p:nvSpPr>
          <p:spPr>
            <a:xfrm>
              <a:off x="1123" y="3860"/>
              <a:ext cx="3303" cy="891"/>
            </a:xfrm>
            <a:prstGeom prst="rect">
              <a:avLst/>
            </a:prstGeom>
            <a:noFill/>
          </p:spPr>
          <p:txBody>
            <a:bodyPr wrap="square" lIns="1016" tIns="1016" rIns="1016" bIns="1016" rtlCol="0" anchor="ctr">
              <a:noAutofit/>
            </a:bodyPr>
            <a:lstStyle/>
            <a:p>
              <a:pPr marL="0" indent="0" algn="l" defTabSz="914400" eaLnBrk="0" fontAlgn="base" hangingPunct="0">
                <a:buNone/>
              </a:pPr>
              <a:r>
                <a:rPr lang="en-US" sz="100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非合作监测中标注样本有限，传统模型难以充分训练</a:t>
              </a:r>
              <a:endParaRPr lang="en-US" sz="100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5" name="Text 14"/>
            <p:cNvSpPr/>
            <p:nvPr/>
          </p:nvSpPr>
          <p:spPr>
            <a:xfrm>
              <a:off x="1037" y="4910"/>
              <a:ext cx="547" cy="547"/>
            </a:xfrm>
            <a:prstGeom prst="ellipse">
              <a:avLst/>
            </a:prstGeom>
            <a:solidFill>
              <a:srgbClr val="E53935"/>
            </a:solidFill>
            <a:ln>
              <a:solidFill>
                <a:srgbClr val="E53935"/>
              </a:solidFill>
            </a:ln>
          </p:spPr>
          <p:txBody>
            <a:bodyPr wrap="square" rtlCol="0" anchor="ctr"/>
            <a:lstStyle/>
            <a:p>
              <a:pPr marL="0" indent="0" algn="ctr" defTabSz="914400" eaLnBrk="0" fontAlgn="base" hangingPunct="0">
                <a:buNone/>
              </a:pPr>
              <a:r>
                <a:rPr lang="en-US" sz="13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2</a:t>
              </a: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6" name="Text 15"/>
            <p:cNvSpPr/>
            <p:nvPr/>
          </p:nvSpPr>
          <p:spPr>
            <a:xfrm>
              <a:off x="1613" y="4810"/>
              <a:ext cx="2088" cy="547"/>
            </a:xfrm>
            <a:prstGeom prst="roundRect">
              <a:avLst/>
            </a:prstGeom>
            <a:solidFill>
              <a:srgbClr val="FDECEC"/>
            </a:solidFill>
            <a:ln w="15240">
              <a:solidFill>
                <a:srgbClr val="E53935"/>
              </a:solidFill>
            </a:ln>
          </p:spPr>
          <p:txBody>
            <a:bodyPr wrap="square" lIns="1016" tIns="1016" rIns="1016" bIns="1016" rtlCol="0" anchor="ctr">
              <a:normAutofit/>
            </a:bodyPr>
            <a:lstStyle/>
            <a:p>
              <a:pPr marL="0" indent="0" algn="ctr" defTabSz="914400" eaLnBrk="0" fontAlgn="base" hangingPunct="0">
                <a:buNone/>
              </a:pPr>
              <a:r>
                <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rPr>
                <a:t>信道扰动</a:t>
              </a:r>
              <a:endPar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7" name="Text 16"/>
            <p:cNvSpPr/>
            <p:nvPr/>
          </p:nvSpPr>
          <p:spPr>
            <a:xfrm>
              <a:off x="1123" y="5458"/>
              <a:ext cx="2851" cy="778"/>
            </a:xfrm>
            <a:prstGeom prst="rect">
              <a:avLst/>
            </a:prstGeom>
            <a:noFill/>
          </p:spPr>
          <p:txBody>
            <a:bodyPr wrap="square" lIns="1016" tIns="1016" rIns="1016" bIns="1016" rtlCol="0" anchor="ctr">
              <a:normAutofit fontScale="80000"/>
            </a:bodyPr>
            <a:lstStyle/>
            <a:p>
              <a:pPr marL="0" indent="0" algn="l" defTabSz="914400" eaLnBrk="0" fontAlgn="base" hangingPunct="0">
                <a:buNone/>
              </a:pPr>
              <a:r>
                <a:rPr lang="en-US" sz="107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AWGN 与瑞利衰落引起幅度、相位和特征分布变化</a:t>
              </a:r>
              <a:endParaRPr lang="en-US" sz="107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8" name="Text 17"/>
            <p:cNvSpPr/>
            <p:nvPr/>
          </p:nvSpPr>
          <p:spPr>
            <a:xfrm>
              <a:off x="1037" y="6667"/>
              <a:ext cx="547" cy="547"/>
            </a:xfrm>
            <a:prstGeom prst="ellipse">
              <a:avLst/>
            </a:prstGeom>
            <a:solidFill>
              <a:srgbClr val="A5B7CE"/>
            </a:solidFill>
            <a:ln>
              <a:solidFill>
                <a:srgbClr val="A5B7CE"/>
              </a:solidFill>
            </a:ln>
          </p:spPr>
          <p:txBody>
            <a:bodyPr wrap="square" rtlCol="0" anchor="ctr"/>
            <a:lstStyle/>
            <a:p>
              <a:pPr marL="0" indent="0" algn="ctr" defTabSz="914400" eaLnBrk="0" fontAlgn="base" hangingPunct="0">
                <a:buNone/>
              </a:pPr>
              <a:r>
                <a:rPr lang="en-US" sz="13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3</a:t>
              </a:r>
              <a:endParaRPr lang="en-US" sz="13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9" name="Text 18"/>
            <p:cNvSpPr/>
            <p:nvPr/>
          </p:nvSpPr>
          <p:spPr>
            <a:xfrm>
              <a:off x="1613" y="6566"/>
              <a:ext cx="2088" cy="547"/>
            </a:xfrm>
            <a:prstGeom prst="roundRect">
              <a:avLst/>
            </a:prstGeom>
            <a:solidFill>
              <a:srgbClr val="F4F6FB"/>
            </a:solidFill>
            <a:ln w="15240">
              <a:solidFill>
                <a:srgbClr val="A5B7CE"/>
              </a:solidFill>
            </a:ln>
          </p:spPr>
          <p:txBody>
            <a:bodyPr wrap="square" lIns="1016" tIns="1016" rIns="1016" bIns="1016" rtlCol="0" anchor="ctr">
              <a:normAutofit/>
            </a:bodyPr>
            <a:lstStyle/>
            <a:p>
              <a:pPr marL="0" indent="0" algn="ctr" defTabSz="914400" eaLnBrk="0" fontAlgn="base" hangingPunct="0">
                <a:buNone/>
              </a:pPr>
              <a:r>
                <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rPr>
                <a:t>特征混叠</a:t>
              </a:r>
              <a:endParaRPr lang="en-US" sz="1450" b="1" dirty="0">
                <a:solidFill>
                  <a:srgbClr val="1F2D3D"/>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0" name="Text 19"/>
            <p:cNvSpPr/>
            <p:nvPr/>
          </p:nvSpPr>
          <p:spPr>
            <a:xfrm>
              <a:off x="1123" y="7214"/>
              <a:ext cx="2851" cy="778"/>
            </a:xfrm>
            <a:prstGeom prst="rect">
              <a:avLst/>
            </a:prstGeom>
            <a:noFill/>
          </p:spPr>
          <p:txBody>
            <a:bodyPr wrap="square" lIns="1016" tIns="1016" rIns="1016" bIns="1016" rtlCol="0" anchor="ctr">
              <a:normAutofit/>
            </a:bodyPr>
            <a:lstStyle/>
            <a:p>
              <a:pPr marL="0" indent="0" algn="l" defTabSz="914400" eaLnBrk="0" fontAlgn="base" hangingPunct="0">
                <a:buNone/>
              </a:pPr>
              <a:r>
                <a:rPr lang="en-US" sz="107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少样本条件下类内离散、类间边界不清晰</a:t>
              </a:r>
              <a:endParaRPr lang="en-US" sz="107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1" name="Text 20"/>
            <p:cNvSpPr/>
            <p:nvPr/>
          </p:nvSpPr>
          <p:spPr>
            <a:xfrm>
              <a:off x="4967" y="3228"/>
              <a:ext cx="6048" cy="677"/>
            </a:xfrm>
            <a:prstGeom prst="roundRect">
              <a:avLst/>
            </a:prstGeom>
            <a:solidFill>
              <a:srgbClr val="EAF3FF"/>
            </a:solidFill>
            <a:ln w="15240">
              <a:solidFill>
                <a:srgbClr val="2F75B5"/>
              </a:solidFill>
            </a:ln>
          </p:spPr>
          <p:txBody>
            <a:bodyPr wrap="square" lIns="1524" tIns="1524" rIns="1524" bIns="1524" rtlCol="0" anchor="ctr">
              <a:normAutofit/>
            </a:bodyPr>
            <a:lstStyle/>
            <a:p>
              <a:pPr marL="0" indent="0" algn="l" defTabSz="914400" eaLnBrk="0" fontAlgn="base" hangingPunct="0">
                <a:buNone/>
              </a:pPr>
              <a:r>
                <a:rPr lang="en-US" sz="12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创新点一  轻量化特征映射</a:t>
              </a:r>
              <a:r>
                <a:rPr lang="en-US" sz="152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 </a:t>
              </a:r>
              <a:endParaRPr lang="en-US" sz="152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2" name="Text 21"/>
            <p:cNvSpPr/>
            <p:nvPr/>
          </p:nvSpPr>
          <p:spPr>
            <a:xfrm>
              <a:off x="5183" y="3859"/>
              <a:ext cx="5645" cy="834"/>
            </a:xfrm>
            <a:prstGeom prst="rect">
              <a:avLst/>
            </a:prstGeom>
            <a:noFill/>
          </p:spPr>
          <p:txBody>
            <a:bodyPr wrap="square" lIns="1016" tIns="1016" rIns="1016" bIns="1016" rtlCol="0" anchor="ctr">
              <a:noAutofit/>
            </a:bodyPr>
            <a:lstStyle/>
            <a:p>
              <a:pPr marL="0" indent="0" defTabSz="914400" eaLnBrk="0" fontAlgn="base" hangingPunct="0">
                <a:buNone/>
              </a:pPr>
              <a:r>
                <a:rPr lang="en-US" sz="10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rPr>
                <a:t>I/Q 复基带信号 → 归一化 / 切片 / 数据增强 → 1D-CNN 特征嵌入</a:t>
              </a:r>
              <a:endParaRPr lang="en-US" sz="10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3" name="Text 22"/>
            <p:cNvSpPr/>
            <p:nvPr/>
          </p:nvSpPr>
          <p:spPr>
            <a:xfrm>
              <a:off x="4967" y="4692"/>
              <a:ext cx="6048" cy="718"/>
            </a:xfrm>
            <a:prstGeom prst="roundRect">
              <a:avLst/>
            </a:prstGeom>
            <a:solidFill>
              <a:srgbClr val="E8F4E3"/>
            </a:solidFill>
            <a:ln w="15240">
              <a:solidFill>
                <a:srgbClr val="62A95A"/>
              </a:solidFill>
            </a:ln>
          </p:spPr>
          <p:txBody>
            <a:bodyPr wrap="square" lIns="1524" tIns="1524" rIns="1524" bIns="1524" rtlCol="0" anchor="ctr">
              <a:normAutofit/>
            </a:bodyPr>
            <a:lstStyle/>
            <a:p>
              <a:pPr marL="0" indent="0" algn="l" defTabSz="914400" eaLnBrk="0" fontAlgn="base" hangingPunct="0">
                <a:buNone/>
              </a:pPr>
              <a:r>
                <a:rPr lang="en-US" sz="12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rPr>
                <a:t>创新点二  余弦原型度量</a:t>
              </a:r>
              <a:endParaRPr lang="en-US" sz="12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4" name="Text 23"/>
            <p:cNvSpPr/>
            <p:nvPr/>
          </p:nvSpPr>
          <p:spPr>
            <a:xfrm>
              <a:off x="4753" y="5356"/>
              <a:ext cx="6621" cy="548"/>
            </a:xfrm>
            <a:prstGeom prst="rect">
              <a:avLst/>
            </a:prstGeom>
            <a:noFill/>
          </p:spPr>
          <p:txBody>
            <a:bodyPr wrap="square" lIns="1016" tIns="1016" rIns="1016" bIns="1016" rtlCol="0" anchor="ctr">
              <a:noAutofit/>
            </a:bodyPr>
            <a:lstStyle/>
            <a:p>
              <a:pPr marL="0" indent="0" defTabSz="914400" eaLnBrk="0" fontAlgn="base" hangingPunct="0">
                <a:buNone/>
              </a:pPr>
              <a:r>
                <a:rPr lang="en-US" sz="1000" dirty="0">
                  <a:latin typeface="Times New Roman" panose="02020603050405020304" pitchFamily="18" charset="0"/>
                  <a:ea typeface="微软雅黑" panose="020B0503020204020204" pitchFamily="34" charset="-122"/>
                  <a:cs typeface="微软雅黑" panose="020B0503020204020204" pitchFamily="34" charset="-120"/>
                </a:rPr>
                <a:t>支持集计算类别原型，利用余弦相似度减弱幅度衰落影响</a:t>
              </a:r>
              <a:endParaRPr lang="en-US" sz="1000" dirty="0">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5" name="Text 24"/>
            <p:cNvSpPr/>
            <p:nvPr/>
          </p:nvSpPr>
          <p:spPr>
            <a:xfrm>
              <a:off x="4968" y="5904"/>
              <a:ext cx="6048" cy="806"/>
            </a:xfrm>
            <a:prstGeom prst="roundRect">
              <a:avLst/>
            </a:prstGeom>
            <a:solidFill>
              <a:srgbClr val="EFE7FF"/>
            </a:solidFill>
            <a:ln w="15240">
              <a:solidFill>
                <a:srgbClr val="7657B8"/>
              </a:solidFill>
            </a:ln>
          </p:spPr>
          <p:txBody>
            <a:bodyPr wrap="square" lIns="1524" tIns="1524" rIns="1524" bIns="1524" rtlCol="0" anchor="ctr">
              <a:normAutofit fontScale="90000"/>
            </a:bodyPr>
            <a:lstStyle/>
            <a:p>
              <a:pPr marL="0" indent="0" algn="l" defTabSz="914400" eaLnBrk="0" fontAlgn="base" hangingPunct="0">
                <a:buNone/>
              </a:pPr>
              <a:r>
                <a:rPr lang="en-US" sz="1520" b="1" dirty="0">
                  <a:solidFill>
                    <a:srgbClr val="3C2A72"/>
                  </a:solidFill>
                  <a:latin typeface="Times New Roman" panose="02020603050405020304" pitchFamily="18" charset="0"/>
                  <a:ea typeface="微软雅黑" panose="020B0503020204020204" pitchFamily="34" charset="-122"/>
                  <a:cs typeface="微软雅黑" panose="020B0503020204020204" pitchFamily="34" charset="-120"/>
                </a:rPr>
                <a:t>创新点三  N-way K-shot 元学习训练</a:t>
              </a:r>
              <a:endParaRPr lang="en-US" sz="1520" b="1" dirty="0">
                <a:solidFill>
                  <a:srgbClr val="3C2A7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56" name="Text 25"/>
            <p:cNvSpPr/>
            <p:nvPr/>
          </p:nvSpPr>
          <p:spPr>
            <a:xfrm>
              <a:off x="5183" y="6739"/>
              <a:ext cx="5645" cy="749"/>
            </a:xfrm>
            <a:prstGeom prst="rect">
              <a:avLst/>
            </a:prstGeom>
            <a:noFill/>
          </p:spPr>
          <p:txBody>
            <a:bodyPr wrap="square" lIns="1016" tIns="1016" rIns="1016" bIns="1016" rtlCol="0" anchor="ctr">
              <a:noAutofit/>
            </a:bodyPr>
            <a:lstStyle/>
            <a:p>
              <a:pPr marL="0" indent="0" defTabSz="914400" eaLnBrk="0" fontAlgn="base" hangingPunct="0">
                <a:buNone/>
              </a:pPr>
              <a:r>
                <a:rPr lang="en-US" sz="1000" dirty="0">
                  <a:solidFill>
                    <a:srgbClr val="2E4A66"/>
                  </a:solidFill>
                  <a:latin typeface="Times New Roman" panose="02020603050405020304" pitchFamily="18" charset="0"/>
                  <a:ea typeface="微软雅黑" panose="020B0503020204020204" pitchFamily="34" charset="-122"/>
                  <a:cs typeface="微软雅黑" panose="020B0503020204020204" pitchFamily="34" charset="-120"/>
                </a:rPr>
                <a:t>通过情景任务训练模型“学会学习”，提升新无人机快速适应能力</a:t>
              </a:r>
              <a:endParaRPr lang="en-US" sz="1000" dirty="0">
                <a:solidFill>
                  <a:srgbClr val="2E4A66"/>
                </a:solidFill>
                <a:latin typeface="Times New Roman" panose="02020603050405020304" pitchFamily="18" charset="0"/>
                <a:ea typeface="微软雅黑" panose="020B0503020204020204" pitchFamily="34" charset="-122"/>
                <a:cs typeface="微软雅黑" panose="020B0503020204020204" pitchFamily="34" charset="-120"/>
              </a:endParaRPr>
            </a:p>
          </p:txBody>
        </p:sp>
        <mc:AlternateContent xmlns:mc="http://schemas.openxmlformats.org/markup-compatibility/2006">
          <mc:Choice xmlns:a14="http://schemas.microsoft.com/office/drawing/2010/main" Requires="a14">
            <p:sp>
              <p:nvSpPr>
                <p:cNvPr id="57" name="Text 26"/>
                <p:cNvSpPr/>
                <p:nvPr/>
              </p:nvSpPr>
              <p:spPr>
                <a:xfrm>
                  <a:off x="7625" y="3258"/>
                  <a:ext cx="3608" cy="691"/>
                </a:xfrm>
                <a:prstGeom prst="rect">
                  <a:avLst/>
                </a:prstGeom>
                <a:noFill/>
              </p:spPr>
              <p:txBody>
                <a:bodyPr wrap="square" rtlCol="0" anchor="ctr"/>
                <a:lstStyle/>
                <a:p>
                  <a:pPr marL="0" indent="0" algn="ctr" defTabSz="914400" eaLnBrk="0" fontAlgn="base" hangingPunct="0">
                    <a:buNone/>
                  </a:pPr>
                  <a14:m>
                    <m:oMathPara xmlns:m="http://schemas.openxmlformats.org/officeDocument/2006/math">
                      <m:oMathParaPr>
                        <m:jc m:val="centerGroup"/>
                      </m:oMathParaPr>
                      <m:oMath xmlns:m="http://schemas.openxmlformats.org/officeDocument/2006/math">
                        <m:r>
                          <m:rPr>
                            <m:sty m:val="p"/>
                          </m:rPr>
                          <a:rPr lang="en-US" sz="1220" dirty="0">
                            <a:solidFill>
                              <a:srgbClr val="2F75B5"/>
                            </a:solidFill>
                            <a:latin typeface="Cambria Math" panose="02040503050406030204" charset="0"/>
                            <a:ea typeface="微软雅黑" panose="020B0503020204020204" pitchFamily="34" charset="-122"/>
                            <a:cs typeface="Cambria Math" panose="02040503050406030204" charset="0"/>
                          </a:rPr>
                          <m:t>z</m:t>
                        </m:r>
                        <m:r>
                          <a:rPr lang="en-US" sz="1220" dirty="0">
                            <a:solidFill>
                              <a:srgbClr val="2F75B5"/>
                            </a:solidFill>
                            <a:latin typeface="Cambria Math" panose="02040503050406030204" charset="0"/>
                            <a:ea typeface="MS Mincho" charset="0"/>
                            <a:cs typeface="Cambria Math" panose="02040503050406030204" charset="0"/>
                          </a:rPr>
                          <m:t>=</m:t>
                        </m:r>
                        <m:sSub>
                          <m:sSubPr>
                            <m:ctrlPr>
                              <a:rPr lang="en-US" sz="1220" dirty="0">
                                <a:solidFill>
                                  <a:srgbClr val="2F75B5"/>
                                </a:solidFill>
                                <a:latin typeface="Cambria Math" panose="02040503050406030204" charset="0"/>
                                <a:ea typeface="微软雅黑" panose="020B0503020204020204" pitchFamily="34" charset="-122"/>
                                <a:cs typeface="Cambria Math" panose="02040503050406030204" charset="0"/>
                              </a:rPr>
                            </m:ctrlPr>
                          </m:sSubPr>
                          <m:e>
                            <m:r>
                              <a:rPr lang="en-US" sz="1220" dirty="0">
                                <a:solidFill>
                                  <a:srgbClr val="2F75B5"/>
                                </a:solidFill>
                                <a:latin typeface="Cambria Math" panose="02040503050406030204" charset="0"/>
                                <a:ea typeface="微软雅黑" panose="020B0503020204020204" pitchFamily="34" charset="-122"/>
                                <a:cs typeface="Cambria Math" panose="02040503050406030204" charset="0"/>
                              </a:rPr>
                              <m:t>𝑓</m:t>
                            </m:r>
                          </m:e>
                          <m:sub>
                            <m:r>
                              <a:rPr lang="en-US" sz="1220" dirty="0">
                                <a:solidFill>
                                  <a:srgbClr val="2F75B5"/>
                                </a:solidFill>
                                <a:latin typeface="Cambria Math" panose="02040503050406030204" charset="0"/>
                                <a:ea typeface="MS Mincho" charset="0"/>
                                <a:cs typeface="Cambria Math" panose="02040503050406030204" charset="0"/>
                              </a:rPr>
                              <m:t>𝜃</m:t>
                            </m:r>
                          </m:sub>
                        </m:sSub>
                        <m:r>
                          <a:rPr lang="en-US" sz="1220" dirty="0">
                            <a:solidFill>
                              <a:srgbClr val="2F75B5"/>
                            </a:solidFill>
                            <a:latin typeface="Cambria Math" panose="02040503050406030204" charset="0"/>
                            <a:ea typeface="MS Mincho" charset="0"/>
                            <a:cs typeface="Cambria Math" panose="02040503050406030204" charset="0"/>
                          </a:rPr>
                          <m:t>(</m:t>
                        </m:r>
                        <m:r>
                          <a:rPr lang="en-US" sz="1220" dirty="0">
                            <a:solidFill>
                              <a:srgbClr val="2F75B5"/>
                            </a:solidFill>
                            <a:latin typeface="Cambria Math" panose="02040503050406030204" charset="0"/>
                            <a:ea typeface="微软雅黑" panose="020B0503020204020204" pitchFamily="34" charset="-122"/>
                            <a:cs typeface="Cambria Math" panose="02040503050406030204" charset="0"/>
                          </a:rPr>
                          <m:t>𝑥</m:t>
                        </m:r>
                        <m:r>
                          <a:rPr lang="en-US" sz="1220" dirty="0">
                            <a:solidFill>
                              <a:srgbClr val="2F75B5"/>
                            </a:solidFill>
                            <a:latin typeface="Cambria Math" panose="02040503050406030204" charset="0"/>
                            <a:ea typeface="MS Mincho" charset="0"/>
                            <a:cs typeface="Cambria Math" panose="02040503050406030204" charset="0"/>
                          </a:rPr>
                          <m:t>)</m:t>
                        </m:r>
                      </m:oMath>
                    </m:oMathPara>
                  </a14:m>
                  <a:endParaRPr lang="en-US" sz="1220" dirty="0">
                    <a:solidFill>
                      <a:srgbClr val="2F75B5"/>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57" name="Text 26"/>
                <p:cNvSpPr>
                  <a:spLocks noRot="1" noChangeAspect="1" noMove="1" noResize="1" noEditPoints="1" noAdjustHandles="1" noChangeArrowheads="1" noChangeShapeType="1" noTextEdit="1"/>
                </p:cNvSpPr>
                <p:nvPr/>
              </p:nvSpPr>
              <p:spPr>
                <a:xfrm>
                  <a:off x="7625" y="3258"/>
                  <a:ext cx="3608" cy="691"/>
                </a:xfrm>
                <a:prstGeom prst="rect">
                  <a:avLst/>
                </a:prstGeom>
                <a:blipFill rotWithShape="1">
                  <a:blip r:embed="rId1"/>
                </a:blipFill>
              </p:spPr>
              <p:txBody>
                <a:bodyPr/>
                <a:lstStyle/>
                <a:p>
                  <a:r>
                    <a:rPr lang="zh-CN" altLang="en-US">
                      <a:noFill/>
                    </a:rPr>
                    <a:t> </a:t>
                  </a:r>
                </a:p>
              </p:txBody>
            </p:sp>
          </mc:Fallback>
        </mc:AlternateContent>
        <p:sp>
          <p:nvSpPr>
            <p:cNvPr id="58" name="Text 27"/>
            <p:cNvSpPr/>
            <p:nvPr/>
          </p:nvSpPr>
          <p:spPr>
            <a:xfrm>
              <a:off x="9130" y="4752"/>
              <a:ext cx="1814" cy="360"/>
            </a:xfrm>
            <a:prstGeom prst="rect">
              <a:avLst/>
            </a:prstGeom>
            <a:noFill/>
          </p:spPr>
          <p:txBody>
            <a:bodyPr wrap="square" rtlCol="0" anchor="ctr"/>
            <a:lstStyle/>
            <a:p>
              <a:pPr marL="0" indent="0" algn="ctr" defTabSz="914400" eaLnBrk="0" fontAlgn="base" hangingPunct="0">
                <a:buNone/>
              </a:pPr>
              <a:endParaRPr lang="en-US" sz="122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9" name="Text 28"/>
            <p:cNvSpPr/>
            <p:nvPr/>
          </p:nvSpPr>
          <p:spPr>
            <a:xfrm>
              <a:off x="5623" y="7536"/>
              <a:ext cx="4418" cy="605"/>
            </a:xfrm>
            <a:prstGeom prst="hexagon">
              <a:avLst/>
            </a:prstGeom>
            <a:solidFill>
              <a:srgbClr val="173A7A"/>
            </a:solidFill>
            <a:ln>
              <a:solidFill>
                <a:srgbClr val="173A7A"/>
              </a:solidFill>
            </a:ln>
          </p:spPr>
          <p:txBody>
            <a:bodyPr wrap="square" lIns="254" tIns="254" rIns="254" bIns="254" rtlCol="0" anchor="ctr"/>
            <a:lstStyle/>
            <a:p>
              <a:pPr marL="0" indent="0" algn="ctr" defTabSz="914400" eaLnBrk="0" fontAlgn="base" hangingPunct="0">
                <a:buNone/>
              </a:pPr>
              <a:r>
                <a:rPr lang="en-US" sz="16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Meta-DML</a:t>
              </a:r>
              <a:endParaRPr lang="en-US" sz="16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0" name="Text 29"/>
            <p:cNvSpPr/>
            <p:nvPr/>
          </p:nvSpPr>
          <p:spPr>
            <a:xfrm>
              <a:off x="3976" y="8152"/>
              <a:ext cx="7975" cy="461"/>
            </a:xfrm>
            <a:prstGeom prst="rect">
              <a:avLst/>
            </a:prstGeom>
            <a:noFill/>
          </p:spPr>
          <p:txBody>
            <a:bodyPr wrap="square" lIns="1016" tIns="1016" rIns="1016" bIns="1016" rtlCol="0" anchor="ctr">
              <a:noAutofit/>
            </a:bodyPr>
            <a:lstStyle/>
            <a:p>
              <a:pPr marL="0" indent="0" algn="ctr" defTabSz="914400" eaLnBrk="0" fontAlgn="base" hangingPunct="0">
                <a:buNone/>
              </a:pPr>
              <a:r>
                <a:rPr lang="en-US" sz="1300" b="1" dirty="0">
                  <a:solidFill>
                    <a:srgbClr val="173A7A"/>
                  </a:solidFill>
                  <a:latin typeface="微软雅黑" panose="020B0503020204020204" pitchFamily="34" charset="-122"/>
                  <a:ea typeface="微软雅黑" panose="020B0503020204020204" pitchFamily="34" charset="-122"/>
                  <a:cs typeface="微软雅黑" panose="020B0503020204020204" pitchFamily="34" charset="-120"/>
                </a:rPr>
                <a:t>轻量化特征 + 原型度量 + 元学习训练</a:t>
              </a:r>
              <a:endParaRPr lang="en-US" sz="1300" b="1" dirty="0">
                <a:solidFill>
                  <a:srgbClr val="173A7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1" name="Text 30"/>
            <p:cNvSpPr/>
            <p:nvPr/>
          </p:nvSpPr>
          <p:spPr>
            <a:xfrm>
              <a:off x="12600" y="3257"/>
              <a:ext cx="2520" cy="648"/>
            </a:xfrm>
            <a:prstGeom prst="roundRect">
              <a:avLst/>
            </a:prstGeom>
            <a:solidFill>
              <a:srgbClr val="EAF3FF"/>
            </a:solidFill>
            <a:ln w="15240">
              <a:solidFill>
                <a:srgbClr val="2F75B5"/>
              </a:solidFill>
            </a:ln>
          </p:spPr>
          <p:txBody>
            <a:bodyPr wrap="square" lIns="1016" tIns="1016" rIns="1016" bIns="1016" rtlCol="0" anchor="ctr">
              <a:normAutofit/>
            </a:bodyPr>
            <a:lstStyle/>
            <a:p>
              <a:pPr marL="0" indent="0" algn="ctr" defTabSz="914400" eaLnBrk="0" fontAlgn="base" hangingPunct="0">
                <a:buNone/>
              </a:pPr>
              <a:r>
                <a:rPr lang="en-US" sz="12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少样本可训练</a:t>
              </a:r>
              <a:endParaRPr lang="en-US" sz="120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2" name="Text 31"/>
            <p:cNvSpPr/>
            <p:nvPr/>
          </p:nvSpPr>
          <p:spPr>
            <a:xfrm>
              <a:off x="12227" y="3947"/>
              <a:ext cx="3865" cy="660"/>
            </a:xfrm>
            <a:prstGeom prst="rect">
              <a:avLst/>
            </a:prstGeom>
            <a:noFill/>
          </p:spPr>
          <p:txBody>
            <a:bodyPr wrap="square" lIns="1016" tIns="1016" rIns="1016" bIns="1016" rtlCol="0" anchor="ctr">
              <a:normAutofit lnSpcReduction="20000"/>
            </a:bodyPr>
            <a:lstStyle/>
            <a:p>
              <a:pPr marL="0" indent="0" algn="ctr" defTabSz="914400" eaLnBrk="0" fontAlgn="base" hangingPunct="0">
                <a:buNone/>
              </a:pPr>
              <a:r>
                <a:rPr lang="en-US" sz="105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降低对大规模标注数据的依赖</a:t>
              </a:r>
              <a:endParaRPr lang="en-US" sz="105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3" name="Text 32"/>
            <p:cNvSpPr/>
            <p:nvPr/>
          </p:nvSpPr>
          <p:spPr>
            <a:xfrm>
              <a:off x="12600" y="4781"/>
              <a:ext cx="2520" cy="576"/>
            </a:xfrm>
            <a:prstGeom prst="roundRect">
              <a:avLst/>
            </a:prstGeom>
            <a:solidFill>
              <a:srgbClr val="E8F4E3"/>
            </a:solidFill>
            <a:ln w="15240">
              <a:solidFill>
                <a:srgbClr val="62A95A"/>
              </a:solidFill>
            </a:ln>
          </p:spPr>
          <p:txBody>
            <a:bodyPr wrap="square" lIns="1016" tIns="1016" rIns="1016" bIns="1016" rtlCol="0" anchor="ctr">
              <a:normAutofit/>
            </a:bodyPr>
            <a:lstStyle/>
            <a:p>
              <a:pPr marL="0" indent="0" algn="ctr" defTabSz="914400" eaLnBrk="0" fontAlgn="base" hangingPunct="0">
                <a:buNone/>
              </a:pPr>
              <a:r>
                <a:rPr lang="en-US" sz="12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rPr>
                <a:t>抗幅度扰动</a:t>
              </a:r>
              <a:endParaRPr lang="en-US" sz="120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4" name="Text 33"/>
            <p:cNvSpPr/>
            <p:nvPr/>
          </p:nvSpPr>
          <p:spPr>
            <a:xfrm>
              <a:off x="12426" y="5400"/>
              <a:ext cx="2970" cy="989"/>
            </a:xfrm>
            <a:prstGeom prst="rect">
              <a:avLst/>
            </a:prstGeom>
            <a:noFill/>
          </p:spPr>
          <p:txBody>
            <a:bodyPr wrap="square" lIns="1016" tIns="1016" rIns="1016" bIns="1016" rtlCol="0" anchor="ctr">
              <a:noAutofit/>
            </a:bodyPr>
            <a:lstStyle/>
            <a:p>
              <a:pPr marL="0" indent="0" algn="l" defTabSz="914400" eaLnBrk="0" fontAlgn="base" hangingPunct="0">
                <a:buNone/>
              </a:pPr>
              <a:r>
                <a:rPr lang="en-US" sz="100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余弦度量关注特征方向，削弱信道幅度变化影响</a:t>
              </a:r>
              <a:endParaRPr lang="en-US" sz="100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5" name="Text 34"/>
            <p:cNvSpPr/>
            <p:nvPr/>
          </p:nvSpPr>
          <p:spPr>
            <a:xfrm>
              <a:off x="12600" y="6538"/>
              <a:ext cx="2520" cy="576"/>
            </a:xfrm>
            <a:prstGeom prst="roundRect">
              <a:avLst/>
            </a:prstGeom>
            <a:solidFill>
              <a:srgbClr val="FFF0D6"/>
            </a:solidFill>
            <a:ln w="15240">
              <a:solidFill>
                <a:srgbClr val="F39C12"/>
              </a:solidFill>
            </a:ln>
          </p:spPr>
          <p:txBody>
            <a:bodyPr wrap="square" lIns="1016" tIns="1016" rIns="1016" bIns="1016" rtlCol="0" anchor="ctr">
              <a:normAutofit/>
            </a:bodyPr>
            <a:lstStyle/>
            <a:p>
              <a:pPr marL="0" indent="0" algn="ctr" defTabSz="914400" eaLnBrk="0" fontAlgn="base" hangingPunct="0">
                <a:buNone/>
              </a:pPr>
              <a:r>
                <a:rPr lang="en-US" sz="120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rPr>
                <a:t>特征更可分</a:t>
              </a:r>
              <a:endParaRPr lang="en-US" sz="120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6" name="Text 35"/>
            <p:cNvSpPr/>
            <p:nvPr/>
          </p:nvSpPr>
          <p:spPr>
            <a:xfrm>
              <a:off x="12427" y="7157"/>
              <a:ext cx="2880" cy="720"/>
            </a:xfrm>
            <a:prstGeom prst="rect">
              <a:avLst/>
            </a:prstGeom>
            <a:noFill/>
          </p:spPr>
          <p:txBody>
            <a:bodyPr wrap="square" lIns="1016" tIns="1016" rIns="1016" bIns="1016" rtlCol="0" anchor="ctr">
              <a:normAutofit/>
            </a:bodyPr>
            <a:lstStyle/>
            <a:p>
              <a:pPr marL="0" indent="0" algn="ctr" defTabSz="914400" eaLnBrk="0" fontAlgn="base" hangingPunct="0">
                <a:buNone/>
              </a:pPr>
              <a:r>
                <a:rPr lang="en-US" sz="105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rPr>
                <a:t>推动类内紧凑、类间分离</a:t>
              </a:r>
              <a:endParaRPr lang="en-US" sz="1050" dirty="0">
                <a:solidFill>
                  <a:srgbClr val="2B3A4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7" name="Text 36"/>
            <p:cNvSpPr/>
            <p:nvPr/>
          </p:nvSpPr>
          <p:spPr>
            <a:xfrm>
              <a:off x="16272" y="3654"/>
              <a:ext cx="1801" cy="647"/>
            </a:xfrm>
            <a:prstGeom prst="roundRect">
              <a:avLst/>
            </a:prstGeom>
            <a:solidFill>
              <a:srgbClr val="EAF3FF"/>
            </a:solidFill>
            <a:ln w="15240">
              <a:solidFill>
                <a:srgbClr val="2F75B5"/>
              </a:solidFill>
            </a:ln>
          </p:spPr>
          <p:txBody>
            <a:bodyPr wrap="square" lIns="1016" tIns="1016" rIns="1016" bIns="1016" rtlCol="0" anchor="ctr">
              <a:normAutofit/>
            </a:bodyPr>
            <a:lstStyle/>
            <a:p>
              <a:pPr marL="0" indent="0" algn="ctr" defTabSz="914400" eaLnBrk="0" fontAlgn="base" hangingPunct="0">
                <a:buNone/>
              </a:pPr>
              <a:r>
                <a:rPr lang="en-US" sz="112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rPr>
                <a:t>Vue.js 前端</a:t>
              </a:r>
              <a:endParaRPr lang="en-US" sz="1120" b="1" dirty="0">
                <a:solidFill>
                  <a:srgbClr val="173A7A"/>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8" name="Text 37"/>
            <p:cNvSpPr/>
            <p:nvPr/>
          </p:nvSpPr>
          <p:spPr>
            <a:xfrm>
              <a:off x="16272" y="4456"/>
              <a:ext cx="1800" cy="547"/>
            </a:xfrm>
            <a:prstGeom prst="roundRect">
              <a:avLst/>
            </a:prstGeom>
            <a:solidFill>
              <a:srgbClr val="E8F4E3"/>
            </a:solidFill>
            <a:ln w="15240">
              <a:solidFill>
                <a:srgbClr val="62A95A"/>
              </a:solidFill>
            </a:ln>
          </p:spPr>
          <p:txBody>
            <a:bodyPr wrap="square" lIns="1016" tIns="1016" rIns="1016" bIns="1016" rtlCol="0" anchor="ctr">
              <a:normAutofit fontScale="80000"/>
            </a:bodyPr>
            <a:lstStyle/>
            <a:p>
              <a:pPr marL="0" indent="0" algn="ctr" defTabSz="914400" eaLnBrk="0" fontAlgn="base" hangingPunct="0">
                <a:buNone/>
              </a:pPr>
              <a:r>
                <a:rPr lang="en-US" sz="112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rPr>
                <a:t>Spring Boot 后端</a:t>
              </a:r>
              <a:endParaRPr lang="en-US" sz="1120" b="1" dirty="0">
                <a:solidFill>
                  <a:srgbClr val="245A2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69" name="Text 38"/>
            <p:cNvSpPr/>
            <p:nvPr/>
          </p:nvSpPr>
          <p:spPr>
            <a:xfrm>
              <a:off x="16272" y="5320"/>
              <a:ext cx="1800" cy="547"/>
            </a:xfrm>
            <a:prstGeom prst="roundRect">
              <a:avLst/>
            </a:prstGeom>
            <a:solidFill>
              <a:srgbClr val="EFE7FF"/>
            </a:solidFill>
            <a:ln w="15240">
              <a:solidFill>
                <a:srgbClr val="7657B8"/>
              </a:solidFill>
            </a:ln>
          </p:spPr>
          <p:txBody>
            <a:bodyPr wrap="square" lIns="1016" tIns="1016" rIns="1016" bIns="1016" rtlCol="0" anchor="ctr">
              <a:normAutofit fontScale="80000"/>
            </a:bodyPr>
            <a:lstStyle/>
            <a:p>
              <a:pPr marL="0" indent="0" algn="ctr" defTabSz="914400" eaLnBrk="0" fontAlgn="base" hangingPunct="0">
                <a:buNone/>
              </a:pPr>
              <a:r>
                <a:rPr lang="en-US" sz="1120" b="1" dirty="0">
                  <a:solidFill>
                    <a:srgbClr val="3C2A72"/>
                  </a:solidFill>
                  <a:latin typeface="Times New Roman" panose="02020603050405020304" pitchFamily="18" charset="0"/>
                  <a:ea typeface="微软雅黑" panose="020B0503020204020204" pitchFamily="34" charset="-122"/>
                  <a:cs typeface="微软雅黑" panose="020B0503020204020204" pitchFamily="34" charset="-120"/>
                </a:rPr>
                <a:t>Python 算法脚本</a:t>
              </a:r>
              <a:endParaRPr lang="en-US" sz="1120" b="1" dirty="0">
                <a:solidFill>
                  <a:srgbClr val="3C2A7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70" name="Text 39"/>
            <p:cNvSpPr/>
            <p:nvPr/>
          </p:nvSpPr>
          <p:spPr>
            <a:xfrm>
              <a:off x="16195" y="6494"/>
              <a:ext cx="1987" cy="835"/>
            </a:xfrm>
            <a:prstGeom prst="roundRect">
              <a:avLst/>
            </a:prstGeom>
            <a:solidFill>
              <a:srgbClr val="FFF8E6"/>
            </a:solidFill>
            <a:ln w="15240">
              <a:solidFill>
                <a:srgbClr val="F39C12"/>
              </a:solidFill>
            </a:ln>
          </p:spPr>
          <p:txBody>
            <a:bodyPr wrap="square" lIns="1016" tIns="1016" rIns="1016" bIns="1016" rtlCol="0" anchor="ctr">
              <a:normAutofit/>
            </a:bodyPr>
            <a:lstStyle/>
            <a:p>
              <a:pPr marL="0" indent="0" algn="ctr" defTabSz="914400" eaLnBrk="0" fontAlgn="base" hangingPunct="0">
                <a:buNone/>
              </a:pPr>
              <a:r>
                <a:rPr lang="en-US" sz="107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rPr>
                <a:t>训练 / 测试 / 可视化 / 日志</a:t>
              </a:r>
              <a:endParaRPr lang="en-US" sz="1070" b="1" dirty="0">
                <a:solidFill>
                  <a:srgbClr val="7A4B00"/>
                </a:solidFill>
                <a:latin typeface="Times New Roman" panose="02020603050405020304" pitchFamily="18" charset="0"/>
                <a:ea typeface="微软雅黑" panose="020B0503020204020204" pitchFamily="34" charset="-122"/>
                <a:cs typeface="微软雅黑" panose="020B0503020204020204" pitchFamily="34" charset="-120"/>
              </a:endParaRPr>
            </a:p>
          </p:txBody>
        </p:sp>
      </p:grpSp>
      <p:graphicFrame>
        <p:nvGraphicFramePr>
          <p:cNvPr id="73" name="对象 72">
            <a:hlinkClick r:id="" action="ppaction://ole?verb="/>
          </p:cNvPr>
          <p:cNvGraphicFramePr>
            <a:graphicFrameLocks noChangeAspect="1"/>
          </p:cNvGraphicFramePr>
          <p:nvPr/>
        </p:nvGraphicFramePr>
        <p:xfrm>
          <a:off x="4514850" y="2463800"/>
          <a:ext cx="114300" cy="215900"/>
        </p:xfrm>
        <a:graphic>
          <a:graphicData uri="http://schemas.openxmlformats.org/presentationml/2006/ole">
            <mc:AlternateContent xmlns:mc="http://schemas.openxmlformats.org/markup-compatibility/2006">
              <mc:Choice xmlns:v="urn:schemas-microsoft-com:vml" Requires="v">
                <p:oleObj spid="_x0000_s2049" name="" r:id="rId2" imgW="114300" imgH="215900" progId="Equation.KSEE3">
                  <p:embed/>
                </p:oleObj>
              </mc:Choice>
              <mc:Fallback>
                <p:oleObj name="" r:id="rId2" imgW="114300" imgH="215900" progId="Equation.KSEE3">
                  <p:embed/>
                  <p:pic>
                    <p:nvPicPr>
                      <p:cNvPr id="0" name="图片 2048"/>
                      <p:cNvPicPr/>
                      <p:nvPr/>
                    </p:nvPicPr>
                    <p:blipFill>
                      <a:blip r:embed="rId3"/>
                      <a:stretch>
                        <a:fillRect/>
                      </a:stretch>
                    </p:blipFill>
                    <p:spPr>
                      <a:xfrm>
                        <a:off x="4514850" y="2463800"/>
                        <a:ext cx="114300" cy="2159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blinds(horizontal)">
                                      <p:cBhvr>
                                        <p:cTn id="7" dur="5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P spid="6349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基于</a:t>
              </a:r>
              <a:r>
                <a:rPr lang="en-US" altLang="zh-CN"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Meta-DML</a:t>
              </a:r>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的识别方法设计</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仿真实验设置</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10" name="Rectangle 9"/>
          <p:cNvSpPr/>
          <p:nvPr/>
        </p:nvSpPr>
        <p:spPr>
          <a:xfrm>
            <a:off x="731520" y="1337310"/>
            <a:ext cx="7680960" cy="640080"/>
          </a:xfrm>
          <a:prstGeom prst="rect">
            <a:avLst/>
          </a:prstGeom>
          <a:solidFill>
            <a:srgbClr val="EFF7FD"/>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1" name="TextBox 10"/>
          <p:cNvSpPr txBox="1"/>
          <p:nvPr/>
        </p:nvSpPr>
        <p:spPr>
          <a:xfrm>
            <a:off x="822960" y="1410462"/>
            <a:ext cx="1417320" cy="219710"/>
          </a:xfrm>
          <a:prstGeom prst="rect">
            <a:avLst/>
          </a:prstGeom>
          <a:noFill/>
        </p:spPr>
        <p:txBody>
          <a:bodyPr wrap="square" lIns="36576" tIns="18288" rIns="36576" bIns="18288" anchor="t">
            <a:spAutoFit/>
          </a:bodyPr>
          <a:lstStyle/>
          <a:p>
            <a:pPr algn="l" defTabSz="914400" eaLnBrk="0" fontAlgn="base" hangingPunct="0">
              <a:defRPr sz="1200" b="1">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实验数据</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TextBox 11"/>
          <p:cNvSpPr txBox="1"/>
          <p:nvPr/>
        </p:nvSpPr>
        <p:spPr>
          <a:xfrm>
            <a:off x="2423160" y="1410462"/>
            <a:ext cx="5897880" cy="219710"/>
          </a:xfrm>
          <a:prstGeom prst="rect">
            <a:avLst/>
          </a:prstGeom>
          <a:noFill/>
        </p:spPr>
        <p:txBody>
          <a:bodyPr wrap="square" lIns="36576" tIns="18288" rIns="36576" bIns="18288" anchor="t">
            <a:spAutoFit/>
          </a:bodyPr>
          <a:lstStyle/>
          <a:p>
            <a:pPr algn="l" defTabSz="914400" eaLnBrk="0" fontAlgn="base" hangingPunct="0">
              <a:defRPr sz="12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I/Q 复基带信号样本，标签对应不同无人机或发射设备类别。</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Rectangle 12"/>
          <p:cNvSpPr/>
          <p:nvPr/>
        </p:nvSpPr>
        <p:spPr>
          <a:xfrm>
            <a:off x="731520" y="1977390"/>
            <a:ext cx="7680960" cy="640080"/>
          </a:xfrm>
          <a:prstGeom prst="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4" name="TextBox 13"/>
          <p:cNvSpPr txBox="1"/>
          <p:nvPr/>
        </p:nvSpPr>
        <p:spPr>
          <a:xfrm>
            <a:off x="822960" y="2050541"/>
            <a:ext cx="1417320" cy="219710"/>
          </a:xfrm>
          <a:prstGeom prst="rect">
            <a:avLst/>
          </a:prstGeom>
          <a:noFill/>
        </p:spPr>
        <p:txBody>
          <a:bodyPr wrap="square" lIns="36576" tIns="18288" rIns="36576" bIns="18288" anchor="t">
            <a:spAutoFit/>
          </a:bodyPr>
          <a:lstStyle/>
          <a:p>
            <a:pPr algn="l" defTabSz="914400" eaLnBrk="0" fontAlgn="base" hangingPunct="0">
              <a:defRPr sz="1200" b="1">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少样本设置</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TextBox 14"/>
          <p:cNvSpPr txBox="1"/>
          <p:nvPr/>
        </p:nvSpPr>
        <p:spPr>
          <a:xfrm>
            <a:off x="2423160" y="2050541"/>
            <a:ext cx="5897880" cy="219710"/>
          </a:xfrm>
          <a:prstGeom prst="rect">
            <a:avLst/>
          </a:prstGeom>
          <a:noFill/>
        </p:spPr>
        <p:txBody>
          <a:bodyPr wrap="square" lIns="36576" tIns="18288" rIns="36576" bIns="18288" anchor="t">
            <a:spAutoFit/>
          </a:bodyPr>
          <a:lstStyle/>
          <a:p>
            <a:pPr algn="l" defTabSz="914400" eaLnBrk="0" fontAlgn="base" hangingPunct="0">
              <a:defRPr sz="12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N-way K-shot 情景任务，重点分析 1/5/10/15/20-shot 条件。</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Rectangle 15"/>
          <p:cNvSpPr/>
          <p:nvPr/>
        </p:nvSpPr>
        <p:spPr>
          <a:xfrm>
            <a:off x="731520" y="2617470"/>
            <a:ext cx="7680960" cy="640080"/>
          </a:xfrm>
          <a:prstGeom prst="rect">
            <a:avLst/>
          </a:prstGeom>
          <a:solidFill>
            <a:srgbClr val="EFF7FD"/>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7" name="TextBox 16"/>
          <p:cNvSpPr txBox="1"/>
          <p:nvPr/>
        </p:nvSpPr>
        <p:spPr>
          <a:xfrm>
            <a:off x="822960" y="2690622"/>
            <a:ext cx="1417320" cy="219710"/>
          </a:xfrm>
          <a:prstGeom prst="rect">
            <a:avLst/>
          </a:prstGeom>
          <a:noFill/>
        </p:spPr>
        <p:txBody>
          <a:bodyPr wrap="square" lIns="36576" tIns="18288" rIns="36576" bIns="18288" anchor="t">
            <a:spAutoFit/>
          </a:bodyPr>
          <a:lstStyle/>
          <a:p>
            <a:pPr algn="l" defTabSz="914400" eaLnBrk="0" fontAlgn="base" hangingPunct="0">
              <a:defRPr sz="1200" b="1">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信道环境</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TextBox 17"/>
          <p:cNvSpPr txBox="1"/>
          <p:nvPr/>
        </p:nvSpPr>
        <p:spPr>
          <a:xfrm>
            <a:off x="2423160" y="2690622"/>
            <a:ext cx="5897880" cy="219710"/>
          </a:xfrm>
          <a:prstGeom prst="rect">
            <a:avLst/>
          </a:prstGeom>
          <a:noFill/>
        </p:spPr>
        <p:txBody>
          <a:bodyPr wrap="square" lIns="36576" tIns="18288" rIns="36576" bIns="18288" anchor="t">
            <a:spAutoFit/>
          </a:bodyPr>
          <a:lstStyle/>
          <a:p>
            <a:pPr algn="l" defTabSz="914400" eaLnBrk="0" fontAlgn="base" hangingPunct="0">
              <a:defRPr sz="12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引入加性高斯白噪声（AWGN）与瑞利多径衰落。</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9" name="Rectangle 18"/>
          <p:cNvSpPr/>
          <p:nvPr/>
        </p:nvSpPr>
        <p:spPr>
          <a:xfrm>
            <a:off x="731520" y="3257549"/>
            <a:ext cx="7680960" cy="640080"/>
          </a:xfrm>
          <a:prstGeom prst="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20" name="TextBox 19"/>
          <p:cNvSpPr txBox="1"/>
          <p:nvPr/>
        </p:nvSpPr>
        <p:spPr>
          <a:xfrm>
            <a:off x="822960" y="3330701"/>
            <a:ext cx="1417320" cy="219710"/>
          </a:xfrm>
          <a:prstGeom prst="rect">
            <a:avLst/>
          </a:prstGeom>
          <a:noFill/>
        </p:spPr>
        <p:txBody>
          <a:bodyPr wrap="square" lIns="36576" tIns="18288" rIns="36576" bIns="18288" anchor="t">
            <a:spAutoFit/>
          </a:bodyPr>
          <a:lstStyle/>
          <a:p>
            <a:pPr algn="l" defTabSz="914400" eaLnBrk="0" fontAlgn="base" hangingPunct="0">
              <a:defRPr sz="1200" b="1">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对比内容</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1" name="TextBox 20"/>
          <p:cNvSpPr txBox="1"/>
          <p:nvPr/>
        </p:nvSpPr>
        <p:spPr>
          <a:xfrm>
            <a:off x="2423160" y="3330701"/>
            <a:ext cx="5897880" cy="219710"/>
          </a:xfrm>
          <a:prstGeom prst="rect">
            <a:avLst/>
          </a:prstGeom>
          <a:noFill/>
        </p:spPr>
        <p:txBody>
          <a:bodyPr wrap="square" lIns="36576" tIns="18288" rIns="36576" bIns="18288" anchor="t">
            <a:spAutoFit/>
          </a:bodyPr>
          <a:lstStyle/>
          <a:p>
            <a:pPr algn="l" defTabSz="914400" eaLnBrk="0" fontAlgn="base" hangingPunct="0">
              <a:defRPr sz="12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传统深度网络、欧氏距离度量与本文 Meta-DML 方法。</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 name="Rectangle 21"/>
          <p:cNvSpPr/>
          <p:nvPr/>
        </p:nvSpPr>
        <p:spPr>
          <a:xfrm>
            <a:off x="731520" y="3897630"/>
            <a:ext cx="7680960" cy="640080"/>
          </a:xfrm>
          <a:prstGeom prst="rect">
            <a:avLst/>
          </a:prstGeom>
          <a:solidFill>
            <a:srgbClr val="EFF7FD"/>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23" name="TextBox 22"/>
          <p:cNvSpPr txBox="1"/>
          <p:nvPr/>
        </p:nvSpPr>
        <p:spPr>
          <a:xfrm>
            <a:off x="822960" y="3970782"/>
            <a:ext cx="1417320" cy="219710"/>
          </a:xfrm>
          <a:prstGeom prst="rect">
            <a:avLst/>
          </a:prstGeom>
          <a:noFill/>
        </p:spPr>
        <p:txBody>
          <a:bodyPr wrap="square" lIns="36576" tIns="18288" rIns="36576" bIns="18288" anchor="t">
            <a:spAutoFit/>
          </a:bodyPr>
          <a:lstStyle/>
          <a:p>
            <a:pPr algn="l" defTabSz="914400" eaLnBrk="0" fontAlgn="base" hangingPunct="0">
              <a:defRPr sz="1200" b="1">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评价指标</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TextBox 23"/>
          <p:cNvSpPr txBox="1"/>
          <p:nvPr/>
        </p:nvSpPr>
        <p:spPr>
          <a:xfrm>
            <a:off x="2423160" y="3970782"/>
            <a:ext cx="5897880" cy="219710"/>
          </a:xfrm>
          <a:prstGeom prst="rect">
            <a:avLst/>
          </a:prstGeom>
          <a:noFill/>
        </p:spPr>
        <p:txBody>
          <a:bodyPr wrap="square" lIns="36576" tIns="18288" rIns="36576" bIns="18288" anchor="t">
            <a:spAutoFit/>
          </a:bodyPr>
          <a:lstStyle/>
          <a:p>
            <a:pPr algn="l" defTabSz="914400" eaLnBrk="0" fontAlgn="base" hangingPunct="0">
              <a:defRPr sz="12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识别准确率、不同信噪比下鲁棒性、t-SNE 特征可视化结果。</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不同信噪比下识别准确率对比 </a:t>
            </a:r>
            <a:endPar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7" name="组合 6"/>
          <p:cNvGrpSpPr/>
          <p:nvPr>
            <p:custDataLst>
              <p:tags r:id="rId1"/>
            </p:custDataLst>
          </p:nvPr>
        </p:nvGrpSpPr>
        <p:grpSpPr>
          <a:xfrm>
            <a:off x="88265" y="1170481"/>
            <a:ext cx="8930005" cy="3904439"/>
            <a:chOff x="792" y="2473"/>
            <a:chExt cx="17496" cy="7463"/>
          </a:xfrm>
        </p:grpSpPr>
        <p:pic>
          <p:nvPicPr>
            <p:cNvPr id="8" name="Picture 7" descr="image35.png"/>
            <p:cNvPicPr>
              <a:picLocks noChangeAspect="1"/>
            </p:cNvPicPr>
            <p:nvPr/>
          </p:nvPicPr>
          <p:blipFill>
            <a:blip r:embed="rId2"/>
            <a:stretch>
              <a:fillRect/>
            </a:stretch>
          </p:blipFill>
          <p:spPr>
            <a:xfrm>
              <a:off x="792" y="2684"/>
              <a:ext cx="10584" cy="6152"/>
            </a:xfrm>
            <a:prstGeom prst="rect">
              <a:avLst/>
            </a:prstGeom>
          </p:spPr>
        </p:pic>
        <p:sp>
          <p:nvSpPr>
            <p:cNvPr id="9" name="Rounded Rectangle 8"/>
            <p:cNvSpPr/>
            <p:nvPr>
              <p:custDataLst>
                <p:tags r:id="rId3"/>
              </p:custDataLst>
            </p:nvPr>
          </p:nvSpPr>
          <p:spPr>
            <a:xfrm>
              <a:off x="11736" y="2520"/>
              <a:ext cx="6552" cy="1944"/>
            </a:xfrm>
            <a:prstGeom prst="roundRect">
              <a:avLst/>
            </a:prstGeom>
            <a:solidFill>
              <a:srgbClr val="EEF6FF"/>
            </a:solidFill>
            <a:ln w="15240">
              <a:solidFill>
                <a:srgbClr val="255399"/>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 name="TextBox 9"/>
            <p:cNvSpPr txBox="1"/>
            <p:nvPr>
              <p:custDataLst>
                <p:tags r:id="rId4"/>
              </p:custDataLst>
            </p:nvPr>
          </p:nvSpPr>
          <p:spPr>
            <a:xfrm>
              <a:off x="11909" y="2473"/>
              <a:ext cx="6206" cy="504"/>
            </a:xfrm>
            <a:prstGeom prst="rect">
              <a:avLst/>
            </a:prstGeom>
            <a:noFill/>
          </p:spPr>
          <p:txBody>
            <a:bodyPr wrap="square">
              <a:noAutofit/>
            </a:bodyPr>
            <a:lstStyle/>
            <a:p>
              <a:pPr algn="l" defTabSz="914400" eaLnBrk="0" fontAlgn="base" hangingPunct="0">
                <a:defRPr sz="1600" b="1">
                  <a:solidFill>
                    <a:srgbClr val="255399"/>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现象一：高信噪比区域</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TextBox 10"/>
            <p:cNvSpPr txBox="1"/>
            <p:nvPr>
              <p:custDataLst>
                <p:tags r:id="rId5"/>
              </p:custDataLst>
            </p:nvPr>
          </p:nvSpPr>
          <p:spPr>
            <a:xfrm>
              <a:off x="11995" y="2861"/>
              <a:ext cx="6048" cy="1743"/>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SNR ≥ 10 dB 时，三类方法识别率均超过 90%</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信号特征清晰，传统 CNN 与度量方法差距缩小</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Rounded Rectangle 11"/>
            <p:cNvSpPr/>
            <p:nvPr>
              <p:custDataLst>
                <p:tags r:id="rId6"/>
              </p:custDataLst>
            </p:nvPr>
          </p:nvSpPr>
          <p:spPr>
            <a:xfrm>
              <a:off x="11736" y="4680"/>
              <a:ext cx="6552" cy="2304"/>
            </a:xfrm>
            <a:prstGeom prst="roundRect">
              <a:avLst/>
            </a:prstGeom>
            <a:solidFill>
              <a:srgbClr val="FFF4EC"/>
            </a:solidFill>
            <a:ln w="15240">
              <a:solidFill>
                <a:srgbClr val="E8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3" name="TextBox 12"/>
            <p:cNvSpPr txBox="1"/>
            <p:nvPr>
              <p:custDataLst>
                <p:tags r:id="rId7"/>
              </p:custDataLst>
            </p:nvPr>
          </p:nvSpPr>
          <p:spPr>
            <a:xfrm>
              <a:off x="11909" y="4633"/>
              <a:ext cx="6206" cy="504"/>
            </a:xfrm>
            <a:prstGeom prst="rect">
              <a:avLst/>
            </a:prstGeom>
            <a:noFill/>
          </p:spPr>
          <p:txBody>
            <a:bodyPr wrap="square">
              <a:noAutofit/>
            </a:bodyPr>
            <a:lstStyle/>
            <a:p>
              <a:pPr algn="l" defTabSz="914400" eaLnBrk="0" fontAlgn="base" hangingPunct="0">
                <a:defRPr sz="1600" b="1">
                  <a:solidFill>
                    <a:srgbClr val="E8823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现象二：低信噪比区域</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TextBox 13"/>
            <p:cNvSpPr txBox="1"/>
            <p:nvPr>
              <p:custDataLst>
                <p:tags r:id="rId8"/>
              </p:custDataLst>
            </p:nvPr>
          </p:nvSpPr>
          <p:spPr>
            <a:xfrm>
              <a:off x="11995" y="5219"/>
              <a:ext cx="6048" cy="1743"/>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SNR 降至 0 dB、-5 dB 后，传统 1D-CNN 准确率明显下降</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本文方法在低信噪比下仍保持较高识别率</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Rounded Rectangle 14"/>
            <p:cNvSpPr/>
            <p:nvPr>
              <p:custDataLst>
                <p:tags r:id="rId9"/>
              </p:custDataLst>
            </p:nvPr>
          </p:nvSpPr>
          <p:spPr>
            <a:xfrm>
              <a:off x="11736" y="7272"/>
              <a:ext cx="6552" cy="2089"/>
            </a:xfrm>
            <a:prstGeom prst="roundRect">
              <a:avLst/>
            </a:prstGeom>
            <a:solidFill>
              <a:srgbClr val="ECF8ED"/>
            </a:solidFill>
            <a:ln w="15240">
              <a:solidFill>
                <a:srgbClr val="5B9B5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6" name="TextBox 15"/>
            <p:cNvSpPr txBox="1"/>
            <p:nvPr>
              <p:custDataLst>
                <p:tags r:id="rId10"/>
              </p:custDataLst>
            </p:nvPr>
          </p:nvSpPr>
          <p:spPr>
            <a:xfrm>
              <a:off x="11909" y="7280"/>
              <a:ext cx="6206" cy="504"/>
            </a:xfrm>
            <a:prstGeom prst="rect">
              <a:avLst/>
            </a:prstGeom>
            <a:noFill/>
          </p:spPr>
          <p:txBody>
            <a:bodyPr wrap="square">
              <a:noAutofit/>
            </a:bodyPr>
            <a:lstStyle/>
            <a:p>
              <a:pPr algn="l" defTabSz="914400" eaLnBrk="0" fontAlgn="base" hangingPunct="0">
                <a:defRPr sz="1600" b="1">
                  <a:solidFill>
                    <a:srgbClr val="5B9B5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结论</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TextBox 16"/>
            <p:cNvSpPr txBox="1"/>
            <p:nvPr>
              <p:custDataLst>
                <p:tags r:id="rId11"/>
              </p:custDataLst>
            </p:nvPr>
          </p:nvSpPr>
          <p:spPr>
            <a:xfrm>
              <a:off x="11995" y="7657"/>
              <a:ext cx="6048" cy="1743"/>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元学习与度量学习联合训练能够减弱噪声干扰导致的过拟合问题</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在少样本低信噪比条件下具有更稳定的识别性能</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TextBox 17"/>
            <p:cNvSpPr txBox="1"/>
            <p:nvPr/>
          </p:nvSpPr>
          <p:spPr>
            <a:xfrm>
              <a:off x="1152" y="9432"/>
              <a:ext cx="16848" cy="504"/>
            </a:xfrm>
            <a:prstGeom prst="rect">
              <a:avLst/>
            </a:prstGeom>
            <a:noFill/>
          </p:spPr>
          <p:txBody>
            <a:bodyPr wrap="square">
              <a:noAutofit/>
            </a:bodyPr>
            <a:lstStyle/>
            <a:p>
              <a:pPr algn="ctr" defTabSz="914400" eaLnBrk="0" fontAlgn="base" hangingPunct="0">
                <a:defRPr sz="1350" b="1">
                  <a:solidFill>
                    <a:srgbClr val="142D55"/>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余弦相似度相容实验结果</a:t>
            </a:r>
            <a:r>
              <a:rPr sz="1600">
                <a:latin typeface="Times New Roman" panose="02020603050405020304" pitchFamily="18" charset="0"/>
                <a:ea typeface="微软雅黑" panose="020B0503020204020204" pitchFamily="34" charset="-122"/>
                <a:cs typeface="微软雅黑" panose="020B0503020204020204" pitchFamily="34" charset="-122"/>
                <a:sym typeface="微软雅黑" panose="020B0503020204020204" pitchFamily="34" charset="-122"/>
              </a:rPr>
              <a:t>余弦相似度消融实验结果</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pic>
        <p:nvPicPr>
          <p:cNvPr id="10" name="Picture 9" descr="a_clean_white_background_chart_image_publication.png"/>
          <p:cNvPicPr>
            <a:picLocks noChangeAspect="1"/>
          </p:cNvPicPr>
          <p:nvPr/>
        </p:nvPicPr>
        <p:blipFill>
          <a:blip r:embed="rId1"/>
          <a:stretch>
            <a:fillRect/>
          </a:stretch>
        </p:blipFill>
        <p:spPr>
          <a:xfrm>
            <a:off x="777239" y="1297305"/>
            <a:ext cx="4937760" cy="3291840"/>
          </a:xfrm>
          <a:prstGeom prst="rect">
            <a:avLst/>
          </a:prstGeom>
        </p:spPr>
      </p:pic>
      <p:sp>
        <p:nvSpPr>
          <p:cNvPr id="11" name="Rounded Rectangle 10"/>
          <p:cNvSpPr/>
          <p:nvPr/>
        </p:nvSpPr>
        <p:spPr>
          <a:xfrm>
            <a:off x="5989320" y="1474470"/>
            <a:ext cx="2514600" cy="2743200"/>
          </a:xfrm>
          <a:prstGeom prst="roundRect">
            <a:avLst/>
          </a:prstGeom>
          <a:solidFill>
            <a:srgbClr val="EEFAEE"/>
          </a:solidFill>
          <a:ln>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2" name="TextBox 11"/>
          <p:cNvSpPr txBox="1"/>
          <p:nvPr/>
        </p:nvSpPr>
        <p:spPr>
          <a:xfrm>
            <a:off x="6062472" y="1547622"/>
            <a:ext cx="2368296" cy="281305"/>
          </a:xfrm>
          <a:prstGeom prst="rect">
            <a:avLst/>
          </a:prstGeom>
          <a:noFill/>
        </p:spPr>
        <p:txBody>
          <a:bodyPr wrap="square" lIns="36576" tIns="18288" rIns="36576" bIns="18288" anchor="t">
            <a:spAutoFit/>
          </a:bodyPr>
          <a:lstStyle/>
          <a:p>
            <a:pPr algn="ctr" defTabSz="914400" eaLnBrk="0" fontAlgn="base" hangingPunct="0">
              <a:defRPr sz="1400" b="1">
                <a:solidFill>
                  <a:srgbClr val="002050"/>
                </a:solidFill>
                <a:latin typeface="微软雅黑" panose="020B0503020204020204" pitchFamily="34" charset="-122"/>
              </a:defRPr>
            </a:pPr>
            <a:r>
              <a:rPr sz="1600">
                <a:latin typeface="Times New Roman" panose="02020603050405020304" pitchFamily="18" charset="0"/>
                <a:ea typeface="微软雅黑" panose="020B0503020204020204" pitchFamily="34" charset="-122"/>
                <a:cs typeface="微软雅黑" panose="020B0503020204020204" pitchFamily="34" charset="-122"/>
              </a:rPr>
              <a:t>结果分析</a:t>
            </a:r>
            <a:endParaRPr sz="16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TextBox 12"/>
          <p:cNvSpPr txBox="1"/>
          <p:nvPr/>
        </p:nvSpPr>
        <p:spPr>
          <a:xfrm>
            <a:off x="6117336" y="1913382"/>
            <a:ext cx="2258568" cy="1758950"/>
          </a:xfrm>
          <a:prstGeom prst="rect">
            <a:avLst/>
          </a:prstGeom>
          <a:noFill/>
        </p:spPr>
        <p:txBody>
          <a:bodyPr wrap="square" lIns="36576" tIns="18288" rIns="36576" bIns="18288" anchor="t">
            <a:spAutoFit/>
          </a:bodyPr>
          <a:lstStyle/>
          <a:p>
            <a:pPr algn="l" defTabSz="914400" eaLnBrk="0" fontAlgn="base" hangingPunct="0">
              <a:defRPr sz="1100" b="0">
                <a:solidFill>
                  <a:srgbClr val="002050"/>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a:t>
            </a:r>
            <a:r>
              <a:rPr sz="1400">
                <a:latin typeface="Times New Roman" panose="02020603050405020304" pitchFamily="18" charset="0"/>
                <a:ea typeface="微软雅黑" panose="020B0503020204020204" pitchFamily="34" charset="-122"/>
                <a:cs typeface="微软雅黑" panose="020B0503020204020204" pitchFamily="34" charset="-122"/>
              </a:rPr>
              <a:t>信噪比升高时，两种度量方式准确率均提升。</a:t>
            </a:r>
            <a:br>
              <a:rPr sz="1400">
                <a:latin typeface="Times New Roman" panose="02020603050405020304" pitchFamily="18" charset="0"/>
                <a:ea typeface="微软雅黑" panose="020B0503020204020204" pitchFamily="34" charset="-122"/>
                <a:cs typeface="微软雅黑" panose="020B0503020204020204" pitchFamily="34" charset="-122"/>
              </a:rPr>
            </a:br>
            <a:br>
              <a:rPr sz="1400">
                <a:latin typeface="Times New Roman" panose="02020603050405020304" pitchFamily="18" charset="0"/>
                <a:ea typeface="微软雅黑" panose="020B0503020204020204" pitchFamily="34" charset="-122"/>
                <a:cs typeface="微软雅黑" panose="020B0503020204020204" pitchFamily="34" charset="-122"/>
              </a:rPr>
            </a:br>
            <a:r>
              <a:rPr sz="1400">
                <a:latin typeface="Times New Roman" panose="02020603050405020304" pitchFamily="18" charset="0"/>
                <a:ea typeface="微软雅黑" panose="020B0503020204020204" pitchFamily="34" charset="-122"/>
                <a:cs typeface="微软雅黑" panose="020B0503020204020204" pitchFamily="34" charset="-122"/>
              </a:rPr>
              <a:t>• 在瑞利衰落信道下，余弦相似度整体优于欧氏距离。</a:t>
            </a:r>
            <a:br>
              <a:rPr sz="1400">
                <a:latin typeface="Times New Roman" panose="02020603050405020304" pitchFamily="18" charset="0"/>
                <a:ea typeface="微软雅黑" panose="020B0503020204020204" pitchFamily="34" charset="-122"/>
                <a:cs typeface="微软雅黑" panose="020B0503020204020204" pitchFamily="34" charset="-122"/>
              </a:rPr>
            </a:br>
            <a:br>
              <a:rPr sz="1400">
                <a:latin typeface="Times New Roman" panose="02020603050405020304" pitchFamily="18" charset="0"/>
                <a:ea typeface="微软雅黑" panose="020B0503020204020204" pitchFamily="34" charset="-122"/>
                <a:cs typeface="微软雅黑" panose="020B0503020204020204" pitchFamily="34" charset="-122"/>
              </a:rPr>
            </a:br>
            <a:r>
              <a:rPr sz="1400">
                <a:latin typeface="Times New Roman" panose="02020603050405020304" pitchFamily="18" charset="0"/>
                <a:ea typeface="微软雅黑" panose="020B0503020204020204" pitchFamily="34" charset="-122"/>
                <a:cs typeface="微软雅黑" panose="020B0503020204020204" pitchFamily="34" charset="-122"/>
              </a:rPr>
              <a:t>• 说明余弦度量能够减弱幅度扰动对特征匹配的影响。</a:t>
            </a:r>
            <a:endParaRPr sz="1400">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en-US" altLang="zh-CN" sz="1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t-SNE</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高维特征可视化分析</a:t>
            </a:r>
            <a:endPar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7" name="组合 6"/>
          <p:cNvGrpSpPr/>
          <p:nvPr>
            <p:custDataLst>
              <p:tags r:id="rId1"/>
            </p:custDataLst>
          </p:nvPr>
        </p:nvGrpSpPr>
        <p:grpSpPr>
          <a:xfrm>
            <a:off x="273685" y="1147445"/>
            <a:ext cx="8578850" cy="3830320"/>
            <a:chOff x="1152" y="2232"/>
            <a:chExt cx="17064" cy="7704"/>
          </a:xfrm>
        </p:grpSpPr>
        <p:pic>
          <p:nvPicPr>
            <p:cNvPr id="8" name="Picture 7" descr="image37.png"/>
            <p:cNvPicPr>
              <a:picLocks noChangeAspect="1"/>
            </p:cNvPicPr>
            <p:nvPr/>
          </p:nvPicPr>
          <p:blipFill>
            <a:blip r:embed="rId2"/>
            <a:stretch>
              <a:fillRect/>
            </a:stretch>
          </p:blipFill>
          <p:spPr>
            <a:xfrm>
              <a:off x="1372" y="2232"/>
              <a:ext cx="9497" cy="7128"/>
            </a:xfrm>
            <a:prstGeom prst="rect">
              <a:avLst/>
            </a:prstGeom>
          </p:spPr>
        </p:pic>
        <p:sp>
          <p:nvSpPr>
            <p:cNvPr id="9" name="Rounded Rectangle 8"/>
            <p:cNvSpPr/>
            <p:nvPr>
              <p:custDataLst>
                <p:tags r:id="rId3"/>
              </p:custDataLst>
            </p:nvPr>
          </p:nvSpPr>
          <p:spPr>
            <a:xfrm>
              <a:off x="11664" y="2520"/>
              <a:ext cx="6552" cy="1944"/>
            </a:xfrm>
            <a:prstGeom prst="roundRect">
              <a:avLst/>
            </a:prstGeom>
            <a:solidFill>
              <a:srgbClr val="EEF6FF"/>
            </a:solidFill>
            <a:ln w="15240">
              <a:solidFill>
                <a:srgbClr val="255399"/>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 name="TextBox 9"/>
            <p:cNvSpPr txBox="1"/>
            <p:nvPr>
              <p:custDataLst>
                <p:tags r:id="rId4"/>
              </p:custDataLst>
            </p:nvPr>
          </p:nvSpPr>
          <p:spPr>
            <a:xfrm>
              <a:off x="11837" y="2574"/>
              <a:ext cx="6206" cy="504"/>
            </a:xfrm>
            <a:prstGeom prst="rect">
              <a:avLst/>
            </a:prstGeom>
            <a:noFill/>
          </p:spPr>
          <p:txBody>
            <a:bodyPr wrap="square">
              <a:noAutofit/>
            </a:bodyPr>
            <a:lstStyle/>
            <a:p>
              <a:pPr algn="l" defTabSz="914400" eaLnBrk="0" fontAlgn="base" hangingPunct="0">
                <a:defRPr sz="1600" b="1">
                  <a:solidFill>
                    <a:srgbClr val="255399"/>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图像含义</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TextBox 10"/>
            <p:cNvSpPr txBox="1"/>
            <p:nvPr>
              <p:custDataLst>
                <p:tags r:id="rId5"/>
              </p:custDataLst>
            </p:nvPr>
          </p:nvSpPr>
          <p:spPr>
            <a:xfrm>
              <a:off x="11923" y="3015"/>
              <a:ext cx="6048" cy="1447"/>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将网络输出的高维特征嵌入降至二维空间</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不同颜色对应不同无人机类别</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Rounded Rectangle 11"/>
            <p:cNvSpPr/>
            <p:nvPr>
              <p:custDataLst>
                <p:tags r:id="rId6"/>
              </p:custDataLst>
            </p:nvPr>
          </p:nvSpPr>
          <p:spPr>
            <a:xfrm>
              <a:off x="11664" y="4680"/>
              <a:ext cx="6552" cy="2088"/>
            </a:xfrm>
            <a:prstGeom prst="roundRect">
              <a:avLst/>
            </a:prstGeom>
            <a:solidFill>
              <a:srgbClr val="ECF8ED"/>
            </a:solidFill>
            <a:ln w="15240">
              <a:solidFill>
                <a:srgbClr val="5B9B5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3" name="TextBox 12"/>
            <p:cNvSpPr txBox="1"/>
            <p:nvPr>
              <p:custDataLst>
                <p:tags r:id="rId7"/>
              </p:custDataLst>
            </p:nvPr>
          </p:nvSpPr>
          <p:spPr>
            <a:xfrm>
              <a:off x="11837" y="4665"/>
              <a:ext cx="6206" cy="504"/>
            </a:xfrm>
            <a:prstGeom prst="rect">
              <a:avLst/>
            </a:prstGeom>
            <a:noFill/>
          </p:spPr>
          <p:txBody>
            <a:bodyPr wrap="square">
              <a:noAutofit/>
            </a:bodyPr>
            <a:lstStyle/>
            <a:p>
              <a:pPr algn="l" defTabSz="914400" eaLnBrk="0" fontAlgn="base" hangingPunct="0">
                <a:defRPr sz="1600" b="1">
                  <a:solidFill>
                    <a:srgbClr val="5B9B5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结果观察</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TextBox 13"/>
            <p:cNvSpPr txBox="1"/>
            <p:nvPr>
              <p:custDataLst>
                <p:tags r:id="rId8"/>
              </p:custDataLst>
            </p:nvPr>
          </p:nvSpPr>
          <p:spPr>
            <a:xfrm>
              <a:off x="11923" y="5263"/>
              <a:ext cx="6048" cy="1447"/>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同一类别样本在局部区域内聚集</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不同类别样本之间保持明显距离，类别边界较清晰</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Rounded Rectangle 14"/>
            <p:cNvSpPr/>
            <p:nvPr>
              <p:custDataLst>
                <p:tags r:id="rId9"/>
              </p:custDataLst>
            </p:nvPr>
          </p:nvSpPr>
          <p:spPr>
            <a:xfrm>
              <a:off x="11664" y="7056"/>
              <a:ext cx="6552" cy="1800"/>
            </a:xfrm>
            <a:prstGeom prst="roundRect">
              <a:avLst/>
            </a:prstGeom>
            <a:solidFill>
              <a:srgbClr val="FFF4EC"/>
            </a:solidFill>
            <a:ln w="15240">
              <a:solidFill>
                <a:srgbClr val="E8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6" name="TextBox 15"/>
            <p:cNvSpPr txBox="1"/>
            <p:nvPr>
              <p:custDataLst>
                <p:tags r:id="rId10"/>
              </p:custDataLst>
            </p:nvPr>
          </p:nvSpPr>
          <p:spPr>
            <a:xfrm>
              <a:off x="11837" y="7019"/>
              <a:ext cx="6206" cy="504"/>
            </a:xfrm>
            <a:prstGeom prst="rect">
              <a:avLst/>
            </a:prstGeom>
            <a:noFill/>
          </p:spPr>
          <p:txBody>
            <a:bodyPr wrap="square">
              <a:noAutofit/>
            </a:bodyPr>
            <a:lstStyle/>
            <a:p>
              <a:pPr algn="l" defTabSz="914400" eaLnBrk="0" fontAlgn="base" hangingPunct="0">
                <a:defRPr sz="1600" b="1">
                  <a:solidFill>
                    <a:srgbClr val="E8823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结论</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TextBox 16"/>
            <p:cNvSpPr txBox="1"/>
            <p:nvPr>
              <p:custDataLst>
                <p:tags r:id="rId11"/>
              </p:custDataLst>
            </p:nvPr>
          </p:nvSpPr>
          <p:spPr>
            <a:xfrm>
              <a:off x="11901" y="7430"/>
              <a:ext cx="6314" cy="1447"/>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Meta-DML 能够学习到具有区分度的射频指纹特征</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符合“类内紧凑、类间分离”的设计目标</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TextBox 17"/>
            <p:cNvSpPr txBox="1"/>
            <p:nvPr/>
          </p:nvSpPr>
          <p:spPr>
            <a:xfrm>
              <a:off x="1152" y="9432"/>
              <a:ext cx="16848" cy="504"/>
            </a:xfrm>
            <a:prstGeom prst="rect">
              <a:avLst/>
            </a:prstGeom>
            <a:noFill/>
          </p:spPr>
          <p:txBody>
            <a:bodyPr wrap="square">
              <a:noAutofit/>
            </a:bodyPr>
            <a:lstStyle/>
            <a:p>
              <a:pPr algn="ctr" defTabSz="914400" eaLnBrk="0" fontAlgn="base" hangingPunct="0">
                <a:defRPr sz="1350" b="1">
                  <a:solidFill>
                    <a:srgbClr val="142D55"/>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PCA </a:t>
            </a: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特征分布与实验结论</a:t>
            </a:r>
            <a:r>
              <a:rPr lang="en-US" altLang="zh-CN"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7" name="组合 6"/>
          <p:cNvGrpSpPr/>
          <p:nvPr>
            <p:custDataLst>
              <p:tags r:id="rId1"/>
            </p:custDataLst>
          </p:nvPr>
        </p:nvGrpSpPr>
        <p:grpSpPr>
          <a:xfrm>
            <a:off x="189230" y="1265555"/>
            <a:ext cx="8817610" cy="3723640"/>
            <a:chOff x="1152" y="2304"/>
            <a:chExt cx="16992" cy="7632"/>
          </a:xfrm>
        </p:grpSpPr>
        <p:pic>
          <p:nvPicPr>
            <p:cNvPr id="8" name="Picture 7" descr="image38.png"/>
            <p:cNvPicPr>
              <a:picLocks noChangeAspect="1"/>
            </p:cNvPicPr>
            <p:nvPr/>
          </p:nvPicPr>
          <p:blipFill>
            <a:blip r:embed="rId2"/>
            <a:stretch>
              <a:fillRect/>
            </a:stretch>
          </p:blipFill>
          <p:spPr>
            <a:xfrm>
              <a:off x="1164" y="2304"/>
              <a:ext cx="9120" cy="6840"/>
            </a:xfrm>
            <a:prstGeom prst="rect">
              <a:avLst/>
            </a:prstGeom>
          </p:spPr>
        </p:pic>
        <p:sp>
          <p:nvSpPr>
            <p:cNvPr id="9" name="Rounded Rectangle 8"/>
            <p:cNvSpPr/>
            <p:nvPr>
              <p:custDataLst>
                <p:tags r:id="rId3"/>
              </p:custDataLst>
            </p:nvPr>
          </p:nvSpPr>
          <p:spPr>
            <a:xfrm>
              <a:off x="11016" y="2520"/>
              <a:ext cx="7128" cy="1800"/>
            </a:xfrm>
            <a:prstGeom prst="roundRect">
              <a:avLst/>
            </a:prstGeom>
            <a:solidFill>
              <a:srgbClr val="EEF6FF"/>
            </a:solidFill>
            <a:ln w="15240">
              <a:solidFill>
                <a:srgbClr val="255399"/>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0" name="TextBox 9"/>
            <p:cNvSpPr txBox="1"/>
            <p:nvPr>
              <p:custDataLst>
                <p:tags r:id="rId4"/>
              </p:custDataLst>
            </p:nvPr>
          </p:nvSpPr>
          <p:spPr>
            <a:xfrm>
              <a:off x="11189" y="2489"/>
              <a:ext cx="6782" cy="504"/>
            </a:xfrm>
            <a:prstGeom prst="rect">
              <a:avLst/>
            </a:prstGeom>
            <a:noFill/>
          </p:spPr>
          <p:txBody>
            <a:bodyPr wrap="square">
              <a:noAutofit/>
            </a:bodyPr>
            <a:lstStyle/>
            <a:p>
              <a:pPr algn="l" defTabSz="914400" eaLnBrk="0" fontAlgn="base" hangingPunct="0">
                <a:defRPr sz="1600" b="1">
                  <a:solidFill>
                    <a:srgbClr val="255399"/>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PCA 观察</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TextBox 10"/>
            <p:cNvSpPr txBox="1"/>
            <p:nvPr>
              <p:custDataLst>
                <p:tags r:id="rId5"/>
              </p:custDataLst>
            </p:nvPr>
          </p:nvSpPr>
          <p:spPr>
            <a:xfrm>
              <a:off x="11275" y="3096"/>
              <a:ext cx="6624" cy="1080"/>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从全局线性方差角度展示特征分布</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多数类别在二维平面中呈现较好可分性</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Rounded Rectangle 11"/>
            <p:cNvSpPr/>
            <p:nvPr>
              <p:custDataLst>
                <p:tags r:id="rId6"/>
              </p:custDataLst>
            </p:nvPr>
          </p:nvSpPr>
          <p:spPr>
            <a:xfrm>
              <a:off x="11016" y="4536"/>
              <a:ext cx="7128" cy="1944"/>
            </a:xfrm>
            <a:prstGeom prst="roundRect">
              <a:avLst/>
            </a:prstGeom>
            <a:solidFill>
              <a:srgbClr val="EEFAF0"/>
            </a:solidFill>
            <a:ln w="15240">
              <a:solidFill>
                <a:srgbClr val="5B9B5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3" name="TextBox 12"/>
            <p:cNvSpPr txBox="1"/>
            <p:nvPr>
              <p:custDataLst>
                <p:tags r:id="rId7"/>
              </p:custDataLst>
            </p:nvPr>
          </p:nvSpPr>
          <p:spPr>
            <a:xfrm>
              <a:off x="11189" y="4541"/>
              <a:ext cx="6782" cy="504"/>
            </a:xfrm>
            <a:prstGeom prst="rect">
              <a:avLst/>
            </a:prstGeom>
            <a:noFill/>
          </p:spPr>
          <p:txBody>
            <a:bodyPr wrap="square">
              <a:noAutofit/>
            </a:bodyPr>
            <a:lstStyle/>
            <a:p>
              <a:pPr algn="l" defTabSz="914400" eaLnBrk="0" fontAlgn="base" hangingPunct="0">
                <a:defRPr sz="1600" b="1">
                  <a:solidFill>
                    <a:srgbClr val="5B9B5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与 t-SNE 的互证</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TextBox 13"/>
            <p:cNvSpPr txBox="1"/>
            <p:nvPr>
              <p:custDataLst>
                <p:tags r:id="rId8"/>
              </p:custDataLst>
            </p:nvPr>
          </p:nvSpPr>
          <p:spPr>
            <a:xfrm>
              <a:off x="11275" y="5124"/>
              <a:ext cx="6624" cy="1475"/>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t-SNE 更关注局部邻域结构</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PCA 更反映整体分布趋势，两者结果共同说明特征具备判别性</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Rounded Rectangle 14"/>
            <p:cNvSpPr/>
            <p:nvPr>
              <p:custDataLst>
                <p:tags r:id="rId9"/>
              </p:custDataLst>
            </p:nvPr>
          </p:nvSpPr>
          <p:spPr>
            <a:xfrm>
              <a:off x="11016" y="6840"/>
              <a:ext cx="7128" cy="1944"/>
            </a:xfrm>
            <a:prstGeom prst="roundRect">
              <a:avLst/>
            </a:prstGeom>
            <a:solidFill>
              <a:srgbClr val="FFF4EC"/>
            </a:solidFill>
            <a:ln w="15240">
              <a:solidFill>
                <a:srgbClr val="E8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eaLnBrk="0" fontAlgn="base" hangingPunct="0"/>
              <a:endParaRPr sz="1800">
                <a:ea typeface="微软雅黑" panose="020B0503020204020204" pitchFamily="34" charset="-122"/>
                <a:cs typeface="微软雅黑" panose="020B0503020204020204" pitchFamily="34" charset="-122"/>
              </a:endParaRPr>
            </a:p>
          </p:txBody>
        </p:sp>
        <p:sp>
          <p:nvSpPr>
            <p:cNvPr id="16" name="TextBox 15"/>
            <p:cNvSpPr txBox="1"/>
            <p:nvPr>
              <p:custDataLst>
                <p:tags r:id="rId10"/>
              </p:custDataLst>
            </p:nvPr>
          </p:nvSpPr>
          <p:spPr>
            <a:xfrm>
              <a:off x="11189" y="6809"/>
              <a:ext cx="6782" cy="504"/>
            </a:xfrm>
            <a:prstGeom prst="rect">
              <a:avLst/>
            </a:prstGeom>
            <a:noFill/>
          </p:spPr>
          <p:txBody>
            <a:bodyPr wrap="square">
              <a:noAutofit/>
            </a:bodyPr>
            <a:lstStyle/>
            <a:p>
              <a:pPr algn="l" defTabSz="914400" eaLnBrk="0" fontAlgn="base" hangingPunct="0">
                <a:defRPr sz="1600" b="1">
                  <a:solidFill>
                    <a:srgbClr val="E88232"/>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实验总括</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TextBox 16"/>
            <p:cNvSpPr txBox="1"/>
            <p:nvPr>
              <p:custDataLst>
                <p:tags r:id="rId11"/>
              </p:custDataLst>
            </p:nvPr>
          </p:nvSpPr>
          <p:spPr>
            <a:xfrm>
              <a:off x="11275" y="7260"/>
              <a:ext cx="6624" cy="1580"/>
            </a:xfrm>
            <a:prstGeom prst="rect">
              <a:avLst/>
            </a:prstGeom>
            <a:noFill/>
          </p:spPr>
          <p:txBody>
            <a:bodyPr wrap="square">
              <a:spAutoFit/>
            </a:bodyPr>
            <a:lstStyle/>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准确率对比：验证低信噪比下的识别优势</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消融实验：验证余弦相似度的有效性</a:t>
              </a:r>
              <a:endParaRPr>
                <a:latin typeface="Times New Roman" panose="02020603050405020304" pitchFamily="18" charset="0"/>
                <a:ea typeface="微软雅黑" panose="020B0503020204020204" pitchFamily="34" charset="-122"/>
                <a:cs typeface="微软雅黑" panose="020B0503020204020204" pitchFamily="34" charset="-122"/>
              </a:endParaRPr>
            </a:p>
            <a:p>
              <a:pPr defTabSz="914400" eaLnBrk="0" fontAlgn="base" hangingPunct="0">
                <a:spcAft>
                  <a:spcPts val="400"/>
                </a:spcAft>
                <a:defRPr sz="1250">
                  <a:solidFill>
                    <a:srgbClr val="1E1E1E"/>
                  </a:solidFill>
                  <a:latin typeface="微软雅黑" panose="020B0503020204020204" pitchFamily="34" charset="-122"/>
                </a:defRPr>
              </a:pPr>
              <a:r>
                <a:rPr>
                  <a:latin typeface="Times New Roman" panose="02020603050405020304" pitchFamily="18" charset="0"/>
                  <a:ea typeface="微软雅黑" panose="020B0503020204020204" pitchFamily="34" charset="-122"/>
                  <a:cs typeface="微软雅黑" panose="020B0503020204020204" pitchFamily="34" charset="-122"/>
                </a:rPr>
                <a:t>• 可视化分析：验证特征空间优化效果</a:t>
              </a:r>
              <a:endParaRPr>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TextBox 17"/>
            <p:cNvSpPr txBox="1"/>
            <p:nvPr/>
          </p:nvSpPr>
          <p:spPr>
            <a:xfrm>
              <a:off x="1152" y="9432"/>
              <a:ext cx="16848" cy="504"/>
            </a:xfrm>
            <a:prstGeom prst="rect">
              <a:avLst/>
            </a:prstGeom>
            <a:noFill/>
          </p:spPr>
          <p:txBody>
            <a:bodyPr wrap="square">
              <a:noAutofit/>
            </a:bodyPr>
            <a:lstStyle/>
            <a:p>
              <a:pPr algn="ctr" defTabSz="914400" eaLnBrk="0" fontAlgn="base" hangingPunct="0">
                <a:defRPr sz="1350" b="1">
                  <a:solidFill>
                    <a:srgbClr val="142D55"/>
                  </a:solidFill>
                  <a:latin typeface="微软雅黑" panose="020B0503020204020204" pitchFamily="34" charset="-122"/>
                </a:defRPr>
              </a:pPr>
              <a:endParaRPr>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p:sp>
        <p:nvSpPr>
          <p:cNvPr id="6" name="Rectangle 2"/>
          <p:cNvSpPr>
            <a:spLocks noChangeArrowheads="1"/>
          </p:cNvSpPr>
          <p:nvPr/>
        </p:nvSpPr>
        <p:spPr bwMode="auto">
          <a:xfrm>
            <a:off x="217087" y="954880"/>
            <a:ext cx="11788731"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endParaRPr lang="zh-CN" altLang="en-US" sz="18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798830" y="835025"/>
            <a:ext cx="7035873" cy="35242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defTabSz="914400" eaLnBrk="1" fontAlgn="auto" hangingPunct="1">
              <a:spcBef>
                <a:spcPts val="0"/>
              </a:spcBef>
              <a:spcAft>
                <a:spcPts val="0"/>
              </a:spcAft>
              <a:defRPr/>
            </a:pPr>
            <a:r>
              <a:rPr lang="zh-CN" altLang="en-US"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仿真实验总结</a:t>
            </a:r>
            <a:r>
              <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defTabSz="914400" eaLnBrk="1" fontAlgn="auto" hangingPunct="1">
              <a:spcBef>
                <a:spcPts val="0"/>
              </a:spcBef>
              <a:spcAft>
                <a:spcPts val="0"/>
              </a:spcAft>
              <a:defRPr/>
            </a:pPr>
            <a:endParaRPr lang="en-US" altLang="zh-CN" sz="1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KSO_Shape"/>
          <p:cNvSpPr/>
          <p:nvPr/>
        </p:nvSpPr>
        <p:spPr bwMode="auto">
          <a:xfrm>
            <a:off x="539750" y="815975"/>
            <a:ext cx="355600" cy="35242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1" fontAlgn="auto" hangingPunct="1">
              <a:spcBef>
                <a:spcPts val="0"/>
              </a:spcBef>
              <a:spcAft>
                <a:spcPts val="0"/>
              </a:spcAft>
              <a:defRPr/>
            </a:pPr>
            <a:endParaRPr lang="zh-CN" altLang="en-US" sz="1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865188" y="219075"/>
            <a:ext cx="2405380" cy="398780"/>
          </a:xfrm>
          <a:prstGeom prst="rect">
            <a:avLst/>
          </a:prstGeom>
          <a:noFill/>
        </p:spPr>
        <p:txBody>
          <a:bodyPr wrap="none">
            <a:spAutoFit/>
          </a:bodyPr>
          <a:lstStyle/>
          <a:p>
            <a:pPr algn="l" defTabSz="914400" eaLnBrk="1" fontAlgn="auto" hangingPunct="1">
              <a:spcBef>
                <a:spcPts val="0"/>
              </a:spcBef>
              <a:spcAft>
                <a:spcPts val="0"/>
              </a:spcAft>
              <a:defRPr/>
            </a:pP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4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仿真实验结果分析</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47" name="组合 46"/>
          <p:cNvGrpSpPr/>
          <p:nvPr/>
        </p:nvGrpSpPr>
        <p:grpSpPr>
          <a:xfrm>
            <a:off x="147939" y="1189879"/>
            <a:ext cx="8833220" cy="3849986"/>
            <a:chOff x="648" y="1930"/>
            <a:chExt cx="18085" cy="7618"/>
          </a:xfrm>
        </p:grpSpPr>
        <p:sp>
          <p:nvSpPr>
            <p:cNvPr id="7" name="Shape 4"/>
            <p:cNvSpPr/>
            <p:nvPr/>
          </p:nvSpPr>
          <p:spPr>
            <a:xfrm>
              <a:off x="648" y="1930"/>
              <a:ext cx="17927" cy="950"/>
            </a:xfrm>
            <a:prstGeom prst="roundRect">
              <a:avLst>
                <a:gd name="adj" fmla="val 12121"/>
              </a:avLst>
            </a:prstGeom>
            <a:solidFill>
              <a:srgbClr val="F4F8FD"/>
            </a:solidFill>
            <a:ln w="13970">
              <a:solidFill>
                <a:srgbClr val="B7C9DD"/>
              </a:solidFill>
              <a:prstDash val="solid"/>
            </a:ln>
          </p:spPr>
        </p:sp>
        <p:sp>
          <p:nvSpPr>
            <p:cNvPr id="8" name="Text 5"/>
            <p:cNvSpPr/>
            <p:nvPr/>
          </p:nvSpPr>
          <p:spPr>
            <a:xfrm>
              <a:off x="1080" y="2203"/>
              <a:ext cx="17135" cy="360"/>
            </a:xfrm>
            <a:prstGeom prst="rect">
              <a:avLst/>
            </a:prstGeom>
            <a:noFill/>
          </p:spPr>
          <p:txBody>
            <a:bodyPr wrap="square" lIns="0" tIns="0" rIns="0" bIns="0" rtlCol="0" anchor="ctr"/>
            <a:lstStyle/>
            <a:p>
              <a:pPr marL="0" indent="0" defTabSz="914400" eaLnBrk="0" fontAlgn="base" hangingPunct="0">
                <a:buNone/>
              </a:pPr>
              <a:r>
                <a:rPr lang="en-US" sz="132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rPr>
                <a:t>实验覆盖：少样本 K-shot 设置、AWGN 与瑞利衰落信道、余弦/欧氏距离消融、t-SNE 与 PCA 特征可视化</a:t>
              </a:r>
              <a:endParaRPr lang="en-US" sz="132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9" name="Shape 6"/>
            <p:cNvSpPr/>
            <p:nvPr/>
          </p:nvSpPr>
          <p:spPr>
            <a:xfrm>
              <a:off x="648" y="3197"/>
              <a:ext cx="4392" cy="2621"/>
            </a:xfrm>
            <a:prstGeom prst="roundRect">
              <a:avLst>
                <a:gd name="adj" fmla="val 4396"/>
              </a:avLst>
            </a:prstGeom>
            <a:solidFill>
              <a:srgbClr val="FFFFFF"/>
            </a:solidFill>
            <a:ln w="13970">
              <a:solidFill>
                <a:srgbClr val="C7D7EA"/>
              </a:solidFill>
              <a:prstDash val="solid"/>
            </a:ln>
          </p:spPr>
        </p:sp>
        <p:sp>
          <p:nvSpPr>
            <p:cNvPr id="10" name="Text 7"/>
            <p:cNvSpPr/>
            <p:nvPr/>
          </p:nvSpPr>
          <p:spPr>
            <a:xfrm>
              <a:off x="821" y="3341"/>
              <a:ext cx="1181" cy="317"/>
            </a:xfrm>
            <a:prstGeom prst="rect">
              <a:avLst/>
            </a:prstGeom>
            <a:solidFill>
              <a:srgbClr val="2F75B5"/>
            </a:solidFill>
          </p:spPr>
          <p:txBody>
            <a:bodyPr wrap="square" lIns="253" tIns="253" rIns="253" bIns="253" rtlCol="0" anchor="ctr"/>
            <a:lstStyle/>
            <a:p>
              <a:pPr marL="0" indent="0" algn="ctr" defTabSz="914400" eaLnBrk="0" fontAlgn="base" hangingPunct="0">
                <a:buNone/>
              </a:pPr>
              <a:r>
                <a:rPr lang="en-US" sz="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性能曲线</a:t>
              </a:r>
              <a:endParaRPr lang="en-US" sz="8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Text 8"/>
            <p:cNvSpPr/>
            <p:nvPr/>
          </p:nvSpPr>
          <p:spPr>
            <a:xfrm>
              <a:off x="2045" y="3341"/>
              <a:ext cx="2736" cy="317"/>
            </a:xfrm>
            <a:prstGeom prst="rect">
              <a:avLst/>
            </a:prstGeom>
            <a:noFill/>
          </p:spPr>
          <p:txBody>
            <a:bodyPr wrap="square" lIns="0" tIns="0" rIns="0" bIns="0" rtlCol="0" anchor="ctr"/>
            <a:lstStyle/>
            <a:p>
              <a:pPr marL="0" indent="0" defTabSz="914400" eaLnBrk="0" fontAlgn="base" hangingPunct="0">
                <a:buNone/>
              </a:pPr>
              <a:r>
                <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rPr>
                <a:t>不同信噪比识别准确率</a:t>
              </a:r>
              <a:endPar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endParaRPr>
            </a:p>
          </p:txBody>
        </p:sp>
        <p:pic>
          <p:nvPicPr>
            <p:cNvPr id="12" name="Image 1" descr="/mnt/data/user-o5efyJ2TPNFIk6k3L6IJmmej/387ce3a02ac146aeb89d48577756daca/mnt/data/thesis_media/image35.png"/>
            <p:cNvPicPr>
              <a:picLocks noChangeAspect="1"/>
            </p:cNvPicPr>
            <p:nvPr/>
          </p:nvPicPr>
          <p:blipFill>
            <a:blip r:embed="rId1"/>
            <a:stretch>
              <a:fillRect/>
            </a:stretch>
          </p:blipFill>
          <p:spPr>
            <a:xfrm>
              <a:off x="1308" y="3802"/>
              <a:ext cx="3072" cy="1786"/>
            </a:xfrm>
            <a:prstGeom prst="rect">
              <a:avLst/>
            </a:prstGeom>
          </p:spPr>
        </p:pic>
        <p:sp>
          <p:nvSpPr>
            <p:cNvPr id="13" name="Shape 9"/>
            <p:cNvSpPr/>
            <p:nvPr/>
          </p:nvSpPr>
          <p:spPr>
            <a:xfrm>
              <a:off x="5213" y="3197"/>
              <a:ext cx="4392" cy="2621"/>
            </a:xfrm>
            <a:prstGeom prst="roundRect">
              <a:avLst>
                <a:gd name="adj" fmla="val 4396"/>
              </a:avLst>
            </a:prstGeom>
            <a:solidFill>
              <a:srgbClr val="FFFFFF"/>
            </a:solidFill>
            <a:ln w="13970">
              <a:solidFill>
                <a:srgbClr val="C7D7EA"/>
              </a:solidFill>
              <a:prstDash val="solid"/>
            </a:ln>
          </p:spPr>
        </p:sp>
        <p:sp>
          <p:nvSpPr>
            <p:cNvPr id="14" name="Text 10"/>
            <p:cNvSpPr/>
            <p:nvPr/>
          </p:nvSpPr>
          <p:spPr>
            <a:xfrm>
              <a:off x="5385" y="3341"/>
              <a:ext cx="1181" cy="317"/>
            </a:xfrm>
            <a:prstGeom prst="rect">
              <a:avLst/>
            </a:prstGeom>
            <a:solidFill>
              <a:srgbClr val="E67E22"/>
            </a:solidFill>
          </p:spPr>
          <p:txBody>
            <a:bodyPr wrap="square" lIns="253" tIns="253" rIns="253" bIns="253" rtlCol="0" anchor="ctr"/>
            <a:lstStyle/>
            <a:p>
              <a:pPr marL="0" indent="0" algn="ctr"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rPr>
                <a:t>消融实验</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15" name="Text 11"/>
            <p:cNvSpPr/>
            <p:nvPr/>
          </p:nvSpPr>
          <p:spPr>
            <a:xfrm>
              <a:off x="6609" y="3341"/>
              <a:ext cx="2736" cy="317"/>
            </a:xfrm>
            <a:prstGeom prst="rect">
              <a:avLst/>
            </a:prstGeom>
            <a:noFill/>
          </p:spPr>
          <p:txBody>
            <a:bodyPr wrap="square" lIns="0" tIns="0" rIns="0" bIns="0" rtlCol="0" anchor="ctr"/>
            <a:lstStyle/>
            <a:p>
              <a:pPr marL="0" indent="0" defTabSz="914400" eaLnBrk="0" fontAlgn="base" hangingPunct="0">
                <a:buNone/>
              </a:pPr>
              <a:r>
                <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rPr>
                <a:t>余弦度量消融对比</a:t>
              </a:r>
              <a:endPar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17" name="Shape 12"/>
            <p:cNvSpPr/>
            <p:nvPr/>
          </p:nvSpPr>
          <p:spPr>
            <a:xfrm>
              <a:off x="9777" y="3197"/>
              <a:ext cx="4392" cy="2621"/>
            </a:xfrm>
            <a:prstGeom prst="roundRect">
              <a:avLst>
                <a:gd name="adj" fmla="val 4396"/>
              </a:avLst>
            </a:prstGeom>
            <a:solidFill>
              <a:srgbClr val="FFFFFF"/>
            </a:solidFill>
            <a:ln w="13970">
              <a:solidFill>
                <a:srgbClr val="C7D7EA"/>
              </a:solidFill>
              <a:prstDash val="solid"/>
            </a:ln>
          </p:spPr>
        </p:sp>
        <p:sp>
          <p:nvSpPr>
            <p:cNvPr id="18" name="Text 13"/>
            <p:cNvSpPr/>
            <p:nvPr/>
          </p:nvSpPr>
          <p:spPr>
            <a:xfrm>
              <a:off x="9950" y="3341"/>
              <a:ext cx="1181" cy="317"/>
            </a:xfrm>
            <a:prstGeom prst="rect">
              <a:avLst/>
            </a:prstGeom>
            <a:solidFill>
              <a:srgbClr val="5B9E47"/>
            </a:solidFill>
          </p:spPr>
          <p:txBody>
            <a:bodyPr wrap="square" lIns="253" tIns="253" rIns="253" bIns="253" rtlCol="0" anchor="ctr"/>
            <a:lstStyle/>
            <a:p>
              <a:pPr marL="0" indent="0" algn="ctr"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rPr>
                <a:t>类内聚集</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19" name="Text 14"/>
            <p:cNvSpPr/>
            <p:nvPr/>
          </p:nvSpPr>
          <p:spPr>
            <a:xfrm>
              <a:off x="11174" y="3341"/>
              <a:ext cx="2736" cy="317"/>
            </a:xfrm>
            <a:prstGeom prst="rect">
              <a:avLst/>
            </a:prstGeom>
            <a:noFill/>
          </p:spPr>
          <p:txBody>
            <a:bodyPr wrap="square" lIns="0" tIns="0" rIns="0" bIns="0" rtlCol="0" anchor="ctr"/>
            <a:lstStyle/>
            <a:p>
              <a:pPr marL="0" indent="0" defTabSz="914400" eaLnBrk="0" fontAlgn="base" hangingPunct="0">
                <a:buNone/>
              </a:pPr>
              <a:r>
                <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rPr>
                <a:t>t-SNE 特征可视化</a:t>
              </a:r>
              <a:endPar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endParaRPr>
            </a:p>
          </p:txBody>
        </p:sp>
        <p:pic>
          <p:nvPicPr>
            <p:cNvPr id="20" name="Image 3" descr="/mnt/data/user-o5efyJ2TPNFIk6k3L6IJmmej/387ce3a02ac146aeb89d48577756daca/mnt/data/thesis_media/image37.png"/>
            <p:cNvPicPr>
              <a:picLocks noChangeAspect="1"/>
            </p:cNvPicPr>
            <p:nvPr/>
          </p:nvPicPr>
          <p:blipFill>
            <a:blip r:embed="rId2"/>
            <a:stretch>
              <a:fillRect/>
            </a:stretch>
          </p:blipFill>
          <p:spPr>
            <a:xfrm>
              <a:off x="10784" y="3802"/>
              <a:ext cx="2379" cy="1786"/>
            </a:xfrm>
            <a:prstGeom prst="rect">
              <a:avLst/>
            </a:prstGeom>
          </p:spPr>
        </p:pic>
        <p:sp>
          <p:nvSpPr>
            <p:cNvPr id="21" name="Shape 15"/>
            <p:cNvSpPr/>
            <p:nvPr/>
          </p:nvSpPr>
          <p:spPr>
            <a:xfrm>
              <a:off x="14342" y="3197"/>
              <a:ext cx="4392" cy="2621"/>
            </a:xfrm>
            <a:prstGeom prst="roundRect">
              <a:avLst>
                <a:gd name="adj" fmla="val 4396"/>
              </a:avLst>
            </a:prstGeom>
            <a:solidFill>
              <a:srgbClr val="FFFFFF"/>
            </a:solidFill>
            <a:ln w="13970">
              <a:solidFill>
                <a:srgbClr val="C7D7EA"/>
              </a:solidFill>
              <a:prstDash val="solid"/>
            </a:ln>
          </p:spPr>
        </p:sp>
        <p:sp>
          <p:nvSpPr>
            <p:cNvPr id="22" name="Text 16"/>
            <p:cNvSpPr/>
            <p:nvPr/>
          </p:nvSpPr>
          <p:spPr>
            <a:xfrm>
              <a:off x="14514" y="3341"/>
              <a:ext cx="1181" cy="317"/>
            </a:xfrm>
            <a:prstGeom prst="rect">
              <a:avLst/>
            </a:prstGeom>
            <a:solidFill>
              <a:srgbClr val="6A5ACD"/>
            </a:solidFill>
          </p:spPr>
          <p:txBody>
            <a:bodyPr wrap="square" lIns="253" tIns="253" rIns="253" bIns="253" rtlCol="0" anchor="ctr"/>
            <a:lstStyle/>
            <a:p>
              <a:pPr marL="0" indent="0" algn="ctr"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rPr>
                <a:t>类间分离</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3" name="Text 17"/>
            <p:cNvSpPr/>
            <p:nvPr/>
          </p:nvSpPr>
          <p:spPr>
            <a:xfrm>
              <a:off x="15738" y="3341"/>
              <a:ext cx="2736" cy="317"/>
            </a:xfrm>
            <a:prstGeom prst="rect">
              <a:avLst/>
            </a:prstGeom>
            <a:noFill/>
          </p:spPr>
          <p:txBody>
            <a:bodyPr wrap="square" lIns="0" tIns="0" rIns="0" bIns="0" rtlCol="0" anchor="ctr"/>
            <a:lstStyle/>
            <a:p>
              <a:pPr marL="0" indent="0" defTabSz="914400" eaLnBrk="0" fontAlgn="base" hangingPunct="0">
                <a:buNone/>
              </a:pPr>
              <a:r>
                <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rPr>
                <a:t>PCA 特征分布</a:t>
              </a:r>
              <a:endParaRPr lang="en-US" sz="95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0"/>
              </a:endParaRPr>
            </a:p>
          </p:txBody>
        </p:sp>
        <p:pic>
          <p:nvPicPr>
            <p:cNvPr id="24" name="Image 4" descr="/mnt/data/user-o5efyJ2TPNFIk6k3L6IJmmej/387ce3a02ac146aeb89d48577756daca/mnt/data/thesis_media/image38.png"/>
            <p:cNvPicPr>
              <a:picLocks noChangeAspect="1"/>
            </p:cNvPicPr>
            <p:nvPr/>
          </p:nvPicPr>
          <p:blipFill>
            <a:blip r:embed="rId3"/>
            <a:stretch>
              <a:fillRect/>
            </a:stretch>
          </p:blipFill>
          <p:spPr>
            <a:xfrm>
              <a:off x="15347" y="3802"/>
              <a:ext cx="2381" cy="1786"/>
            </a:xfrm>
            <a:prstGeom prst="rect">
              <a:avLst/>
            </a:prstGeom>
          </p:spPr>
        </p:pic>
        <p:sp>
          <p:nvSpPr>
            <p:cNvPr id="25" name="Shape 18"/>
            <p:cNvSpPr/>
            <p:nvPr/>
          </p:nvSpPr>
          <p:spPr>
            <a:xfrm>
              <a:off x="792" y="6163"/>
              <a:ext cx="4075" cy="2232"/>
            </a:xfrm>
            <a:prstGeom prst="roundRect">
              <a:avLst>
                <a:gd name="adj" fmla="val 6452"/>
              </a:avLst>
            </a:prstGeom>
            <a:solidFill>
              <a:srgbClr val="F9FBFF"/>
            </a:solidFill>
            <a:ln w="12700">
              <a:solidFill>
                <a:srgbClr val="B8CBE2"/>
              </a:solidFill>
              <a:prstDash val="solid"/>
            </a:ln>
          </p:spPr>
        </p:sp>
        <p:sp>
          <p:nvSpPr>
            <p:cNvPr id="26" name="Shape 19"/>
            <p:cNvSpPr/>
            <p:nvPr/>
          </p:nvSpPr>
          <p:spPr>
            <a:xfrm>
              <a:off x="826" y="6202"/>
              <a:ext cx="648" cy="648"/>
            </a:xfrm>
            <a:prstGeom prst="ellipse">
              <a:avLst/>
            </a:prstGeom>
            <a:solidFill>
              <a:srgbClr val="2F75B5"/>
            </a:solidFill>
            <a:ln w="12700">
              <a:solidFill>
                <a:srgbClr val="2F75B5"/>
              </a:solidFill>
              <a:prstDash val="solid"/>
            </a:ln>
          </p:spPr>
        </p:sp>
        <p:sp>
          <p:nvSpPr>
            <p:cNvPr id="27" name="Text 20"/>
            <p:cNvSpPr/>
            <p:nvPr/>
          </p:nvSpPr>
          <p:spPr>
            <a:xfrm>
              <a:off x="838" y="6394"/>
              <a:ext cx="648" cy="259"/>
            </a:xfrm>
            <a:prstGeom prst="rect">
              <a:avLst/>
            </a:prstGeom>
            <a:noFill/>
          </p:spPr>
          <p:txBody>
            <a:bodyPr wrap="square" lIns="0" tIns="0" rIns="0" bIns="0" rtlCol="0" anchor="ctr"/>
            <a:lstStyle/>
            <a:p>
              <a:pPr marL="0" indent="0" algn="ctr" defTabSz="914400" eaLnBrk="0" fontAlgn="base" hangingPunct="0">
                <a:buNone/>
              </a:pPr>
              <a:r>
                <a:rPr lang="en-US" sz="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01</a:t>
              </a:r>
              <a:endParaRPr lang="en-US" sz="8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8" name="Text 21"/>
            <p:cNvSpPr/>
            <p:nvPr/>
          </p:nvSpPr>
          <p:spPr>
            <a:xfrm>
              <a:off x="1595" y="6267"/>
              <a:ext cx="3163" cy="614"/>
            </a:xfrm>
            <a:prstGeom prst="rect">
              <a:avLst/>
            </a:prstGeom>
            <a:noFill/>
          </p:spPr>
          <p:txBody>
            <a:bodyPr wrap="square" lIns="0" tIns="0" rIns="0" bIns="0" rtlCol="0" anchor="ctr"/>
            <a:lstStyle/>
            <a:p>
              <a:pPr marL="0" indent="0" defTabSz="914400" eaLnBrk="0" fontAlgn="base" hangingPunct="0">
                <a:buNone/>
              </a:pPr>
              <a:r>
                <a:rPr lang="en-US" sz="122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0"/>
                </a:rPr>
                <a:t> 少样本条件下性能稳定</a:t>
              </a:r>
              <a:endParaRPr lang="en-US" sz="122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29" name="Text 22"/>
            <p:cNvSpPr/>
            <p:nvPr/>
          </p:nvSpPr>
          <p:spPr>
            <a:xfrm>
              <a:off x="839" y="7071"/>
              <a:ext cx="3941" cy="1200"/>
            </a:xfrm>
            <a:prstGeom prst="rect">
              <a:avLst/>
            </a:prstGeom>
            <a:noFill/>
          </p:spPr>
          <p:txBody>
            <a:bodyPr wrap="square" lIns="380" tIns="380" rIns="380" bIns="380" rtlCol="0" anchor="t">
              <a:noAutofit/>
            </a:bodyPr>
            <a:lstStyle/>
            <a:p>
              <a:pPr marL="0" indent="0" defTabSz="914400" eaLnBrk="0" fontAlgn="base" hangingPunct="0">
                <a:buNone/>
              </a:pPr>
              <a:r>
                <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rPr>
                <a:t>K-shot 数量增加后准确率整体提升；在样本有限时，Meta-DML 仍能学习有效射频指纹特征。</a:t>
              </a:r>
              <a:endPar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0" name="Shape 23"/>
            <p:cNvSpPr/>
            <p:nvPr/>
          </p:nvSpPr>
          <p:spPr>
            <a:xfrm>
              <a:off x="5400" y="6163"/>
              <a:ext cx="4075" cy="2232"/>
            </a:xfrm>
            <a:prstGeom prst="roundRect">
              <a:avLst>
                <a:gd name="adj" fmla="val 6452"/>
              </a:avLst>
            </a:prstGeom>
            <a:solidFill>
              <a:srgbClr val="F9FBFF"/>
            </a:solidFill>
            <a:ln w="12700">
              <a:solidFill>
                <a:srgbClr val="B8CBE2"/>
              </a:solidFill>
              <a:prstDash val="solid"/>
            </a:ln>
          </p:spPr>
        </p:sp>
        <p:sp>
          <p:nvSpPr>
            <p:cNvPr id="31" name="Shape 24"/>
            <p:cNvSpPr/>
            <p:nvPr/>
          </p:nvSpPr>
          <p:spPr>
            <a:xfrm>
              <a:off x="5410" y="6180"/>
              <a:ext cx="648" cy="648"/>
            </a:xfrm>
            <a:prstGeom prst="ellipse">
              <a:avLst/>
            </a:prstGeom>
            <a:solidFill>
              <a:srgbClr val="5B9E47"/>
            </a:solidFill>
            <a:ln w="12700">
              <a:solidFill>
                <a:srgbClr val="5B9E47"/>
              </a:solidFill>
              <a:prstDash val="solid"/>
            </a:ln>
          </p:spPr>
        </p:sp>
        <p:sp>
          <p:nvSpPr>
            <p:cNvPr id="32" name="Text 25"/>
            <p:cNvSpPr/>
            <p:nvPr/>
          </p:nvSpPr>
          <p:spPr>
            <a:xfrm>
              <a:off x="5421" y="6371"/>
              <a:ext cx="648" cy="259"/>
            </a:xfrm>
            <a:prstGeom prst="rect">
              <a:avLst/>
            </a:prstGeom>
            <a:noFill/>
          </p:spPr>
          <p:txBody>
            <a:bodyPr wrap="square" lIns="0" tIns="0" rIns="0" bIns="0" rtlCol="0" anchor="ctr"/>
            <a:lstStyle/>
            <a:p>
              <a:pPr marL="0" indent="0" algn="ctr" defTabSz="914400" eaLnBrk="0" fontAlgn="base" hangingPunct="0">
                <a:buNone/>
              </a:pPr>
              <a:r>
                <a:rPr lang="en-US" sz="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sz="8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3" name="Text 26"/>
            <p:cNvSpPr/>
            <p:nvPr/>
          </p:nvSpPr>
          <p:spPr>
            <a:xfrm>
              <a:off x="6379" y="6394"/>
              <a:ext cx="2952" cy="360"/>
            </a:xfrm>
            <a:prstGeom prst="rect">
              <a:avLst/>
            </a:prstGeom>
            <a:noFill/>
          </p:spPr>
          <p:txBody>
            <a:bodyPr wrap="square" lIns="0" tIns="0" rIns="0" bIns="0" rtlCol="0" anchor="ctr"/>
            <a:lstStyle/>
            <a:p>
              <a:pPr marL="0" indent="0" defTabSz="914400" eaLnBrk="0" fontAlgn="base" hangingPunct="0">
                <a:buNone/>
              </a:pPr>
              <a:r>
                <a:rPr lang="en-US" sz="1220" b="1" dirty="0">
                  <a:solidFill>
                    <a:srgbClr val="5B9E47"/>
                  </a:solidFill>
                  <a:latin typeface="Times New Roman" panose="02020603050405020304" pitchFamily="18" charset="0"/>
                  <a:ea typeface="微软雅黑" panose="020B0503020204020204" pitchFamily="34" charset="-122"/>
                  <a:cs typeface="微软雅黑" panose="020B0503020204020204" pitchFamily="34" charset="-120"/>
                </a:rPr>
                <a:t>复杂信道下鲁棒性增强</a:t>
              </a:r>
              <a:endParaRPr lang="en-US" sz="1220" b="1" dirty="0">
                <a:solidFill>
                  <a:srgbClr val="5B9E47"/>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4" name="Text 27"/>
            <p:cNvSpPr/>
            <p:nvPr/>
          </p:nvSpPr>
          <p:spPr>
            <a:xfrm>
              <a:off x="5659" y="7070"/>
              <a:ext cx="3571" cy="1326"/>
            </a:xfrm>
            <a:prstGeom prst="rect">
              <a:avLst/>
            </a:prstGeom>
            <a:noFill/>
          </p:spPr>
          <p:txBody>
            <a:bodyPr wrap="square" lIns="380" tIns="380" rIns="380" bIns="380" rtlCol="0" anchor="t">
              <a:noAutofit/>
            </a:bodyPr>
            <a:lstStyle/>
            <a:p>
              <a:pPr marL="0" indent="0" defTabSz="914400" eaLnBrk="0" fontAlgn="base" hangingPunct="0">
                <a:buNone/>
              </a:pPr>
              <a:r>
                <a:rPr lang="en-US" sz="9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rPr>
                <a:t>A</a:t>
              </a:r>
              <a:r>
                <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rPr>
                <a:t>WGN 与瑞利衰落会带来幅度和相位扰动；本文方法在低信噪比下保持较好识别效果。</a:t>
              </a:r>
              <a:endPar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5" name="Shape 28"/>
            <p:cNvSpPr/>
            <p:nvPr/>
          </p:nvSpPr>
          <p:spPr>
            <a:xfrm>
              <a:off x="10017" y="6163"/>
              <a:ext cx="4075" cy="2232"/>
            </a:xfrm>
            <a:prstGeom prst="roundRect">
              <a:avLst>
                <a:gd name="adj" fmla="val 6452"/>
              </a:avLst>
            </a:prstGeom>
            <a:solidFill>
              <a:srgbClr val="F9FBFF"/>
            </a:solidFill>
            <a:ln w="12700">
              <a:solidFill>
                <a:srgbClr val="B8CBE2"/>
              </a:solidFill>
              <a:prstDash val="solid"/>
            </a:ln>
          </p:spPr>
        </p:sp>
        <p:sp>
          <p:nvSpPr>
            <p:cNvPr id="36" name="Shape 29"/>
            <p:cNvSpPr/>
            <p:nvPr/>
          </p:nvSpPr>
          <p:spPr>
            <a:xfrm>
              <a:off x="10017" y="6169"/>
              <a:ext cx="648" cy="648"/>
            </a:xfrm>
            <a:prstGeom prst="ellipse">
              <a:avLst/>
            </a:prstGeom>
            <a:solidFill>
              <a:srgbClr val="E67E22"/>
            </a:solidFill>
            <a:ln w="12700">
              <a:solidFill>
                <a:srgbClr val="E67E22"/>
              </a:solidFill>
              <a:prstDash val="solid"/>
            </a:ln>
          </p:spPr>
        </p:sp>
        <p:sp>
          <p:nvSpPr>
            <p:cNvPr id="37" name="Text 30"/>
            <p:cNvSpPr/>
            <p:nvPr/>
          </p:nvSpPr>
          <p:spPr>
            <a:xfrm>
              <a:off x="10017" y="6350"/>
              <a:ext cx="648" cy="259"/>
            </a:xfrm>
            <a:prstGeom prst="rect">
              <a:avLst/>
            </a:prstGeom>
            <a:noFill/>
          </p:spPr>
          <p:txBody>
            <a:bodyPr wrap="square" lIns="0" tIns="0" rIns="0" bIns="0" rtlCol="0" anchor="ctr"/>
            <a:lstStyle/>
            <a:p>
              <a:pPr marL="0" indent="0" algn="ctr" defTabSz="914400" eaLnBrk="0" fontAlgn="base" hangingPunct="0">
                <a:buNone/>
              </a:pPr>
              <a:r>
                <a:rPr lang="en-US" sz="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03</a:t>
              </a:r>
              <a:endParaRPr lang="en-US" sz="8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8" name="Text 31"/>
            <p:cNvSpPr/>
            <p:nvPr/>
          </p:nvSpPr>
          <p:spPr>
            <a:xfrm>
              <a:off x="10987" y="6394"/>
              <a:ext cx="2952" cy="360"/>
            </a:xfrm>
            <a:prstGeom prst="rect">
              <a:avLst/>
            </a:prstGeom>
            <a:noFill/>
          </p:spPr>
          <p:txBody>
            <a:bodyPr wrap="square" lIns="0" tIns="0" rIns="0" bIns="0" rtlCol="0" anchor="ctr"/>
            <a:lstStyle/>
            <a:p>
              <a:pPr marL="0" indent="0" defTabSz="914400" eaLnBrk="0" fontAlgn="base" hangingPunct="0">
                <a:buNone/>
              </a:pPr>
              <a:r>
                <a:rPr lang="en-US" sz="1220" b="1" dirty="0">
                  <a:solidFill>
                    <a:srgbClr val="E67E22"/>
                  </a:solidFill>
                  <a:latin typeface="Times New Roman" panose="02020603050405020304" pitchFamily="18" charset="0"/>
                  <a:ea typeface="微软雅黑" panose="020B0503020204020204" pitchFamily="34" charset="-122"/>
                  <a:cs typeface="微软雅黑" panose="020B0503020204020204" pitchFamily="34" charset="-120"/>
                </a:rPr>
                <a:t>余弦度量提升匹配可靠性</a:t>
              </a:r>
              <a:endParaRPr lang="en-US" sz="1220" b="1" dirty="0">
                <a:solidFill>
                  <a:srgbClr val="E67E22"/>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39" name="Text 32"/>
            <p:cNvSpPr/>
            <p:nvPr/>
          </p:nvSpPr>
          <p:spPr>
            <a:xfrm>
              <a:off x="10266" y="7069"/>
              <a:ext cx="3571" cy="1201"/>
            </a:xfrm>
            <a:prstGeom prst="rect">
              <a:avLst/>
            </a:prstGeom>
            <a:noFill/>
          </p:spPr>
          <p:txBody>
            <a:bodyPr wrap="square" lIns="380" tIns="380" rIns="380" bIns="380" rtlCol="0" anchor="t">
              <a:noAutofit/>
            </a:bodyPr>
            <a:lstStyle/>
            <a:p>
              <a:pPr marL="0" indent="0" defTabSz="914400" eaLnBrk="0" fontAlgn="base" hangingPunct="0">
                <a:buNone/>
              </a:pPr>
              <a:r>
                <a:rPr lang="en-US" sz="10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rPr>
                <a:t>余弦相似度关注特征方向一致性，可减弱信道衰落引起的幅度变化影响，优于单纯欧氏距离。</a:t>
              </a:r>
              <a:endParaRPr lang="en-US" sz="10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0" name="Shape 33"/>
            <p:cNvSpPr/>
            <p:nvPr/>
          </p:nvSpPr>
          <p:spPr>
            <a:xfrm>
              <a:off x="14615" y="6163"/>
              <a:ext cx="4075" cy="2232"/>
            </a:xfrm>
            <a:prstGeom prst="roundRect">
              <a:avLst>
                <a:gd name="adj" fmla="val 6452"/>
              </a:avLst>
            </a:prstGeom>
            <a:solidFill>
              <a:srgbClr val="F9FBFF"/>
            </a:solidFill>
            <a:ln w="12700">
              <a:solidFill>
                <a:srgbClr val="B8CBE2"/>
              </a:solidFill>
              <a:prstDash val="solid"/>
            </a:ln>
          </p:spPr>
        </p:sp>
        <p:sp>
          <p:nvSpPr>
            <p:cNvPr id="41" name="Shape 34"/>
            <p:cNvSpPr/>
            <p:nvPr/>
          </p:nvSpPr>
          <p:spPr>
            <a:xfrm>
              <a:off x="14662" y="6193"/>
              <a:ext cx="648" cy="648"/>
            </a:xfrm>
            <a:prstGeom prst="ellipse">
              <a:avLst/>
            </a:prstGeom>
            <a:solidFill>
              <a:srgbClr val="6A5ACD"/>
            </a:solidFill>
            <a:ln w="12700">
              <a:solidFill>
                <a:srgbClr val="6A5ACD"/>
              </a:solidFill>
              <a:prstDash val="solid"/>
            </a:ln>
          </p:spPr>
        </p:sp>
        <p:sp>
          <p:nvSpPr>
            <p:cNvPr id="42" name="Text 35"/>
            <p:cNvSpPr/>
            <p:nvPr/>
          </p:nvSpPr>
          <p:spPr>
            <a:xfrm>
              <a:off x="14661" y="6404"/>
              <a:ext cx="648" cy="259"/>
            </a:xfrm>
            <a:prstGeom prst="rect">
              <a:avLst/>
            </a:prstGeom>
            <a:noFill/>
          </p:spPr>
          <p:txBody>
            <a:bodyPr wrap="square" lIns="0" tIns="0" rIns="0" bIns="0" rtlCol="0" anchor="ctr"/>
            <a:lstStyle/>
            <a:p>
              <a:pPr marL="0" indent="0" algn="ctr" defTabSz="914400" eaLnBrk="0" fontAlgn="base" hangingPunct="0">
                <a:buNone/>
              </a:pPr>
              <a:r>
                <a:rPr lang="en-US" sz="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04</a:t>
              </a:r>
              <a:endParaRPr lang="en-US" sz="85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3" name="Text 36"/>
            <p:cNvSpPr/>
            <p:nvPr/>
          </p:nvSpPr>
          <p:spPr>
            <a:xfrm>
              <a:off x="15594" y="6394"/>
              <a:ext cx="2952" cy="360"/>
            </a:xfrm>
            <a:prstGeom prst="rect">
              <a:avLst/>
            </a:prstGeom>
            <a:noFill/>
          </p:spPr>
          <p:txBody>
            <a:bodyPr wrap="square" lIns="0" tIns="0" rIns="0" bIns="0" rtlCol="0" anchor="ctr"/>
            <a:lstStyle/>
            <a:p>
              <a:pPr marL="0" indent="0" defTabSz="914400" eaLnBrk="0" fontAlgn="base" hangingPunct="0">
                <a:buNone/>
              </a:pPr>
              <a:r>
                <a:rPr lang="en-US" sz="1220" b="1" dirty="0">
                  <a:solidFill>
                    <a:srgbClr val="6A5ACD"/>
                  </a:solidFill>
                  <a:latin typeface="Times New Roman" panose="02020603050405020304" pitchFamily="18" charset="0"/>
                  <a:ea typeface="微软雅黑" panose="020B0503020204020204" pitchFamily="34" charset="-122"/>
                  <a:cs typeface="微软雅黑" panose="020B0503020204020204" pitchFamily="34" charset="-120"/>
                </a:rPr>
                <a:t>特征空间可分性得到验证</a:t>
              </a:r>
              <a:endParaRPr lang="en-US" sz="1220" b="1" dirty="0">
                <a:solidFill>
                  <a:srgbClr val="6A5ACD"/>
                </a:solidFill>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4" name="Text 37"/>
            <p:cNvSpPr/>
            <p:nvPr/>
          </p:nvSpPr>
          <p:spPr>
            <a:xfrm>
              <a:off x="14874" y="7070"/>
              <a:ext cx="3571" cy="1200"/>
            </a:xfrm>
            <a:prstGeom prst="rect">
              <a:avLst/>
            </a:prstGeom>
            <a:noFill/>
          </p:spPr>
          <p:txBody>
            <a:bodyPr wrap="square" lIns="380" tIns="380" rIns="380" bIns="380" rtlCol="0" anchor="t">
              <a:noAutofit/>
            </a:bodyPr>
            <a:lstStyle/>
            <a:p>
              <a:pPr marL="0" indent="0" defTabSz="914400" eaLnBrk="0" fontAlgn="base" hangingPunct="0">
                <a:buNone/>
              </a:pPr>
              <a:r>
                <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rPr>
                <a:t>t-SNE 与 PCA 显示同类样本聚集、异类样本分离，说明模型具备较好的特征判别能力。</a:t>
              </a:r>
              <a:endParaRPr lang="en-US" sz="1100" dirty="0">
                <a:solidFill>
                  <a:srgbClr val="1F2937"/>
                </a:solidFill>
                <a:uFillTx/>
                <a:latin typeface="Times New Roman" panose="02020603050405020304" pitchFamily="18" charset="0"/>
                <a:ea typeface="微软雅黑" panose="020B0503020204020204" pitchFamily="34" charset="-122"/>
                <a:cs typeface="微软雅黑" panose="020B0503020204020204" pitchFamily="34" charset="-120"/>
              </a:endParaRPr>
            </a:p>
          </p:txBody>
        </p:sp>
        <p:sp>
          <p:nvSpPr>
            <p:cNvPr id="45" name="Shape 38"/>
            <p:cNvSpPr/>
            <p:nvPr/>
          </p:nvSpPr>
          <p:spPr>
            <a:xfrm>
              <a:off x="821" y="8755"/>
              <a:ext cx="17639" cy="792"/>
            </a:xfrm>
            <a:prstGeom prst="roundRect">
              <a:avLst>
                <a:gd name="adj" fmla="val 14545"/>
              </a:avLst>
            </a:prstGeom>
            <a:solidFill>
              <a:srgbClr val="EAF3FF"/>
            </a:solidFill>
            <a:ln w="16510">
              <a:solidFill>
                <a:srgbClr val="2F75B5"/>
              </a:solidFill>
              <a:prstDash val="solid"/>
            </a:ln>
          </p:spPr>
        </p:sp>
        <p:sp>
          <p:nvSpPr>
            <p:cNvPr id="46" name="Text 39"/>
            <p:cNvSpPr/>
            <p:nvPr/>
          </p:nvSpPr>
          <p:spPr>
            <a:xfrm>
              <a:off x="965" y="8756"/>
              <a:ext cx="17106" cy="792"/>
            </a:xfrm>
            <a:prstGeom prst="rect">
              <a:avLst/>
            </a:prstGeom>
            <a:noFill/>
          </p:spPr>
          <p:txBody>
            <a:bodyPr wrap="square" lIns="0" tIns="0" rIns="0" bIns="0" rtlCol="0" anchor="ctr"/>
            <a:lstStyle/>
            <a:p>
              <a:pPr marL="0" indent="0" defTabSz="914400" eaLnBrk="0" fontAlgn="base" hangingPunct="0">
                <a:buNone/>
              </a:pPr>
              <a:r>
                <a:rPr lang="en-US" sz="12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0"/>
                </a:rPr>
                <a:t>仿真实验表明：Meta-DML 方法在少样本、低信噪比和复杂信道条件下具有较好的识别稳定性，余弦原型度量与元学习训练是性能提升的主要原因。</a:t>
              </a:r>
              <a:endParaRPr lang="en-US" sz="12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pic>
        <p:nvPicPr>
          <p:cNvPr id="48" name="Picture 9" descr="a_clean_white_background_chart_image_publication.png"/>
          <p:cNvPicPr>
            <a:picLocks noChangeAspect="1"/>
          </p:cNvPicPr>
          <p:nvPr/>
        </p:nvPicPr>
        <p:blipFill>
          <a:blip r:embed="rId4"/>
          <a:srcRect b="8395"/>
          <a:stretch>
            <a:fillRect/>
          </a:stretch>
        </p:blipFill>
        <p:spPr>
          <a:xfrm>
            <a:off x="2728595" y="2136140"/>
            <a:ext cx="1406525" cy="85915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基于</a:t>
              </a:r>
              <a:r>
                <a:rPr lang="en-US" altLang="zh-CN"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Meta-DML</a:t>
              </a:r>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的识别方法设计</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15" y="703055"/>
            <a:ext cx="1883485" cy="351949"/>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一</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系统定位</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63" name="组合 62"/>
          <p:cNvGrpSpPr/>
          <p:nvPr/>
        </p:nvGrpSpPr>
        <p:grpSpPr>
          <a:xfrm>
            <a:off x="536911" y="1131812"/>
            <a:ext cx="7787157" cy="3540790"/>
            <a:chOff x="148" y="1718"/>
            <a:chExt cx="13316" cy="6163"/>
          </a:xfrm>
        </p:grpSpPr>
        <p:sp>
          <p:nvSpPr>
            <p:cNvPr id="7" name="Text 3"/>
            <p:cNvSpPr/>
            <p:nvPr/>
          </p:nvSpPr>
          <p:spPr>
            <a:xfrm>
              <a:off x="792" y="1718"/>
              <a:ext cx="12672" cy="461"/>
            </a:xfrm>
            <a:prstGeom prst="rect">
              <a:avLst/>
            </a:prstGeom>
            <a:noFill/>
          </p:spPr>
          <p:txBody>
            <a:bodyPr wrap="square" lIns="0" tIns="0" rIns="0" bIns="0" rtlCol="0" anchor="ctr"/>
            <a:lstStyle/>
            <a:p>
              <a:pPr marL="0" indent="0" defTabSz="914400" eaLnBrk="0" fontAlgn="base" hangingPunct="0">
                <a:buNone/>
              </a:pPr>
              <a:r>
                <a:rPr lang="en-US" sz="16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将 Meta-DML 算法封装为可操作、可展示、可验证的智能识别原型系统</a:t>
              </a:r>
              <a:endParaRPr lang="en-US" sz="16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Shape 4"/>
            <p:cNvSpPr/>
            <p:nvPr/>
          </p:nvSpPr>
          <p:spPr>
            <a:xfrm>
              <a:off x="648" y="2484"/>
              <a:ext cx="2621" cy="2491"/>
            </a:xfrm>
            <a:prstGeom prst="roundRect">
              <a:avLst/>
            </a:prstGeom>
            <a:solidFill>
              <a:srgbClr val="EAF3FF"/>
            </a:solidFill>
            <a:ln w="13970">
              <a:solidFill>
                <a:srgbClr val="2F75B5"/>
              </a:solidFill>
              <a:prstDash val="solid"/>
            </a:ln>
          </p:spPr>
        </p:sp>
        <p:sp>
          <p:nvSpPr>
            <p:cNvPr id="10" name="Text 5"/>
            <p:cNvSpPr/>
            <p:nvPr/>
          </p:nvSpPr>
          <p:spPr>
            <a:xfrm>
              <a:off x="821" y="2729"/>
              <a:ext cx="461" cy="461"/>
            </a:xfrm>
            <a:prstGeom prst="rect">
              <a:avLst/>
            </a:prstGeom>
            <a:solidFill>
              <a:srgbClr val="2F75B5"/>
            </a:solidFill>
          </p:spPr>
          <p:txBody>
            <a:bodyPr wrap="square" lIns="0" tIns="0" rIns="0" bIns="0" rtlCol="0" anchor="ctr"/>
            <a:lstStyle/>
            <a:p>
              <a:pPr marL="0" indent="0" algn="ctr" defTabSz="914400" eaLnBrk="0" fontAlgn="base" hangingPunct="0">
                <a:buNone/>
              </a:pPr>
              <a:r>
                <a:rPr lang="en-US" sz="14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1</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1" name="Text 6"/>
            <p:cNvSpPr/>
            <p:nvPr/>
          </p:nvSpPr>
          <p:spPr>
            <a:xfrm>
              <a:off x="1339" y="2700"/>
              <a:ext cx="1728" cy="504"/>
            </a:xfrm>
            <a:prstGeom prst="rect">
              <a:avLst/>
            </a:prstGeom>
            <a:noFill/>
          </p:spPr>
          <p:txBody>
            <a:bodyPr wrap="square" lIns="0" tIns="0" rIns="0" bIns="0" rtlCol="0" anchor="ctr"/>
            <a:lstStyle/>
            <a:p>
              <a:pPr marL="0" indent="0" defTabSz="914400" eaLnBrk="0" fontAlgn="base" hangingPunct="0">
                <a:buNone/>
              </a:pPr>
              <a:r>
                <a:rPr lang="en-US" sz="14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Vue.js 前端交互</a:t>
              </a:r>
              <a:endParaRPr lang="en-US" sz="14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Text 7"/>
            <p:cNvSpPr/>
            <p:nvPr/>
          </p:nvSpPr>
          <p:spPr>
            <a:xfrm>
              <a:off x="965" y="3391"/>
              <a:ext cx="2016" cy="1584"/>
            </a:xfrm>
            <a:prstGeom prst="rect">
              <a:avLst/>
            </a:prstGeom>
            <a:noFill/>
          </p:spPr>
          <p:txBody>
            <a:bodyPr wrap="square" lIns="381" tIns="381" rIns="381" bIns="381" rtlCol="0" anchor="ctr">
              <a:normAutofit/>
            </a:bodyPr>
            <a:lstStyle/>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登录注册</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数据上传</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参数配置</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图表展示</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Shape 8"/>
            <p:cNvSpPr/>
            <p:nvPr/>
          </p:nvSpPr>
          <p:spPr>
            <a:xfrm>
              <a:off x="3384" y="3636"/>
              <a:ext cx="648" cy="504"/>
            </a:xfrm>
            <a:prstGeom prst="rightArrow">
              <a:avLst/>
            </a:prstGeom>
            <a:solidFill>
              <a:srgbClr val="2F75B5"/>
            </a:solidFill>
            <a:ln w="12700">
              <a:solidFill>
                <a:srgbClr val="2F75B5"/>
              </a:solidFill>
              <a:prstDash val="solid"/>
            </a:ln>
          </p:spPr>
        </p:sp>
        <p:sp>
          <p:nvSpPr>
            <p:cNvPr id="14" name="Shape 9"/>
            <p:cNvSpPr/>
            <p:nvPr/>
          </p:nvSpPr>
          <p:spPr>
            <a:xfrm>
              <a:off x="3816" y="2484"/>
              <a:ext cx="2621" cy="2499"/>
            </a:xfrm>
            <a:prstGeom prst="roundRect">
              <a:avLst/>
            </a:prstGeom>
            <a:solidFill>
              <a:srgbClr val="E8F5E9"/>
            </a:solidFill>
            <a:ln w="13970">
              <a:solidFill>
                <a:srgbClr val="5EAD46"/>
              </a:solidFill>
              <a:prstDash val="solid"/>
            </a:ln>
          </p:spPr>
        </p:sp>
        <p:sp>
          <p:nvSpPr>
            <p:cNvPr id="15" name="Text 10"/>
            <p:cNvSpPr/>
            <p:nvPr/>
          </p:nvSpPr>
          <p:spPr>
            <a:xfrm>
              <a:off x="3989" y="2729"/>
              <a:ext cx="461" cy="461"/>
            </a:xfrm>
            <a:prstGeom prst="rect">
              <a:avLst/>
            </a:prstGeom>
            <a:solidFill>
              <a:srgbClr val="5EAD46"/>
            </a:solidFill>
          </p:spPr>
          <p:txBody>
            <a:bodyPr wrap="square" lIns="0" tIns="0" rIns="0" bIns="0" rtlCol="0" anchor="ctr"/>
            <a:lstStyle/>
            <a:p>
              <a:pPr marL="0" indent="0" algn="ctr" defTabSz="914400" eaLnBrk="0" fontAlgn="base" hangingPunct="0">
                <a:buNone/>
              </a:pPr>
              <a:r>
                <a:rPr lang="en-US" sz="14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2</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Text 11"/>
            <p:cNvSpPr/>
            <p:nvPr/>
          </p:nvSpPr>
          <p:spPr>
            <a:xfrm>
              <a:off x="4507" y="2700"/>
              <a:ext cx="1728" cy="504"/>
            </a:xfrm>
            <a:prstGeom prst="rect">
              <a:avLst/>
            </a:prstGeom>
            <a:noFill/>
          </p:spPr>
          <p:txBody>
            <a:bodyPr wrap="square" lIns="0" tIns="0" rIns="0" bIns="0" rtlCol="0" anchor="ctr"/>
            <a:lstStyle/>
            <a:p>
              <a:pPr marL="0" indent="0" defTabSz="914400" eaLnBrk="0" fontAlgn="base" hangingPunct="0">
                <a:buNone/>
              </a:pPr>
              <a:r>
                <a:rPr lang="en-US" sz="14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Spring Boot 后端服务</a:t>
              </a:r>
              <a:endParaRPr lang="en-US" sz="14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Text 12"/>
            <p:cNvSpPr/>
            <p:nvPr/>
          </p:nvSpPr>
          <p:spPr>
            <a:xfrm>
              <a:off x="4133" y="3391"/>
              <a:ext cx="2016" cy="1584"/>
            </a:xfrm>
            <a:prstGeom prst="rect">
              <a:avLst/>
            </a:prstGeom>
            <a:noFill/>
          </p:spPr>
          <p:txBody>
            <a:bodyPr wrap="square" lIns="381" tIns="381" rIns="381" bIns="381" rtlCol="0" anchor="ctr">
              <a:normAutofit/>
            </a:bodyPr>
            <a:lstStyle/>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接口接收</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任务调度</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文件管理</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日志返回</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Shape 13"/>
            <p:cNvSpPr/>
            <p:nvPr/>
          </p:nvSpPr>
          <p:spPr>
            <a:xfrm>
              <a:off x="6552" y="3636"/>
              <a:ext cx="648" cy="504"/>
            </a:xfrm>
            <a:prstGeom prst="rightArrow">
              <a:avLst/>
            </a:prstGeom>
            <a:solidFill>
              <a:srgbClr val="5EAD46"/>
            </a:solidFill>
            <a:ln w="12700">
              <a:solidFill>
                <a:srgbClr val="5EAD46"/>
              </a:solidFill>
              <a:prstDash val="solid"/>
            </a:ln>
          </p:spPr>
        </p:sp>
        <p:sp>
          <p:nvSpPr>
            <p:cNvPr id="19" name="Shape 14"/>
            <p:cNvSpPr/>
            <p:nvPr/>
          </p:nvSpPr>
          <p:spPr>
            <a:xfrm>
              <a:off x="6984" y="2484"/>
              <a:ext cx="2621" cy="2491"/>
            </a:xfrm>
            <a:prstGeom prst="roundRect">
              <a:avLst/>
            </a:prstGeom>
            <a:solidFill>
              <a:srgbClr val="FFF2D9"/>
            </a:solidFill>
            <a:ln w="13970">
              <a:solidFill>
                <a:srgbClr val="F39C12"/>
              </a:solidFill>
              <a:prstDash val="solid"/>
            </a:ln>
          </p:spPr>
        </p:sp>
        <p:sp>
          <p:nvSpPr>
            <p:cNvPr id="20" name="Text 15"/>
            <p:cNvSpPr/>
            <p:nvPr/>
          </p:nvSpPr>
          <p:spPr>
            <a:xfrm>
              <a:off x="7157" y="2729"/>
              <a:ext cx="461" cy="461"/>
            </a:xfrm>
            <a:prstGeom prst="rect">
              <a:avLst/>
            </a:prstGeom>
            <a:solidFill>
              <a:srgbClr val="F39C12"/>
            </a:solidFill>
          </p:spPr>
          <p:txBody>
            <a:bodyPr wrap="square" lIns="0" tIns="0" rIns="0" bIns="0" rtlCol="0" anchor="ctr"/>
            <a:lstStyle/>
            <a:p>
              <a:pPr marL="0" indent="0" algn="ctr" defTabSz="914400" eaLnBrk="0" fontAlgn="base" hangingPunct="0">
                <a:buNone/>
              </a:pPr>
              <a:r>
                <a:rPr lang="en-US" sz="14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3</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1" name="Text 16"/>
            <p:cNvSpPr/>
            <p:nvPr/>
          </p:nvSpPr>
          <p:spPr>
            <a:xfrm>
              <a:off x="7675" y="2700"/>
              <a:ext cx="1728" cy="504"/>
            </a:xfrm>
            <a:prstGeom prst="rect">
              <a:avLst/>
            </a:prstGeom>
            <a:noFill/>
          </p:spPr>
          <p:txBody>
            <a:bodyPr wrap="square" lIns="0" tIns="0" rIns="0" bIns="0" rtlCol="0" anchor="ctr"/>
            <a:lstStyle/>
            <a:p>
              <a:pPr marL="0" indent="0" defTabSz="914400" eaLnBrk="0" fontAlgn="base" hangingPunct="0">
                <a:buNone/>
              </a:pPr>
              <a:r>
                <a:rPr lang="en-US" sz="14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rPr>
                <a:t>Python 算法脚本</a:t>
              </a:r>
              <a:endParaRPr lang="en-US" sz="14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1" name="Text 17"/>
            <p:cNvSpPr/>
            <p:nvPr/>
          </p:nvSpPr>
          <p:spPr>
            <a:xfrm>
              <a:off x="7301" y="3391"/>
              <a:ext cx="2016" cy="1584"/>
            </a:xfrm>
            <a:prstGeom prst="rect">
              <a:avLst/>
            </a:prstGeom>
            <a:noFill/>
          </p:spPr>
          <p:txBody>
            <a:bodyPr wrap="square" lIns="381" tIns="381" rIns="381" bIns="381" rtlCol="0" anchor="ctr">
              <a:normAutofit/>
            </a:bodyPr>
            <a:lstStyle/>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模型训练</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数据生成</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推理测试</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结果保存</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2" name="Shape 18"/>
            <p:cNvSpPr/>
            <p:nvPr/>
          </p:nvSpPr>
          <p:spPr>
            <a:xfrm>
              <a:off x="9720" y="3636"/>
              <a:ext cx="648" cy="504"/>
            </a:xfrm>
            <a:prstGeom prst="rightArrow">
              <a:avLst/>
            </a:prstGeom>
            <a:solidFill>
              <a:srgbClr val="F39C12"/>
            </a:solidFill>
            <a:ln w="12700">
              <a:solidFill>
                <a:srgbClr val="F39C12"/>
              </a:solidFill>
              <a:prstDash val="solid"/>
            </a:ln>
          </p:spPr>
        </p:sp>
        <p:sp>
          <p:nvSpPr>
            <p:cNvPr id="33" name="Shape 19"/>
            <p:cNvSpPr/>
            <p:nvPr/>
          </p:nvSpPr>
          <p:spPr>
            <a:xfrm>
              <a:off x="10152" y="2484"/>
              <a:ext cx="2621" cy="2491"/>
            </a:xfrm>
            <a:prstGeom prst="roundRect">
              <a:avLst/>
            </a:prstGeom>
            <a:solidFill>
              <a:srgbClr val="F0ECFF"/>
            </a:solidFill>
            <a:ln w="13970">
              <a:solidFill>
                <a:srgbClr val="725AC1"/>
              </a:solidFill>
              <a:prstDash val="solid"/>
            </a:ln>
          </p:spPr>
        </p:sp>
        <p:sp>
          <p:nvSpPr>
            <p:cNvPr id="37" name="Text 20"/>
            <p:cNvSpPr/>
            <p:nvPr/>
          </p:nvSpPr>
          <p:spPr>
            <a:xfrm>
              <a:off x="10325" y="2729"/>
              <a:ext cx="461" cy="461"/>
            </a:xfrm>
            <a:prstGeom prst="rect">
              <a:avLst/>
            </a:prstGeom>
            <a:solidFill>
              <a:srgbClr val="725AC1"/>
            </a:solidFill>
          </p:spPr>
          <p:txBody>
            <a:bodyPr wrap="square" lIns="0" tIns="0" rIns="0" bIns="0" rtlCol="0" anchor="ctr"/>
            <a:lstStyle/>
            <a:p>
              <a:pPr marL="0" indent="0" algn="ctr" defTabSz="914400" eaLnBrk="0" fontAlgn="base" hangingPunct="0">
                <a:buNone/>
              </a:pPr>
              <a:r>
                <a:rPr lang="en-US" sz="140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4</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8" name="Text 21"/>
            <p:cNvSpPr/>
            <p:nvPr/>
          </p:nvSpPr>
          <p:spPr>
            <a:xfrm>
              <a:off x="10843" y="2700"/>
              <a:ext cx="1728" cy="504"/>
            </a:xfrm>
            <a:prstGeom prst="rect">
              <a:avLst/>
            </a:prstGeom>
            <a:noFill/>
          </p:spPr>
          <p:txBody>
            <a:bodyPr wrap="square" lIns="0" tIns="0" rIns="0" bIns="0" rtlCol="0" anchor="ctr"/>
            <a:lstStyle/>
            <a:p>
              <a:pPr marL="0" indent="0" defTabSz="914400" eaLnBrk="0" fontAlgn="base" hangingPunct="0">
                <a:buNone/>
              </a:pPr>
              <a:r>
                <a:rPr lang="en-US" sz="14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rPr>
                <a:t>结果与日志管理</a:t>
              </a:r>
              <a:endParaRPr lang="en-US" sz="14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9" name="Text 22"/>
            <p:cNvSpPr/>
            <p:nvPr/>
          </p:nvSpPr>
          <p:spPr>
            <a:xfrm>
              <a:off x="10469" y="3391"/>
              <a:ext cx="2016" cy="1584"/>
            </a:xfrm>
            <a:prstGeom prst="rect">
              <a:avLst/>
            </a:prstGeom>
            <a:noFill/>
          </p:spPr>
          <p:txBody>
            <a:bodyPr wrap="square" lIns="381" tIns="381" rIns="381" bIns="381" rtlCol="0" anchor="ctr">
              <a:normAutofit/>
            </a:bodyPr>
            <a:lstStyle/>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实验结果</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模型文件</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Excel 文件</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a:p>
              <a:pPr marL="0" indent="0" defTabSz="914400" eaLnBrk="0" fontAlgn="base" hangingPunct="0">
                <a:buNone/>
              </a:pPr>
              <a:r>
                <a:rPr lang="en-US" sz="140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系统日志</a:t>
              </a:r>
              <a:endParaRPr lang="en-US" sz="140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0" name="Shape 23"/>
            <p:cNvSpPr/>
            <p:nvPr/>
          </p:nvSpPr>
          <p:spPr>
            <a:xfrm>
              <a:off x="148" y="5443"/>
              <a:ext cx="13104" cy="2438"/>
            </a:xfrm>
            <a:prstGeom prst="roundRect">
              <a:avLst/>
            </a:prstGeom>
            <a:solidFill>
              <a:srgbClr val="F8FAFC"/>
            </a:solidFill>
            <a:ln w="13970">
              <a:solidFill>
                <a:srgbClr val="D7E3F5"/>
              </a:solidFill>
              <a:prstDash val="solid"/>
            </a:ln>
          </p:spPr>
        </p:sp>
        <p:sp>
          <p:nvSpPr>
            <p:cNvPr id="41" name="Text 24"/>
            <p:cNvSpPr/>
            <p:nvPr/>
          </p:nvSpPr>
          <p:spPr>
            <a:xfrm>
              <a:off x="436" y="5514"/>
              <a:ext cx="2160" cy="403"/>
            </a:xfrm>
            <a:prstGeom prst="rect">
              <a:avLst/>
            </a:prstGeom>
            <a:noFill/>
          </p:spPr>
          <p:txBody>
            <a:bodyPr wrap="square" lIns="0" tIns="0" rIns="0" bIns="0" rtlCol="0" anchor="ctr"/>
            <a:lstStyle/>
            <a:p>
              <a:pPr marL="0" indent="0" defTabSz="914400" eaLnBrk="0" fontAlgn="base" hangingPunct="0">
                <a:buNone/>
              </a:pPr>
              <a:r>
                <a:rPr lang="en-US" sz="16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系统执行闭环</a:t>
              </a:r>
              <a:endParaRPr lang="en-US" sz="16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2" name="Shape 25"/>
            <p:cNvSpPr/>
            <p:nvPr/>
          </p:nvSpPr>
          <p:spPr>
            <a:xfrm>
              <a:off x="537" y="6207"/>
              <a:ext cx="1483" cy="792"/>
            </a:xfrm>
            <a:prstGeom prst="roundRect">
              <a:avLst/>
            </a:prstGeom>
            <a:solidFill>
              <a:srgbClr val="FFFFFF"/>
            </a:solidFill>
            <a:ln w="13970">
              <a:solidFill>
                <a:srgbClr val="2F75B5"/>
              </a:solidFill>
              <a:prstDash val="solid"/>
            </a:ln>
          </p:spPr>
        </p:sp>
        <p:sp>
          <p:nvSpPr>
            <p:cNvPr id="43" name="Text 26"/>
            <p:cNvSpPr/>
            <p:nvPr/>
          </p:nvSpPr>
          <p:spPr>
            <a:xfrm>
              <a:off x="6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用户登录</a:t>
              </a:r>
              <a:endPar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4" name="Shape 27"/>
            <p:cNvSpPr/>
            <p:nvPr/>
          </p:nvSpPr>
          <p:spPr>
            <a:xfrm>
              <a:off x="2092" y="6452"/>
              <a:ext cx="461" cy="317"/>
            </a:xfrm>
            <a:prstGeom prst="rightArrow">
              <a:avLst/>
            </a:prstGeom>
            <a:solidFill>
              <a:srgbClr val="6B7280"/>
            </a:solidFill>
            <a:ln w="12700">
              <a:solidFill>
                <a:srgbClr val="6B7280"/>
              </a:solidFill>
              <a:prstDash val="solid"/>
            </a:ln>
          </p:spPr>
        </p:sp>
        <p:sp>
          <p:nvSpPr>
            <p:cNvPr id="45" name="Shape 28"/>
            <p:cNvSpPr/>
            <p:nvPr/>
          </p:nvSpPr>
          <p:spPr>
            <a:xfrm>
              <a:off x="2337" y="6207"/>
              <a:ext cx="1483" cy="792"/>
            </a:xfrm>
            <a:prstGeom prst="roundRect">
              <a:avLst/>
            </a:prstGeom>
            <a:solidFill>
              <a:srgbClr val="FFFFFF"/>
            </a:solidFill>
            <a:ln w="13970">
              <a:solidFill>
                <a:srgbClr val="5EAD46"/>
              </a:solidFill>
              <a:prstDash val="solid"/>
            </a:ln>
          </p:spPr>
        </p:sp>
        <p:sp>
          <p:nvSpPr>
            <p:cNvPr id="46" name="Text 29"/>
            <p:cNvSpPr/>
            <p:nvPr/>
          </p:nvSpPr>
          <p:spPr>
            <a:xfrm>
              <a:off x="24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上传数据</a:t>
              </a:r>
              <a:endPar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7" name="Shape 30"/>
            <p:cNvSpPr/>
            <p:nvPr/>
          </p:nvSpPr>
          <p:spPr>
            <a:xfrm>
              <a:off x="3892" y="6452"/>
              <a:ext cx="461" cy="317"/>
            </a:xfrm>
            <a:prstGeom prst="rightArrow">
              <a:avLst/>
            </a:prstGeom>
            <a:solidFill>
              <a:srgbClr val="6B7280"/>
            </a:solidFill>
            <a:ln w="12700">
              <a:solidFill>
                <a:srgbClr val="6B7280"/>
              </a:solidFill>
              <a:prstDash val="solid"/>
            </a:ln>
          </p:spPr>
        </p:sp>
        <p:sp>
          <p:nvSpPr>
            <p:cNvPr id="48" name="Shape 31"/>
            <p:cNvSpPr/>
            <p:nvPr/>
          </p:nvSpPr>
          <p:spPr>
            <a:xfrm>
              <a:off x="4137" y="6207"/>
              <a:ext cx="1483" cy="792"/>
            </a:xfrm>
            <a:prstGeom prst="roundRect">
              <a:avLst/>
            </a:prstGeom>
            <a:solidFill>
              <a:srgbClr val="FFFFFF"/>
            </a:solidFill>
            <a:ln w="13970">
              <a:solidFill>
                <a:srgbClr val="2F75B5"/>
              </a:solidFill>
              <a:prstDash val="solid"/>
            </a:ln>
          </p:spPr>
        </p:sp>
        <p:sp>
          <p:nvSpPr>
            <p:cNvPr id="49" name="Text 32"/>
            <p:cNvSpPr/>
            <p:nvPr/>
          </p:nvSpPr>
          <p:spPr>
            <a:xfrm>
              <a:off x="42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启动任务</a:t>
              </a:r>
              <a:endPar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0" name="Shape 33"/>
            <p:cNvSpPr/>
            <p:nvPr/>
          </p:nvSpPr>
          <p:spPr>
            <a:xfrm>
              <a:off x="5692" y="6452"/>
              <a:ext cx="461" cy="317"/>
            </a:xfrm>
            <a:prstGeom prst="rightArrow">
              <a:avLst/>
            </a:prstGeom>
            <a:solidFill>
              <a:srgbClr val="6B7280"/>
            </a:solidFill>
            <a:ln w="12700">
              <a:solidFill>
                <a:srgbClr val="6B7280"/>
              </a:solidFill>
              <a:prstDash val="solid"/>
            </a:ln>
          </p:spPr>
        </p:sp>
        <p:sp>
          <p:nvSpPr>
            <p:cNvPr id="51" name="Shape 34"/>
            <p:cNvSpPr/>
            <p:nvPr/>
          </p:nvSpPr>
          <p:spPr>
            <a:xfrm>
              <a:off x="5937" y="6207"/>
              <a:ext cx="1483" cy="792"/>
            </a:xfrm>
            <a:prstGeom prst="roundRect">
              <a:avLst/>
            </a:prstGeom>
            <a:solidFill>
              <a:srgbClr val="FFFFFF"/>
            </a:solidFill>
            <a:ln w="13970">
              <a:solidFill>
                <a:srgbClr val="5EAD46"/>
              </a:solidFill>
              <a:prstDash val="solid"/>
            </a:ln>
          </p:spPr>
        </p:sp>
        <p:sp>
          <p:nvSpPr>
            <p:cNvPr id="52" name="Text 35"/>
            <p:cNvSpPr/>
            <p:nvPr/>
          </p:nvSpPr>
          <p:spPr>
            <a:xfrm>
              <a:off x="60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调用脚本</a:t>
              </a:r>
              <a:endPar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3" name="Shape 36"/>
            <p:cNvSpPr/>
            <p:nvPr/>
          </p:nvSpPr>
          <p:spPr>
            <a:xfrm>
              <a:off x="7992" y="6822"/>
              <a:ext cx="461" cy="317"/>
            </a:xfrm>
            <a:prstGeom prst="rightArrow">
              <a:avLst/>
            </a:prstGeom>
            <a:solidFill>
              <a:srgbClr val="6B7280"/>
            </a:solidFill>
            <a:ln w="12700">
              <a:solidFill>
                <a:srgbClr val="6B7280"/>
              </a:solidFill>
              <a:prstDash val="solid"/>
            </a:ln>
          </p:spPr>
        </p:sp>
        <p:sp>
          <p:nvSpPr>
            <p:cNvPr id="54" name="Shape 37"/>
            <p:cNvSpPr/>
            <p:nvPr/>
          </p:nvSpPr>
          <p:spPr>
            <a:xfrm>
              <a:off x="7737" y="6207"/>
              <a:ext cx="1483" cy="792"/>
            </a:xfrm>
            <a:prstGeom prst="roundRect">
              <a:avLst/>
            </a:prstGeom>
            <a:solidFill>
              <a:srgbClr val="FFFFFF"/>
            </a:solidFill>
            <a:ln w="13970">
              <a:solidFill>
                <a:srgbClr val="2F75B5"/>
              </a:solidFill>
              <a:prstDash val="solid"/>
            </a:ln>
          </p:spPr>
        </p:sp>
        <p:sp>
          <p:nvSpPr>
            <p:cNvPr id="55" name="Text 38"/>
            <p:cNvSpPr/>
            <p:nvPr/>
          </p:nvSpPr>
          <p:spPr>
            <a:xfrm>
              <a:off x="78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返回日志</a:t>
              </a:r>
              <a:endPar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6" name="Shape 39"/>
            <p:cNvSpPr/>
            <p:nvPr/>
          </p:nvSpPr>
          <p:spPr>
            <a:xfrm>
              <a:off x="9292" y="6452"/>
              <a:ext cx="461" cy="317"/>
            </a:xfrm>
            <a:prstGeom prst="rightArrow">
              <a:avLst/>
            </a:prstGeom>
            <a:solidFill>
              <a:srgbClr val="6B7280"/>
            </a:solidFill>
            <a:ln w="12700">
              <a:solidFill>
                <a:srgbClr val="6B7280"/>
              </a:solidFill>
              <a:prstDash val="solid"/>
            </a:ln>
          </p:spPr>
        </p:sp>
        <p:sp>
          <p:nvSpPr>
            <p:cNvPr id="57" name="Shape 40"/>
            <p:cNvSpPr/>
            <p:nvPr/>
          </p:nvSpPr>
          <p:spPr>
            <a:xfrm>
              <a:off x="9537" y="6207"/>
              <a:ext cx="1483" cy="792"/>
            </a:xfrm>
            <a:prstGeom prst="roundRect">
              <a:avLst/>
            </a:prstGeom>
            <a:solidFill>
              <a:srgbClr val="FFFFFF"/>
            </a:solidFill>
            <a:ln w="13970">
              <a:solidFill>
                <a:srgbClr val="5EAD46"/>
              </a:solidFill>
              <a:prstDash val="solid"/>
            </a:ln>
          </p:spPr>
        </p:sp>
        <p:sp>
          <p:nvSpPr>
            <p:cNvPr id="58" name="Text 41"/>
            <p:cNvSpPr/>
            <p:nvPr/>
          </p:nvSpPr>
          <p:spPr>
            <a:xfrm>
              <a:off x="96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生成结果</a:t>
              </a:r>
              <a:endPar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9" name="Shape 42"/>
            <p:cNvSpPr/>
            <p:nvPr/>
          </p:nvSpPr>
          <p:spPr>
            <a:xfrm>
              <a:off x="11092" y="6452"/>
              <a:ext cx="461" cy="317"/>
            </a:xfrm>
            <a:prstGeom prst="rightArrow">
              <a:avLst/>
            </a:prstGeom>
            <a:solidFill>
              <a:srgbClr val="6B7280"/>
            </a:solidFill>
            <a:ln w="12700">
              <a:solidFill>
                <a:srgbClr val="6B7280"/>
              </a:solidFill>
              <a:prstDash val="solid"/>
            </a:ln>
          </p:spPr>
        </p:sp>
        <p:sp>
          <p:nvSpPr>
            <p:cNvPr id="60" name="Shape 43"/>
            <p:cNvSpPr/>
            <p:nvPr/>
          </p:nvSpPr>
          <p:spPr>
            <a:xfrm>
              <a:off x="11337" y="6207"/>
              <a:ext cx="1483" cy="792"/>
            </a:xfrm>
            <a:prstGeom prst="roundRect">
              <a:avLst/>
            </a:prstGeom>
            <a:solidFill>
              <a:srgbClr val="FFFFFF"/>
            </a:solidFill>
            <a:ln w="13970">
              <a:solidFill>
                <a:srgbClr val="2F75B5"/>
              </a:solidFill>
              <a:prstDash val="solid"/>
            </a:ln>
          </p:spPr>
        </p:sp>
        <p:sp>
          <p:nvSpPr>
            <p:cNvPr id="61" name="Text 44"/>
            <p:cNvSpPr/>
            <p:nvPr/>
          </p:nvSpPr>
          <p:spPr>
            <a:xfrm>
              <a:off x="11409" y="6466"/>
              <a:ext cx="1339" cy="230"/>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可视化展示</a:t>
              </a:r>
              <a:endParaRPr lang="en-US" sz="12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90" y="702945"/>
            <a:ext cx="2727960" cy="432435"/>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二</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系统总体架构设计：</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62" name="组合 61"/>
          <p:cNvGrpSpPr/>
          <p:nvPr>
            <p:custDataLst>
              <p:tags r:id="rId1"/>
            </p:custDataLst>
          </p:nvPr>
        </p:nvGrpSpPr>
        <p:grpSpPr>
          <a:xfrm>
            <a:off x="570230" y="1089025"/>
            <a:ext cx="7613650" cy="3872885"/>
            <a:chOff x="792" y="1368"/>
            <a:chExt cx="12744" cy="6491"/>
          </a:xfrm>
        </p:grpSpPr>
        <p:sp>
          <p:nvSpPr>
            <p:cNvPr id="3" name="Text 3"/>
            <p:cNvSpPr/>
            <p:nvPr/>
          </p:nvSpPr>
          <p:spPr>
            <a:xfrm>
              <a:off x="792" y="1368"/>
              <a:ext cx="12672" cy="403"/>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      四层架构：数据层 → 数据处理层 → 算法模型层 → 应用交互层</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 name="Shape 4"/>
            <p:cNvSpPr/>
            <p:nvPr/>
          </p:nvSpPr>
          <p:spPr>
            <a:xfrm>
              <a:off x="792" y="1944"/>
              <a:ext cx="9001" cy="5915"/>
            </a:xfrm>
            <a:prstGeom prst="roundRect">
              <a:avLst/>
            </a:prstGeom>
            <a:solidFill>
              <a:srgbClr val="FFFFFF">
                <a:alpha val="0"/>
              </a:srgbClr>
            </a:solidFill>
            <a:ln w="12700">
              <a:solidFill>
                <a:srgbClr val="9BBEE8"/>
              </a:solidFill>
              <a:prstDash val="solid"/>
            </a:ln>
          </p:spPr>
        </p:sp>
        <p:pic>
          <p:nvPicPr>
            <p:cNvPr id="9" name="Image 1" descr="/mnt/data/system_architecture_for_uav_rf_recognition.png"/>
            <p:cNvPicPr>
              <a:picLocks noChangeAspect="1"/>
            </p:cNvPicPr>
            <p:nvPr/>
          </p:nvPicPr>
          <p:blipFill>
            <a:blip r:embed="rId2"/>
            <a:stretch>
              <a:fillRect/>
            </a:stretch>
          </p:blipFill>
          <p:spPr>
            <a:xfrm>
              <a:off x="1111" y="2125"/>
              <a:ext cx="7981" cy="5648"/>
            </a:xfrm>
            <a:prstGeom prst="rect">
              <a:avLst/>
            </a:prstGeom>
          </p:spPr>
        </p:pic>
        <p:sp>
          <p:nvSpPr>
            <p:cNvPr id="22" name="Shape 5"/>
            <p:cNvSpPr/>
            <p:nvPr>
              <p:custDataLst>
                <p:tags r:id="rId3"/>
              </p:custDataLst>
            </p:nvPr>
          </p:nvSpPr>
          <p:spPr>
            <a:xfrm>
              <a:off x="10132" y="1894"/>
              <a:ext cx="3384" cy="1445"/>
            </a:xfrm>
            <a:prstGeom prst="roundRect">
              <a:avLst/>
            </a:prstGeom>
            <a:solidFill>
              <a:srgbClr val="F2F7FF"/>
            </a:solidFill>
            <a:ln w="13970">
              <a:solidFill>
                <a:srgbClr val="2F75B5"/>
              </a:solidFill>
              <a:prstDash val="solid"/>
            </a:ln>
          </p:spPr>
        </p:sp>
        <p:sp>
          <p:nvSpPr>
            <p:cNvPr id="23" name="Text 6"/>
            <p:cNvSpPr/>
            <p:nvPr>
              <p:custDataLst>
                <p:tags r:id="rId4"/>
              </p:custDataLst>
            </p:nvPr>
          </p:nvSpPr>
          <p:spPr>
            <a:xfrm>
              <a:off x="10305" y="1917"/>
              <a:ext cx="3039" cy="275"/>
            </a:xfrm>
            <a:prstGeom prst="rect">
              <a:avLst/>
            </a:prstGeom>
            <a:noFill/>
          </p:spPr>
          <p:txBody>
            <a:bodyPr wrap="square" lIns="0" tIns="0" rIns="0" bIns="0" rtlCol="0" anchor="ctr"/>
            <a:lstStyle/>
            <a:p>
              <a:pPr marL="0" indent="0" defTabSz="914400" eaLnBrk="0" fontAlgn="base" hangingPunct="0">
                <a:buNone/>
              </a:pPr>
              <a:r>
                <a:rPr lang="en-US" sz="12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应用交互层</a:t>
              </a:r>
              <a:endParaRPr lang="en-US" sz="12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Text 7"/>
            <p:cNvSpPr/>
            <p:nvPr>
              <p:custDataLst>
                <p:tags r:id="rId5"/>
              </p:custDataLst>
            </p:nvPr>
          </p:nvSpPr>
          <p:spPr>
            <a:xfrm>
              <a:off x="10305" y="2163"/>
              <a:ext cx="3039" cy="1156"/>
            </a:xfrm>
            <a:prstGeom prst="rect">
              <a:avLst/>
            </a:prstGeom>
            <a:noFill/>
          </p:spPr>
          <p:txBody>
            <a:bodyPr wrap="square" lIns="254" tIns="254" rIns="254" bIns="254" rtlCol="0" anchor="ct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Vue.js 前端负责系统概览、模型训练、数据生成、可视化、实验结果和系统日志。</a:t>
              </a:r>
              <a:endPar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 name="Shape 8"/>
            <p:cNvSpPr/>
            <p:nvPr>
              <p:custDataLst>
                <p:tags r:id="rId6"/>
              </p:custDataLst>
            </p:nvPr>
          </p:nvSpPr>
          <p:spPr>
            <a:xfrm>
              <a:off x="10152" y="3518"/>
              <a:ext cx="3384" cy="1308"/>
            </a:xfrm>
            <a:prstGeom prst="roundRect">
              <a:avLst/>
            </a:prstGeom>
            <a:solidFill>
              <a:srgbClr val="F3FAF0"/>
            </a:solidFill>
            <a:ln w="13970">
              <a:solidFill>
                <a:srgbClr val="5EAD46"/>
              </a:solidFill>
              <a:prstDash val="solid"/>
            </a:ln>
          </p:spPr>
        </p:sp>
        <p:sp>
          <p:nvSpPr>
            <p:cNvPr id="26" name="Text 9"/>
            <p:cNvSpPr/>
            <p:nvPr>
              <p:custDataLst>
                <p:tags r:id="rId7"/>
              </p:custDataLst>
            </p:nvPr>
          </p:nvSpPr>
          <p:spPr>
            <a:xfrm>
              <a:off x="10325" y="3591"/>
              <a:ext cx="3039" cy="275"/>
            </a:xfrm>
            <a:prstGeom prst="rect">
              <a:avLst/>
            </a:prstGeom>
            <a:noFill/>
          </p:spPr>
          <p:txBody>
            <a:bodyPr wrap="square" lIns="0" tIns="0" rIns="0" bIns="0" rtlCol="0" anchor="ctr"/>
            <a:lstStyle/>
            <a:p>
              <a:pPr marL="0" indent="0" defTabSz="914400" eaLnBrk="0" fontAlgn="base" hangingPunct="0">
                <a:buNone/>
              </a:pPr>
              <a:r>
                <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业务服务层</a:t>
              </a:r>
              <a:endParaRPr lang="en-US" sz="12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7" name="Text 10"/>
            <p:cNvSpPr/>
            <p:nvPr>
              <p:custDataLst>
                <p:tags r:id="rId8"/>
              </p:custDataLst>
            </p:nvPr>
          </p:nvSpPr>
          <p:spPr>
            <a:xfrm>
              <a:off x="10325" y="3938"/>
              <a:ext cx="3039" cy="888"/>
            </a:xfrm>
            <a:prstGeom prst="rect">
              <a:avLst/>
            </a:prstGeom>
            <a:noFill/>
          </p:spPr>
          <p:txBody>
            <a:bodyPr wrap="square" lIns="254" tIns="254" rIns="254" bIns="254" rtlCol="0" anchor="ctr">
              <a:normAutofit/>
            </a:bodyP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Spring Boot 后端提供接口服务，完成请求接收、任务调度、文件管理和日志返回。</a:t>
              </a:r>
              <a:endPar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8" name="Shape 11"/>
            <p:cNvSpPr/>
            <p:nvPr>
              <p:custDataLst>
                <p:tags r:id="rId9"/>
              </p:custDataLst>
            </p:nvPr>
          </p:nvSpPr>
          <p:spPr>
            <a:xfrm>
              <a:off x="10152" y="5062"/>
              <a:ext cx="3384" cy="1344"/>
            </a:xfrm>
            <a:prstGeom prst="roundRect">
              <a:avLst/>
            </a:prstGeom>
            <a:solidFill>
              <a:srgbClr val="FFF6E8"/>
            </a:solidFill>
            <a:ln w="13970">
              <a:solidFill>
                <a:srgbClr val="F39C12"/>
              </a:solidFill>
              <a:prstDash val="solid"/>
            </a:ln>
          </p:spPr>
        </p:sp>
        <p:sp>
          <p:nvSpPr>
            <p:cNvPr id="29" name="Text 12"/>
            <p:cNvSpPr/>
            <p:nvPr>
              <p:custDataLst>
                <p:tags r:id="rId10"/>
              </p:custDataLst>
            </p:nvPr>
          </p:nvSpPr>
          <p:spPr>
            <a:xfrm>
              <a:off x="10325" y="5170"/>
              <a:ext cx="3039" cy="275"/>
            </a:xfrm>
            <a:prstGeom prst="rect">
              <a:avLst/>
            </a:prstGeom>
            <a:noFill/>
          </p:spPr>
          <p:txBody>
            <a:bodyPr wrap="square" lIns="0" tIns="0" rIns="0" bIns="0" rtlCol="0" anchor="ctr"/>
            <a:lstStyle/>
            <a:p>
              <a:pPr marL="0" indent="0" defTabSz="914400" eaLnBrk="0" fontAlgn="base" hangingPunct="0">
                <a:buNone/>
              </a:pPr>
              <a:r>
                <a:rPr lang="en-US" sz="12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rPr>
                <a:t>算法模型层</a:t>
              </a:r>
              <a:endParaRPr lang="en-US" sz="12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0" name="Text 13"/>
            <p:cNvSpPr/>
            <p:nvPr>
              <p:custDataLst>
                <p:tags r:id="rId11"/>
              </p:custDataLst>
            </p:nvPr>
          </p:nvSpPr>
          <p:spPr>
            <a:xfrm>
              <a:off x="10325" y="5424"/>
              <a:ext cx="3039" cy="978"/>
            </a:xfrm>
            <a:prstGeom prst="rect">
              <a:avLst/>
            </a:prstGeom>
            <a:noFill/>
          </p:spPr>
          <p:txBody>
            <a:bodyPr wrap="square" lIns="254" tIns="254" rIns="254" bIns="254" rtlCol="0" anchor="ctr">
              <a:normAutofit/>
            </a:bodyP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Python 脚本完成模型训练、推理测试、数据生成和 Meta-DML 相关算法调用。</a:t>
              </a:r>
              <a:endPar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4" name="Shape 14"/>
            <p:cNvSpPr/>
            <p:nvPr>
              <p:custDataLst>
                <p:tags r:id="rId12"/>
              </p:custDataLst>
            </p:nvPr>
          </p:nvSpPr>
          <p:spPr>
            <a:xfrm>
              <a:off x="10152" y="6580"/>
              <a:ext cx="3384" cy="1265"/>
            </a:xfrm>
            <a:prstGeom prst="roundRect">
              <a:avLst/>
            </a:prstGeom>
            <a:solidFill>
              <a:srgbClr val="F3F0FF"/>
            </a:solidFill>
            <a:ln w="13970">
              <a:solidFill>
                <a:srgbClr val="725AC1"/>
              </a:solidFill>
              <a:prstDash val="solid"/>
            </a:ln>
          </p:spPr>
        </p:sp>
        <p:sp>
          <p:nvSpPr>
            <p:cNvPr id="35" name="Text 15"/>
            <p:cNvSpPr/>
            <p:nvPr>
              <p:custDataLst>
                <p:tags r:id="rId13"/>
              </p:custDataLst>
            </p:nvPr>
          </p:nvSpPr>
          <p:spPr>
            <a:xfrm>
              <a:off x="10325" y="6660"/>
              <a:ext cx="3039" cy="275"/>
            </a:xfrm>
            <a:prstGeom prst="rect">
              <a:avLst/>
            </a:prstGeom>
            <a:noFill/>
          </p:spPr>
          <p:txBody>
            <a:bodyPr wrap="square" lIns="0" tIns="0" rIns="0" bIns="0" rtlCol="0" anchor="ctr"/>
            <a:lstStyle/>
            <a:p>
              <a:pPr marL="0" indent="0" defTabSz="914400" eaLnBrk="0" fontAlgn="base" hangingPunct="0">
                <a:buNone/>
              </a:pPr>
              <a:r>
                <a:rPr lang="en-US" sz="12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rPr>
                <a:t>数据与结果层</a:t>
              </a:r>
              <a:endParaRPr lang="en-US" sz="12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6" name="Text 16"/>
            <p:cNvSpPr/>
            <p:nvPr>
              <p:custDataLst>
                <p:tags r:id="rId14"/>
              </p:custDataLst>
            </p:nvPr>
          </p:nvSpPr>
          <p:spPr>
            <a:xfrm>
              <a:off x="10325" y="6992"/>
              <a:ext cx="3039" cy="854"/>
            </a:xfrm>
            <a:prstGeom prst="rect">
              <a:avLst/>
            </a:prstGeom>
            <a:noFill/>
          </p:spPr>
          <p:txBody>
            <a:bodyPr wrap="square" lIns="254" tIns="254" rIns="254" bIns="254" rtlCol="0" anchor="ctr">
              <a:normAutofit/>
            </a:bodyP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管理 .npy 数据、模型文件、Excel 结果文件、可视化图像及系统日志</a:t>
              </a:r>
              <a:r>
                <a:rPr lang="en-US" sz="88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a:t>
              </a:r>
              <a:endParaRPr lang="en-US" sz="880" dirty="0">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90" y="702945"/>
            <a:ext cx="2616200"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三</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系统功能模块设：</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1007745" y="1060450"/>
            <a:ext cx="7296150" cy="3862070"/>
            <a:chOff x="792" y="1368"/>
            <a:chExt cx="12744" cy="7491"/>
          </a:xfrm>
        </p:grpSpPr>
        <p:sp>
          <p:nvSpPr>
            <p:cNvPr id="3" name="Text 3"/>
            <p:cNvSpPr/>
            <p:nvPr/>
          </p:nvSpPr>
          <p:spPr>
            <a:xfrm>
              <a:off x="792" y="1368"/>
              <a:ext cx="12672" cy="403"/>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围绕“数据上传—模型训练—结果生成—可视化分析—日志记录”构建功能闭环</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Shape 4"/>
            <p:cNvSpPr/>
            <p:nvPr/>
          </p:nvSpPr>
          <p:spPr>
            <a:xfrm>
              <a:off x="792" y="2088"/>
              <a:ext cx="3096" cy="1512"/>
            </a:xfrm>
            <a:prstGeom prst="roundRect">
              <a:avLst/>
            </a:prstGeom>
            <a:solidFill>
              <a:srgbClr val="F2F7FF"/>
            </a:solidFill>
            <a:ln w="13970">
              <a:solidFill>
                <a:srgbClr val="1F4E8C"/>
              </a:solidFill>
              <a:prstDash val="solid"/>
            </a:ln>
          </p:spPr>
        </p:sp>
        <p:sp>
          <p:nvSpPr>
            <p:cNvPr id="8" name="Text 5"/>
            <p:cNvSpPr/>
            <p:nvPr/>
          </p:nvSpPr>
          <p:spPr>
            <a:xfrm>
              <a:off x="965" y="2261"/>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用户登录/注册</a:t>
              </a:r>
              <a:endParaRPr lang="en-US" sz="11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Text 6"/>
            <p:cNvSpPr/>
            <p:nvPr/>
          </p:nvSpPr>
          <p:spPr>
            <a:xfrm>
              <a:off x="965" y="2765"/>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完成身份验证与访问控制</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0" name="Shape 7"/>
            <p:cNvSpPr/>
            <p:nvPr/>
          </p:nvSpPr>
          <p:spPr>
            <a:xfrm>
              <a:off x="4205" y="2088"/>
              <a:ext cx="3096" cy="1512"/>
            </a:xfrm>
            <a:prstGeom prst="roundRect">
              <a:avLst/>
            </a:prstGeom>
            <a:solidFill>
              <a:srgbClr val="F4FBF1"/>
            </a:solidFill>
            <a:ln w="13970">
              <a:solidFill>
                <a:srgbClr val="2F75B5"/>
              </a:solidFill>
              <a:prstDash val="solid"/>
            </a:ln>
          </p:spPr>
        </p:sp>
        <p:sp>
          <p:nvSpPr>
            <p:cNvPr id="11" name="Text 8"/>
            <p:cNvSpPr/>
            <p:nvPr/>
          </p:nvSpPr>
          <p:spPr>
            <a:xfrm>
              <a:off x="4378" y="2261"/>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rPr>
                <a:t>系统概览</a:t>
              </a:r>
              <a:endParaRPr lang="en-US" sz="1100" b="1" dirty="0">
                <a:solidFill>
                  <a:srgbClr val="2F75B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Text 9"/>
            <p:cNvSpPr/>
            <p:nvPr/>
          </p:nvSpPr>
          <p:spPr>
            <a:xfrm>
              <a:off x="4378" y="2765"/>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展示运行状态、模型信息与功能入口</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Shape 10"/>
            <p:cNvSpPr/>
            <p:nvPr/>
          </p:nvSpPr>
          <p:spPr>
            <a:xfrm>
              <a:off x="7618" y="2088"/>
              <a:ext cx="3096" cy="1512"/>
            </a:xfrm>
            <a:prstGeom prst="roundRect">
              <a:avLst/>
            </a:prstGeom>
            <a:solidFill>
              <a:srgbClr val="FFF7EB"/>
            </a:solidFill>
            <a:ln w="13970">
              <a:solidFill>
                <a:srgbClr val="5EAD46"/>
              </a:solidFill>
              <a:prstDash val="solid"/>
            </a:ln>
          </p:spPr>
        </p:sp>
        <p:sp>
          <p:nvSpPr>
            <p:cNvPr id="14" name="Text 11"/>
            <p:cNvSpPr/>
            <p:nvPr/>
          </p:nvSpPr>
          <p:spPr>
            <a:xfrm>
              <a:off x="7790" y="2261"/>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模型训练</a:t>
              </a:r>
              <a:endParaRPr lang="en-US" sz="110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Text 12"/>
            <p:cNvSpPr/>
            <p:nvPr/>
          </p:nvSpPr>
          <p:spPr>
            <a:xfrm>
              <a:off x="7790" y="2765"/>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上传训练集并配置 Epoch、Batch Size、学习率</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Shape 13"/>
            <p:cNvSpPr/>
            <p:nvPr/>
          </p:nvSpPr>
          <p:spPr>
            <a:xfrm>
              <a:off x="792" y="3960"/>
              <a:ext cx="3096" cy="1512"/>
            </a:xfrm>
            <a:prstGeom prst="roundRect">
              <a:avLst/>
            </a:prstGeom>
            <a:solidFill>
              <a:srgbClr val="F2F7FF"/>
            </a:solidFill>
            <a:ln w="13970">
              <a:solidFill>
                <a:srgbClr val="F39C12"/>
              </a:solidFill>
              <a:prstDash val="solid"/>
            </a:ln>
          </p:spPr>
        </p:sp>
        <p:sp>
          <p:nvSpPr>
            <p:cNvPr id="17" name="Text 14"/>
            <p:cNvSpPr/>
            <p:nvPr/>
          </p:nvSpPr>
          <p:spPr>
            <a:xfrm>
              <a:off x="965" y="4133"/>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rPr>
                <a:t>数据生成</a:t>
              </a:r>
              <a:endParaRPr lang="en-US" sz="11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Text 15"/>
            <p:cNvSpPr/>
            <p:nvPr/>
          </p:nvSpPr>
          <p:spPr>
            <a:xfrm>
              <a:off x="965" y="4637"/>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调用测试脚本生成 Excel 实验结果</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9" name="Shape 16"/>
            <p:cNvSpPr/>
            <p:nvPr/>
          </p:nvSpPr>
          <p:spPr>
            <a:xfrm>
              <a:off x="4205" y="3960"/>
              <a:ext cx="3096" cy="1512"/>
            </a:xfrm>
            <a:prstGeom prst="roundRect">
              <a:avLst/>
            </a:prstGeom>
            <a:solidFill>
              <a:srgbClr val="F4FBF1"/>
            </a:solidFill>
            <a:ln w="13970">
              <a:solidFill>
                <a:srgbClr val="725AC1"/>
              </a:solidFill>
              <a:prstDash val="solid"/>
            </a:ln>
          </p:spPr>
        </p:sp>
        <p:sp>
          <p:nvSpPr>
            <p:cNvPr id="20" name="Text 17"/>
            <p:cNvSpPr/>
            <p:nvPr/>
          </p:nvSpPr>
          <p:spPr>
            <a:xfrm>
              <a:off x="4378" y="4133"/>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rPr>
                <a:t>数据可视化</a:t>
              </a:r>
              <a:endParaRPr lang="en-US" sz="1100" b="1" dirty="0">
                <a:solidFill>
                  <a:srgbClr val="725AC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1" name="Text 18"/>
            <p:cNvSpPr/>
            <p:nvPr/>
          </p:nvSpPr>
          <p:spPr>
            <a:xfrm>
              <a:off x="4378" y="4637"/>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基于 ECharts 展示准确率曲线与特征图</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 name="Shape 19"/>
            <p:cNvSpPr/>
            <p:nvPr/>
          </p:nvSpPr>
          <p:spPr>
            <a:xfrm>
              <a:off x="7618" y="3960"/>
              <a:ext cx="3096" cy="1512"/>
            </a:xfrm>
            <a:prstGeom prst="roundRect">
              <a:avLst/>
            </a:prstGeom>
            <a:solidFill>
              <a:srgbClr val="FFF7EB"/>
            </a:solidFill>
            <a:ln w="13970">
              <a:solidFill>
                <a:srgbClr val="218C74"/>
              </a:solidFill>
              <a:prstDash val="solid"/>
            </a:ln>
          </p:spPr>
        </p:sp>
        <p:sp>
          <p:nvSpPr>
            <p:cNvPr id="23" name="Text 20"/>
            <p:cNvSpPr/>
            <p:nvPr/>
          </p:nvSpPr>
          <p:spPr>
            <a:xfrm>
              <a:off x="7790" y="4133"/>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218C74"/>
                  </a:solidFill>
                  <a:latin typeface="Times New Roman" panose="02020603050405020304" pitchFamily="18" charset="0"/>
                  <a:ea typeface="微软雅黑" panose="020B0503020204020204" pitchFamily="34" charset="-122"/>
                  <a:cs typeface="微软雅黑" panose="020B0503020204020204" pitchFamily="34" charset="-122"/>
                </a:rPr>
                <a:t>实验结果</a:t>
              </a:r>
              <a:endParaRPr lang="en-US" sz="1100" b="1" dirty="0">
                <a:solidFill>
                  <a:srgbClr val="218C74"/>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Text 21"/>
            <p:cNvSpPr/>
            <p:nvPr/>
          </p:nvSpPr>
          <p:spPr>
            <a:xfrm>
              <a:off x="7790" y="4637"/>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记录模型文件、结果文件和最优准确率</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5" name="Shape 22"/>
            <p:cNvSpPr/>
            <p:nvPr/>
          </p:nvSpPr>
          <p:spPr>
            <a:xfrm>
              <a:off x="792" y="5832"/>
              <a:ext cx="3096" cy="1512"/>
            </a:xfrm>
            <a:prstGeom prst="roundRect">
              <a:avLst/>
            </a:prstGeom>
            <a:solidFill>
              <a:srgbClr val="F2F7FF"/>
            </a:solidFill>
            <a:ln w="13970">
              <a:solidFill>
                <a:srgbClr val="D64545"/>
              </a:solidFill>
              <a:prstDash val="solid"/>
            </a:ln>
          </p:spPr>
        </p:sp>
        <p:sp>
          <p:nvSpPr>
            <p:cNvPr id="26" name="Text 23"/>
            <p:cNvSpPr/>
            <p:nvPr/>
          </p:nvSpPr>
          <p:spPr>
            <a:xfrm>
              <a:off x="965" y="6005"/>
              <a:ext cx="2750"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D64545"/>
                  </a:solidFill>
                  <a:latin typeface="Times New Roman" panose="02020603050405020304" pitchFamily="18" charset="0"/>
                  <a:ea typeface="微软雅黑" panose="020B0503020204020204" pitchFamily="34" charset="-122"/>
                  <a:cs typeface="微软雅黑" panose="020B0503020204020204" pitchFamily="34" charset="-122"/>
                </a:rPr>
                <a:t>系统日志</a:t>
              </a:r>
              <a:endParaRPr lang="en-US" sz="1100" b="1" dirty="0">
                <a:solidFill>
                  <a:srgbClr val="D64545"/>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7" name="Text 24"/>
            <p:cNvSpPr/>
            <p:nvPr/>
          </p:nvSpPr>
          <p:spPr>
            <a:xfrm>
              <a:off x="965" y="6509"/>
              <a:ext cx="2750" cy="605"/>
            </a:xfrm>
            <a:prstGeom prst="rect">
              <a:avLst/>
            </a:prstGeom>
            <a:noFill/>
          </p:spPr>
          <p:txBody>
            <a:bodyPr wrap="square" lIns="254" tIns="254" rIns="254" bIns="254" rtlCol="0" anchor="ctr">
              <a:normAutofit/>
            </a:bodyPr>
            <a:lstStyle/>
            <a:p>
              <a:pPr marL="0" indent="0" defTabSz="914400" eaLnBrk="0" fontAlgn="base" hangingPunct="0">
                <a:buNone/>
              </a:pPr>
              <a:r>
                <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实时显示任务状态、INFO/WARN/ERROR</a:t>
              </a:r>
              <a:endParaRPr lang="en-US" sz="86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8" name="Shape 25"/>
            <p:cNvSpPr/>
            <p:nvPr/>
          </p:nvSpPr>
          <p:spPr>
            <a:xfrm>
              <a:off x="11304" y="2088"/>
              <a:ext cx="2232" cy="5256"/>
            </a:xfrm>
            <a:prstGeom prst="roundRect">
              <a:avLst/>
            </a:prstGeom>
            <a:solidFill>
              <a:srgbClr val="F8FAFC"/>
            </a:solidFill>
            <a:ln w="13970">
              <a:solidFill>
                <a:srgbClr val="D7E3F5"/>
              </a:solidFill>
              <a:prstDash val="solid"/>
            </a:ln>
          </p:spPr>
        </p:sp>
        <p:sp>
          <p:nvSpPr>
            <p:cNvPr id="29" name="Text 26"/>
            <p:cNvSpPr/>
            <p:nvPr/>
          </p:nvSpPr>
          <p:spPr>
            <a:xfrm>
              <a:off x="11592" y="2376"/>
              <a:ext cx="1656" cy="317"/>
            </a:xfrm>
            <a:prstGeom prst="rect">
              <a:avLst/>
            </a:prstGeom>
            <a:noFill/>
          </p:spPr>
          <p:txBody>
            <a:bodyPr wrap="square" lIns="0" tIns="0" rIns="0" bIns="0" rtlCol="0" anchor="ctr"/>
            <a:lstStyle/>
            <a:p>
              <a:pPr marL="0" indent="0" algn="ctr" defTabSz="914400" eaLnBrk="0" fontAlgn="base" hangingPunct="0">
                <a:buNone/>
              </a:pPr>
              <a:r>
                <a:rPr lang="en-US" sz="12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核心接口</a:t>
              </a:r>
              <a:endParaRPr lang="en-US" sz="12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0" name="Shape 27"/>
            <p:cNvSpPr/>
            <p:nvPr/>
          </p:nvSpPr>
          <p:spPr>
            <a:xfrm>
              <a:off x="11592" y="2952"/>
              <a:ext cx="1699" cy="403"/>
            </a:xfrm>
            <a:prstGeom prst="roundRect">
              <a:avLst/>
            </a:prstGeom>
            <a:solidFill>
              <a:srgbClr val="FFFFFF"/>
            </a:solidFill>
            <a:ln w="13970">
              <a:solidFill>
                <a:srgbClr val="BBD3F2"/>
              </a:solidFill>
              <a:prstDash val="solid"/>
            </a:ln>
          </p:spPr>
        </p:sp>
        <p:sp>
          <p:nvSpPr>
            <p:cNvPr id="31" name="Text 28"/>
            <p:cNvSpPr/>
            <p:nvPr/>
          </p:nvSpPr>
          <p:spPr>
            <a:xfrm>
              <a:off x="11635" y="3053"/>
              <a:ext cx="1613" cy="173"/>
            </a:xfrm>
            <a:prstGeom prst="rect">
              <a:avLst/>
            </a:prstGeom>
            <a:noFill/>
          </p:spPr>
          <p:txBody>
            <a:bodyPr wrap="square" lIns="0" tIns="0" rIns="0" bIns="0" rtlCol="0" anchor="ctr"/>
            <a:lstStyle/>
            <a:p>
              <a:pPr marL="0" indent="0" algn="ctr" defTabSz="914400" eaLnBrk="0" fontAlgn="base" hangingPunct="0">
                <a:buNone/>
              </a:pPr>
              <a:r>
                <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POST /api/login</a:t>
              </a:r>
              <a:endPar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2" name="Shape 29"/>
            <p:cNvSpPr/>
            <p:nvPr/>
          </p:nvSpPr>
          <p:spPr>
            <a:xfrm>
              <a:off x="11592" y="3629"/>
              <a:ext cx="1699" cy="403"/>
            </a:xfrm>
            <a:prstGeom prst="roundRect">
              <a:avLst/>
            </a:prstGeom>
            <a:solidFill>
              <a:srgbClr val="FFFFFF"/>
            </a:solidFill>
            <a:ln w="13970">
              <a:solidFill>
                <a:srgbClr val="BBD3F2"/>
              </a:solidFill>
              <a:prstDash val="solid"/>
            </a:ln>
          </p:spPr>
        </p:sp>
        <p:sp>
          <p:nvSpPr>
            <p:cNvPr id="33" name="Text 30"/>
            <p:cNvSpPr/>
            <p:nvPr/>
          </p:nvSpPr>
          <p:spPr>
            <a:xfrm>
              <a:off x="11635" y="3730"/>
              <a:ext cx="1613" cy="173"/>
            </a:xfrm>
            <a:prstGeom prst="rect">
              <a:avLst/>
            </a:prstGeom>
            <a:noFill/>
          </p:spPr>
          <p:txBody>
            <a:bodyPr wrap="square" lIns="0" tIns="0" rIns="0" bIns="0" rtlCol="0" anchor="ctr"/>
            <a:lstStyle/>
            <a:p>
              <a:pPr marL="0" indent="0" algn="ctr" defTabSz="914400" eaLnBrk="0" fontAlgn="base" hangingPunct="0">
                <a:buNone/>
              </a:pPr>
              <a:r>
                <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POST /api/train</a:t>
              </a:r>
              <a:endPar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4" name="Shape 31"/>
            <p:cNvSpPr/>
            <p:nvPr/>
          </p:nvSpPr>
          <p:spPr>
            <a:xfrm>
              <a:off x="11592" y="4306"/>
              <a:ext cx="1699" cy="403"/>
            </a:xfrm>
            <a:prstGeom prst="roundRect">
              <a:avLst/>
            </a:prstGeom>
            <a:solidFill>
              <a:srgbClr val="FFFFFF"/>
            </a:solidFill>
            <a:ln w="13970">
              <a:solidFill>
                <a:srgbClr val="BBD3F2"/>
              </a:solidFill>
              <a:prstDash val="solid"/>
            </a:ln>
          </p:spPr>
        </p:sp>
        <p:sp>
          <p:nvSpPr>
            <p:cNvPr id="35" name="Text 32"/>
            <p:cNvSpPr/>
            <p:nvPr/>
          </p:nvSpPr>
          <p:spPr>
            <a:xfrm>
              <a:off x="11635" y="4406"/>
              <a:ext cx="1613" cy="173"/>
            </a:xfrm>
            <a:prstGeom prst="rect">
              <a:avLst/>
            </a:prstGeom>
            <a:noFill/>
          </p:spPr>
          <p:txBody>
            <a:bodyPr wrap="square" lIns="0" tIns="0" rIns="0" bIns="0" rtlCol="0" anchor="ctr"/>
            <a:lstStyle/>
            <a:p>
              <a:pPr marL="0" indent="0" algn="ctr" defTabSz="914400" eaLnBrk="0" fontAlgn="base" hangingPunct="0">
                <a:buNone/>
              </a:pPr>
              <a:r>
                <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POST /api/generate</a:t>
              </a:r>
              <a:endPar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6" name="Shape 33"/>
            <p:cNvSpPr/>
            <p:nvPr/>
          </p:nvSpPr>
          <p:spPr>
            <a:xfrm>
              <a:off x="11592" y="4982"/>
              <a:ext cx="1699" cy="403"/>
            </a:xfrm>
            <a:prstGeom prst="roundRect">
              <a:avLst/>
            </a:prstGeom>
            <a:solidFill>
              <a:srgbClr val="FFFFFF"/>
            </a:solidFill>
            <a:ln w="13970">
              <a:solidFill>
                <a:srgbClr val="BBD3F2"/>
              </a:solidFill>
              <a:prstDash val="solid"/>
            </a:ln>
          </p:spPr>
        </p:sp>
        <p:sp>
          <p:nvSpPr>
            <p:cNvPr id="37" name="Text 34"/>
            <p:cNvSpPr/>
            <p:nvPr/>
          </p:nvSpPr>
          <p:spPr>
            <a:xfrm>
              <a:off x="11635" y="5083"/>
              <a:ext cx="1613" cy="173"/>
            </a:xfrm>
            <a:prstGeom prst="rect">
              <a:avLst/>
            </a:prstGeom>
            <a:noFill/>
          </p:spPr>
          <p:txBody>
            <a:bodyPr wrap="square" lIns="0" tIns="0" rIns="0" bIns="0" rtlCol="0" anchor="ctr"/>
            <a:lstStyle/>
            <a:p>
              <a:pPr marL="0" indent="0" algn="ctr" defTabSz="914400" eaLnBrk="0" fontAlgn="base" hangingPunct="0">
                <a:buNone/>
              </a:pPr>
              <a:r>
                <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GET /api/result</a:t>
              </a:r>
              <a:endPar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8" name="Shape 35"/>
            <p:cNvSpPr/>
            <p:nvPr/>
          </p:nvSpPr>
          <p:spPr>
            <a:xfrm>
              <a:off x="11592" y="5659"/>
              <a:ext cx="1699" cy="403"/>
            </a:xfrm>
            <a:prstGeom prst="roundRect">
              <a:avLst/>
            </a:prstGeom>
            <a:solidFill>
              <a:srgbClr val="FFFFFF"/>
            </a:solidFill>
            <a:ln w="13970">
              <a:solidFill>
                <a:srgbClr val="BBD3F2"/>
              </a:solidFill>
              <a:prstDash val="solid"/>
            </a:ln>
          </p:spPr>
        </p:sp>
        <p:sp>
          <p:nvSpPr>
            <p:cNvPr id="39" name="Text 36"/>
            <p:cNvSpPr/>
            <p:nvPr/>
          </p:nvSpPr>
          <p:spPr>
            <a:xfrm>
              <a:off x="11635" y="5760"/>
              <a:ext cx="1613" cy="173"/>
            </a:xfrm>
            <a:prstGeom prst="rect">
              <a:avLst/>
            </a:prstGeom>
            <a:noFill/>
          </p:spPr>
          <p:txBody>
            <a:bodyPr wrap="square" lIns="0" tIns="0" rIns="0" bIns="0" rtlCol="0" anchor="ctr"/>
            <a:lstStyle/>
            <a:p>
              <a:pPr marL="0" indent="0" algn="ctr" defTabSz="914400" eaLnBrk="0" fontAlgn="base" hangingPunct="0">
                <a:buNone/>
              </a:pPr>
              <a:r>
                <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GET /api/tasks/{id}/logs</a:t>
              </a:r>
              <a:endParaRPr lang="en-US" sz="57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0" name="Shape 37"/>
            <p:cNvSpPr/>
            <p:nvPr/>
          </p:nvSpPr>
          <p:spPr>
            <a:xfrm>
              <a:off x="792" y="7707"/>
              <a:ext cx="12744" cy="1152"/>
            </a:xfrm>
            <a:prstGeom prst="roundRect">
              <a:avLst/>
            </a:prstGeom>
            <a:solidFill>
              <a:srgbClr val="EAF3FF"/>
            </a:solidFill>
            <a:ln w="13970">
              <a:solidFill>
                <a:srgbClr val="2F75B5"/>
              </a:solidFill>
              <a:prstDash val="solid"/>
            </a:ln>
          </p:spPr>
        </p:sp>
        <p:sp>
          <p:nvSpPr>
            <p:cNvPr id="41" name="Text 38"/>
            <p:cNvSpPr/>
            <p:nvPr/>
          </p:nvSpPr>
          <p:spPr>
            <a:xfrm>
              <a:off x="1080" y="8096"/>
              <a:ext cx="12168" cy="360"/>
            </a:xfrm>
            <a:prstGeom prst="rect">
              <a:avLst/>
            </a:prstGeom>
            <a:noFill/>
          </p:spPr>
          <p:txBody>
            <a:bodyPr wrap="square" lIns="0" tIns="0" rIns="0" bIns="0" rtlCol="0" anchor="ctr"/>
            <a:lstStyle/>
            <a:p>
              <a:pPr marL="0" indent="0" defTabSz="914400" eaLnBrk="0" fontAlgn="base" hangingPunct="0">
                <a:buNone/>
              </a:pPr>
              <a:r>
                <a:rPr lang="en-US" sz="11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答辩要点：各模块均面向实验流程设计，既能支撑算法训练与测试，也能完成结果展示和异常排查，符合本科毕业设计的系统验证要求。</a:t>
              </a:r>
              <a:endParaRPr lang="en-US" sz="11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90" y="702945"/>
            <a:ext cx="3792855"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四</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模型训练与数据生成模块实现：</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924560" y="1032510"/>
            <a:ext cx="7487920" cy="4027886"/>
            <a:chOff x="792" y="1368"/>
            <a:chExt cx="12672" cy="7044"/>
          </a:xfrm>
        </p:grpSpPr>
        <p:sp>
          <p:nvSpPr>
            <p:cNvPr id="3" name="Text 3"/>
            <p:cNvSpPr/>
            <p:nvPr/>
          </p:nvSpPr>
          <p:spPr>
            <a:xfrm>
              <a:off x="792" y="1368"/>
              <a:ext cx="12672" cy="403"/>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前端上传数据与参数，后端调用 Python 脚本执行训练/测试任务，并将日志实时返回页面。</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Shape 4"/>
            <p:cNvSpPr/>
            <p:nvPr/>
          </p:nvSpPr>
          <p:spPr>
            <a:xfrm>
              <a:off x="792" y="1944"/>
              <a:ext cx="6120" cy="4536"/>
            </a:xfrm>
            <a:prstGeom prst="roundRect">
              <a:avLst/>
            </a:prstGeom>
            <a:solidFill>
              <a:srgbClr val="FFFFFF">
                <a:alpha val="0"/>
              </a:srgbClr>
            </a:solidFill>
            <a:ln w="12700">
              <a:solidFill>
                <a:srgbClr val="9BBEE8"/>
              </a:solidFill>
              <a:prstDash val="solid"/>
            </a:ln>
          </p:spPr>
        </p:sp>
        <p:pic>
          <p:nvPicPr>
            <p:cNvPr id="8" name="Image 1" descr="/mnt/data/image(99).png"/>
            <p:cNvPicPr>
              <a:picLocks noChangeAspect="1"/>
            </p:cNvPicPr>
            <p:nvPr/>
          </p:nvPicPr>
          <p:blipFill>
            <a:blip r:embed="rId1"/>
            <a:stretch>
              <a:fillRect/>
            </a:stretch>
          </p:blipFill>
          <p:spPr>
            <a:xfrm>
              <a:off x="792" y="2349"/>
              <a:ext cx="6120" cy="3726"/>
            </a:xfrm>
            <a:prstGeom prst="rect">
              <a:avLst/>
            </a:prstGeom>
          </p:spPr>
        </p:pic>
        <p:sp>
          <p:nvSpPr>
            <p:cNvPr id="9" name="Shape 5"/>
            <p:cNvSpPr/>
            <p:nvPr/>
          </p:nvSpPr>
          <p:spPr>
            <a:xfrm>
              <a:off x="7272" y="1944"/>
              <a:ext cx="6120" cy="4536"/>
            </a:xfrm>
            <a:prstGeom prst="roundRect">
              <a:avLst/>
            </a:prstGeom>
            <a:solidFill>
              <a:srgbClr val="FFFFFF">
                <a:alpha val="0"/>
              </a:srgbClr>
            </a:solidFill>
            <a:ln w="12700">
              <a:solidFill>
                <a:srgbClr val="9BBEE8"/>
              </a:solidFill>
              <a:prstDash val="solid"/>
            </a:ln>
          </p:spPr>
        </p:sp>
        <p:pic>
          <p:nvPicPr>
            <p:cNvPr id="10" name="Image 2" descr="/mnt/data/image(89).png"/>
            <p:cNvPicPr>
              <a:picLocks noChangeAspect="1"/>
            </p:cNvPicPr>
            <p:nvPr/>
          </p:nvPicPr>
          <p:blipFill>
            <a:blip r:embed="rId2"/>
            <a:stretch>
              <a:fillRect/>
            </a:stretch>
          </p:blipFill>
          <p:spPr>
            <a:xfrm>
              <a:off x="7272" y="2491"/>
              <a:ext cx="6120" cy="3443"/>
            </a:xfrm>
            <a:prstGeom prst="rect">
              <a:avLst/>
            </a:prstGeom>
          </p:spPr>
        </p:pic>
        <p:sp>
          <p:nvSpPr>
            <p:cNvPr id="11" name="Shape 6"/>
            <p:cNvSpPr/>
            <p:nvPr/>
          </p:nvSpPr>
          <p:spPr>
            <a:xfrm>
              <a:off x="792" y="6763"/>
              <a:ext cx="12600" cy="1649"/>
            </a:xfrm>
            <a:prstGeom prst="roundRect">
              <a:avLst/>
            </a:prstGeom>
            <a:solidFill>
              <a:srgbClr val="F8FAFC"/>
            </a:solidFill>
            <a:ln w="13970">
              <a:solidFill>
                <a:srgbClr val="D7E3F5"/>
              </a:solidFill>
              <a:prstDash val="solid"/>
            </a:ln>
          </p:spPr>
        </p:sp>
        <p:sp>
          <p:nvSpPr>
            <p:cNvPr id="12" name="Text 7"/>
            <p:cNvSpPr/>
            <p:nvPr/>
          </p:nvSpPr>
          <p:spPr>
            <a:xfrm>
              <a:off x="1080" y="6829"/>
              <a:ext cx="1440" cy="317"/>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实现逻辑</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Text 8"/>
            <p:cNvSpPr/>
            <p:nvPr/>
          </p:nvSpPr>
          <p:spPr>
            <a:xfrm>
              <a:off x="916" y="7146"/>
              <a:ext cx="12411" cy="1150"/>
            </a:xfrm>
            <a:prstGeom prst="rect">
              <a:avLst/>
            </a:prstGeom>
            <a:noFill/>
          </p:spPr>
          <p:txBody>
            <a:bodyPr wrap="square" lIns="254" tIns="254" rIns="254" bIns="254" rtlCol="0" anchor="ctr">
              <a:noAutofit/>
            </a:bodyPr>
            <a:lstStyle/>
            <a:p>
              <a:pPr marL="0" indent="0" defTabSz="914400" eaLnBrk="0" fontAlgn="base" hangingPunct="0">
                <a:buNone/>
              </a:pPr>
              <a:r>
                <a:rPr lang="en-US" sz="11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①</a:t>
              </a:r>
              <a:r>
                <a:rPr lang="en-US" sz="11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2"/>
                </a:rPr>
                <a:t> 数据输入：</a:t>
              </a:r>
              <a:r>
                <a:rPr lang="en-US" sz="1100" dirty="0">
                  <a:solidFill>
                    <a:srgbClr val="111827"/>
                  </a:solidFill>
                  <a:latin typeface="微软雅黑" panose="020B0503020204020204" pitchFamily="34" charset="-122"/>
                  <a:ea typeface="微软雅黑" panose="020B0503020204020204" pitchFamily="34" charset="-122"/>
                  <a:cs typeface="微软雅黑" panose="020B0503020204020204" pitchFamily="34" charset="-122"/>
                </a:rPr>
                <a:t>支持 .npy、.npz、.zip、.csv、.xlsx 等数据文件上传；</a:t>
              </a:r>
              <a:r>
                <a:rPr lang="en-US" sz="11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2"/>
                </a:rPr>
                <a:t>  ② 参数配置：</a:t>
              </a:r>
              <a:r>
                <a:rPr lang="en-US" sz="1100" dirty="0">
                  <a:solidFill>
                    <a:srgbClr val="111827"/>
                  </a:solidFill>
                  <a:latin typeface="微软雅黑" panose="020B0503020204020204" pitchFamily="34" charset="-122"/>
                  <a:ea typeface="微软雅黑" panose="020B0503020204020204" pitchFamily="34" charset="-122"/>
                  <a:cs typeface="微软雅黑" panose="020B0503020204020204" pitchFamily="34" charset="-122"/>
                </a:rPr>
                <a:t>支持训练轮数、批大小、学习率和脚本名称配置；</a:t>
              </a:r>
              <a:r>
                <a:rPr lang="en-US" sz="11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2"/>
                </a:rPr>
                <a:t>  ③ 任务调度：</a:t>
              </a:r>
              <a:r>
                <a:rPr lang="en-US" sz="1100" dirty="0">
                  <a:solidFill>
                    <a:srgbClr val="111827"/>
                  </a:solidFill>
                  <a:latin typeface="微软雅黑" panose="020B0503020204020204" pitchFamily="34" charset="-122"/>
                  <a:ea typeface="微软雅黑" panose="020B0503020204020204" pitchFamily="34" charset="-122"/>
                  <a:cs typeface="微软雅黑" panose="020B0503020204020204" pitchFamily="34" charset="-122"/>
                </a:rPr>
                <a:t>由后端执行 Python 训练/测试脚本并生成结果文件；</a:t>
              </a:r>
              <a:r>
                <a:rPr lang="en-US" sz="1100" b="1" dirty="0">
                  <a:solidFill>
                    <a:srgbClr val="1F4E8C"/>
                  </a:solidFill>
                  <a:latin typeface="微软雅黑" panose="020B0503020204020204" pitchFamily="34" charset="-122"/>
                  <a:ea typeface="微软雅黑" panose="020B0503020204020204" pitchFamily="34" charset="-122"/>
                  <a:cs typeface="微软雅黑" panose="020B0503020204020204" pitchFamily="34" charset="-122"/>
                </a:rPr>
                <a:t>  ④ 日志回传：</a:t>
              </a:r>
              <a:r>
                <a:rPr lang="en-US" sz="1100" dirty="0">
                  <a:solidFill>
                    <a:srgbClr val="111827"/>
                  </a:solidFill>
                  <a:latin typeface="微软雅黑" panose="020B0503020204020204" pitchFamily="34" charset="-122"/>
                  <a:ea typeface="微软雅黑" panose="020B0503020204020204" pitchFamily="34" charset="-122"/>
                  <a:cs typeface="微软雅黑" panose="020B0503020204020204" pitchFamily="34" charset="-122"/>
                </a:rPr>
                <a:t>前端实时显示任务输出，便于定位环境、路径和数据异常。</a:t>
              </a:r>
              <a:endParaRPr lang="en-US" sz="1100" dirty="0">
                <a:solidFill>
                  <a:srgbClr val="111827"/>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90" y="702945"/>
            <a:ext cx="3775075"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五</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实验结果与系统日志模块实现：</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4" name="组合 3"/>
          <p:cNvGrpSpPr/>
          <p:nvPr>
            <p:custDataLst>
              <p:tags r:id="rId1"/>
            </p:custDataLst>
          </p:nvPr>
        </p:nvGrpSpPr>
        <p:grpSpPr>
          <a:xfrm>
            <a:off x="874395" y="1043940"/>
            <a:ext cx="7623810" cy="3996999"/>
            <a:chOff x="792" y="1368"/>
            <a:chExt cx="12744" cy="7751"/>
          </a:xfrm>
        </p:grpSpPr>
        <p:sp>
          <p:nvSpPr>
            <p:cNvPr id="3" name="Text 3"/>
            <p:cNvSpPr/>
            <p:nvPr/>
          </p:nvSpPr>
          <p:spPr>
            <a:xfrm>
              <a:off x="792" y="1368"/>
              <a:ext cx="12672" cy="805"/>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        结果模块用于沉淀实验产物，日志模块用于记录运行状态，二者共同保证实验过程可追踪、可复现。</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 name="Shape 4"/>
            <p:cNvSpPr/>
            <p:nvPr>
              <p:custDataLst>
                <p:tags r:id="rId2"/>
              </p:custDataLst>
            </p:nvPr>
          </p:nvSpPr>
          <p:spPr>
            <a:xfrm>
              <a:off x="792" y="2434"/>
              <a:ext cx="6182" cy="4412"/>
            </a:xfrm>
            <a:prstGeom prst="roundRect">
              <a:avLst/>
            </a:prstGeom>
            <a:solidFill>
              <a:srgbClr val="FFFFFF">
                <a:alpha val="0"/>
              </a:srgbClr>
            </a:solidFill>
            <a:ln w="12700">
              <a:solidFill>
                <a:srgbClr val="9BBEE8"/>
              </a:solidFill>
              <a:prstDash val="solid"/>
            </a:ln>
          </p:spPr>
        </p:sp>
        <p:pic>
          <p:nvPicPr>
            <p:cNvPr id="8" name="Image 1" descr="/mnt/data/modern_experiment_results_dashboard_interface.png"/>
            <p:cNvPicPr>
              <a:picLocks noChangeAspect="1"/>
            </p:cNvPicPr>
            <p:nvPr>
              <p:custDataLst>
                <p:tags r:id="rId3"/>
              </p:custDataLst>
            </p:nvPr>
          </p:nvPicPr>
          <p:blipFill>
            <a:blip r:embed="rId4"/>
            <a:stretch>
              <a:fillRect/>
            </a:stretch>
          </p:blipFill>
          <p:spPr>
            <a:xfrm>
              <a:off x="792" y="2916"/>
              <a:ext cx="6264" cy="3525"/>
            </a:xfrm>
            <a:prstGeom prst="rect">
              <a:avLst/>
            </a:prstGeom>
          </p:spPr>
        </p:pic>
        <p:sp>
          <p:nvSpPr>
            <p:cNvPr id="9" name="Shape 5"/>
            <p:cNvSpPr/>
            <p:nvPr>
              <p:custDataLst>
                <p:tags r:id="rId5"/>
              </p:custDataLst>
            </p:nvPr>
          </p:nvSpPr>
          <p:spPr>
            <a:xfrm>
              <a:off x="7416" y="2436"/>
              <a:ext cx="6049" cy="4410"/>
            </a:xfrm>
            <a:prstGeom prst="roundRect">
              <a:avLst/>
            </a:prstGeom>
            <a:solidFill>
              <a:srgbClr val="FFFFFF">
                <a:alpha val="0"/>
              </a:srgbClr>
            </a:solidFill>
            <a:ln w="12700">
              <a:solidFill>
                <a:srgbClr val="9BBEE8"/>
              </a:solidFill>
              <a:prstDash val="solid"/>
            </a:ln>
          </p:spPr>
        </p:sp>
        <p:pic>
          <p:nvPicPr>
            <p:cNvPr id="10" name="Image 2" descr="/mnt/data/system_log_interface_dashboard_view.png"/>
            <p:cNvPicPr>
              <a:picLocks noChangeAspect="1"/>
            </p:cNvPicPr>
            <p:nvPr>
              <p:custDataLst>
                <p:tags r:id="rId6"/>
              </p:custDataLst>
            </p:nvPr>
          </p:nvPicPr>
          <p:blipFill>
            <a:blip r:embed="rId7"/>
            <a:stretch>
              <a:fillRect/>
            </a:stretch>
          </p:blipFill>
          <p:spPr>
            <a:xfrm>
              <a:off x="7416" y="2997"/>
              <a:ext cx="6120" cy="3364"/>
            </a:xfrm>
            <a:prstGeom prst="rect">
              <a:avLst/>
            </a:prstGeom>
          </p:spPr>
        </p:pic>
        <p:sp>
          <p:nvSpPr>
            <p:cNvPr id="11" name="Shape 6"/>
            <p:cNvSpPr/>
            <p:nvPr>
              <p:custDataLst>
                <p:tags r:id="rId8"/>
              </p:custDataLst>
            </p:nvPr>
          </p:nvSpPr>
          <p:spPr>
            <a:xfrm>
              <a:off x="792" y="6982"/>
              <a:ext cx="6264" cy="1080"/>
            </a:xfrm>
            <a:prstGeom prst="roundRect">
              <a:avLst/>
            </a:prstGeom>
            <a:solidFill>
              <a:srgbClr val="F2F7FF"/>
            </a:solidFill>
            <a:ln w="13970">
              <a:solidFill>
                <a:srgbClr val="2F75B5"/>
              </a:solidFill>
              <a:prstDash val="solid"/>
            </a:ln>
          </p:spPr>
        </p:sp>
        <p:sp>
          <p:nvSpPr>
            <p:cNvPr id="12" name="Text 7"/>
            <p:cNvSpPr/>
            <p:nvPr>
              <p:custDataLst>
                <p:tags r:id="rId9"/>
              </p:custDataLst>
            </p:nvPr>
          </p:nvSpPr>
          <p:spPr>
            <a:xfrm>
              <a:off x="1080" y="7044"/>
              <a:ext cx="1944" cy="288"/>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实验结果模块</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3" name="Text 8"/>
            <p:cNvSpPr/>
            <p:nvPr>
              <p:custDataLst>
                <p:tags r:id="rId10"/>
              </p:custDataLst>
            </p:nvPr>
          </p:nvSpPr>
          <p:spPr>
            <a:xfrm>
              <a:off x="1080" y="7429"/>
              <a:ext cx="5616" cy="619"/>
            </a:xfrm>
            <a:prstGeom prst="rect">
              <a:avLst/>
            </a:prstGeom>
            <a:noFill/>
          </p:spPr>
          <p:txBody>
            <a:bodyPr wrap="square" lIns="0" tIns="0" rIns="0" bIns="0" rtlCol="0" anchor="ct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展示实验编号、算法名称、训练状态、最优准确率、模型路径和结果文件路径。</a:t>
              </a:r>
              <a:endPar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Shape 9"/>
            <p:cNvSpPr/>
            <p:nvPr>
              <p:custDataLst>
                <p:tags r:id="rId11"/>
              </p:custDataLst>
            </p:nvPr>
          </p:nvSpPr>
          <p:spPr>
            <a:xfrm>
              <a:off x="7416" y="6982"/>
              <a:ext cx="6120" cy="1080"/>
            </a:xfrm>
            <a:prstGeom prst="roundRect">
              <a:avLst/>
            </a:prstGeom>
            <a:solidFill>
              <a:srgbClr val="FFF7EB"/>
            </a:solidFill>
            <a:ln w="13970">
              <a:solidFill>
                <a:srgbClr val="F39C12"/>
              </a:solidFill>
              <a:prstDash val="solid"/>
            </a:ln>
          </p:spPr>
        </p:sp>
        <p:sp>
          <p:nvSpPr>
            <p:cNvPr id="15" name="Text 10"/>
            <p:cNvSpPr/>
            <p:nvPr>
              <p:custDataLst>
                <p:tags r:id="rId12"/>
              </p:custDataLst>
            </p:nvPr>
          </p:nvSpPr>
          <p:spPr>
            <a:xfrm>
              <a:off x="7624" y="7055"/>
              <a:ext cx="1944" cy="288"/>
            </a:xfrm>
            <a:prstGeom prst="rect">
              <a:avLst/>
            </a:prstGeom>
            <a:noFill/>
          </p:spPr>
          <p:txBody>
            <a:bodyPr wrap="square" lIns="0" tIns="0" rIns="0" bIns="0" rtlCol="0" anchor="ctr"/>
            <a:lstStyle/>
            <a:p>
              <a:pPr marL="0" indent="0" defTabSz="914400" eaLnBrk="0" fontAlgn="base" hangingPunct="0">
                <a:buNone/>
              </a:pPr>
              <a:r>
                <a:rPr lang="en-US" sz="14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rPr>
                <a:t>系统日志模块</a:t>
              </a:r>
              <a:endParaRPr lang="en-US" sz="1400" b="1" dirty="0">
                <a:solidFill>
                  <a:srgbClr val="F39C12"/>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Text 11"/>
            <p:cNvSpPr/>
            <p:nvPr>
              <p:custDataLst>
                <p:tags r:id="rId13"/>
              </p:custDataLst>
            </p:nvPr>
          </p:nvSpPr>
          <p:spPr>
            <a:xfrm>
              <a:off x="7616" y="7184"/>
              <a:ext cx="5530" cy="965"/>
            </a:xfrm>
            <a:prstGeom prst="rect">
              <a:avLst/>
            </a:prstGeom>
            <a:noFill/>
          </p:spPr>
          <p:txBody>
            <a:bodyPr wrap="square" lIns="0" tIns="0" rIns="0" bIns="0" rtlCol="0" anchor="ctr">
              <a:normAutofit/>
            </a:bodyPr>
            <a:lstStyle/>
            <a:p>
              <a:pPr marL="0" indent="0" defTabSz="914400" eaLnBrk="0" fontAlgn="base" hangingPunct="0">
                <a:buNone/>
              </a:pPr>
              <a:r>
                <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rPr>
                <a:t>记录前端、后端、脚本执行、模型加载、结果生成及异常提示等关键任务信息。</a:t>
              </a:r>
              <a:endParaRPr lang="en-US" sz="1100" dirty="0">
                <a:solidFill>
                  <a:srgbClr val="111827"/>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 name="Shape 12"/>
            <p:cNvSpPr/>
            <p:nvPr/>
          </p:nvSpPr>
          <p:spPr>
            <a:xfrm>
              <a:off x="792" y="8327"/>
              <a:ext cx="12744" cy="792"/>
            </a:xfrm>
            <a:prstGeom prst="roundRect">
              <a:avLst/>
            </a:prstGeom>
            <a:solidFill>
              <a:srgbClr val="EAF3FF"/>
            </a:solidFill>
            <a:ln w="13970">
              <a:solidFill>
                <a:srgbClr val="2F75B5"/>
              </a:solidFill>
              <a:prstDash val="solid"/>
            </a:ln>
          </p:spPr>
        </p:sp>
        <p:sp>
          <p:nvSpPr>
            <p:cNvPr id="18" name="Text 13"/>
            <p:cNvSpPr/>
            <p:nvPr/>
          </p:nvSpPr>
          <p:spPr>
            <a:xfrm>
              <a:off x="1080" y="8615"/>
              <a:ext cx="12168" cy="230"/>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结果展示负责“看得见”，系统日志负责“查得到”，共同提升系统在实验验证阶段的可维护性和可靠性。</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 name="圆角矩形 4"/>
          <p:cNvSpPr/>
          <p:nvPr/>
        </p:nvSpPr>
        <p:spPr>
          <a:xfrm>
            <a:off x="631190" y="702945"/>
            <a:ext cx="2483485"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六</a:t>
            </a:r>
            <a:r>
              <a:rPr lang="en-US" altLang="zh-CN"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系统功能测试：</a:t>
            </a:r>
            <a:endParaRPr lang="zh-CN" altLang="en-US" sz="18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64138" y="230067"/>
            <a:ext cx="3167380" cy="398780"/>
          </a:xfrm>
          <a:prstGeom prst="rect">
            <a:avLst/>
          </a:prstGeom>
          <a:noFill/>
        </p:spPr>
        <p:txBody>
          <a:bodyPr wrap="none" rtlCol="0">
            <a:spAutoFit/>
          </a:bodyPr>
          <a:lstStyle/>
          <a:p>
            <a:pPr defTabSz="914400" eaLnBrk="0" fontAlgn="base" hangingPunct="0"/>
            <a:r>
              <a:rPr lang="en-US" altLang="zh-CN"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rPr>
              <a:t>原型系统实现与功能测试</a:t>
            </a:r>
            <a:endParaRPr lang="zh-CN" altLang="en-US" sz="2000" b="1" dirty="0">
              <a:solidFill>
                <a:srgbClr val="0850B2"/>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grpSp>
        <p:nvGrpSpPr>
          <p:cNvPr id="74" name="组合 73"/>
          <p:cNvGrpSpPr/>
          <p:nvPr/>
        </p:nvGrpSpPr>
        <p:grpSpPr>
          <a:xfrm>
            <a:off x="971550" y="1063625"/>
            <a:ext cx="7452360" cy="3992862"/>
            <a:chOff x="792" y="1368"/>
            <a:chExt cx="12744" cy="7175"/>
          </a:xfrm>
        </p:grpSpPr>
        <p:sp>
          <p:nvSpPr>
            <p:cNvPr id="4" name="Text 3"/>
            <p:cNvSpPr/>
            <p:nvPr/>
          </p:nvSpPr>
          <p:spPr>
            <a:xfrm>
              <a:off x="792" y="1368"/>
              <a:ext cx="12672" cy="403"/>
            </a:xfrm>
            <a:prstGeom prst="rect">
              <a:avLst/>
            </a:prstGeom>
            <a:noFill/>
          </p:spPr>
          <p:txBody>
            <a:bodyPr wrap="square" lIns="0" tIns="0" rIns="0" bIns="0" rtlCol="0" anchor="ctr"/>
            <a:lstStyle/>
            <a:p>
              <a:pPr marL="0" indent="0" defTabSz="914400" eaLnBrk="0" fontAlgn="base" hangingPunct="0">
                <a:buNone/>
              </a:pPr>
              <a:r>
                <a:rPr lang="en-US" sz="125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从页面功能、接口调用、任务执行和结果展示四个层面验证系统可用性。</a:t>
              </a:r>
              <a:endParaRPr lang="en-US" sz="125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4" name="Shape 4"/>
            <p:cNvSpPr/>
            <p:nvPr/>
          </p:nvSpPr>
          <p:spPr>
            <a:xfrm>
              <a:off x="792" y="1944"/>
              <a:ext cx="8352" cy="5463"/>
            </a:xfrm>
            <a:prstGeom prst="roundRect">
              <a:avLst/>
            </a:prstGeom>
            <a:solidFill>
              <a:srgbClr val="FFFFFF"/>
            </a:solidFill>
            <a:ln w="13970">
              <a:solidFill>
                <a:srgbClr val="D7E3F5"/>
              </a:solidFill>
              <a:prstDash val="solid"/>
            </a:ln>
          </p:spPr>
        </p:sp>
        <p:sp>
          <p:nvSpPr>
            <p:cNvPr id="15" name="Text 5"/>
            <p:cNvSpPr/>
            <p:nvPr/>
          </p:nvSpPr>
          <p:spPr>
            <a:xfrm>
              <a:off x="1080" y="2203"/>
              <a:ext cx="2160" cy="346"/>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功能测试结果</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6" name="Shape 6"/>
            <p:cNvSpPr/>
            <p:nvPr/>
          </p:nvSpPr>
          <p:spPr>
            <a:xfrm>
              <a:off x="1080" y="2779"/>
              <a:ext cx="1656" cy="605"/>
            </a:xfrm>
            <a:prstGeom prst="rect">
              <a:avLst/>
            </a:prstGeom>
            <a:solidFill>
              <a:srgbClr val="1F4E8C"/>
            </a:solidFill>
            <a:ln w="6350">
              <a:solidFill>
                <a:srgbClr val="D7E3F5"/>
              </a:solidFill>
              <a:prstDash val="solid"/>
            </a:ln>
          </p:spPr>
        </p:sp>
        <p:sp>
          <p:nvSpPr>
            <p:cNvPr id="17" name="Text 7"/>
            <p:cNvSpPr/>
            <p:nvPr/>
          </p:nvSpPr>
          <p:spPr>
            <a:xfrm>
              <a:off x="1138" y="2966"/>
              <a:ext cx="1541" cy="202"/>
            </a:xfrm>
            <a:prstGeom prst="rect">
              <a:avLst/>
            </a:prstGeom>
            <a:noFill/>
          </p:spPr>
          <p:txBody>
            <a:bodyPr wrap="square" lIns="0" tIns="0" rIns="0" bIns="0" rtlCol="0" anchor="ctr">
              <a:normAutofit fontScale="70000"/>
            </a:bodyPr>
            <a:lstStyle/>
            <a:p>
              <a:pPr marL="0" indent="0" algn="l"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测试模块</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Shape 8"/>
            <p:cNvSpPr/>
            <p:nvPr/>
          </p:nvSpPr>
          <p:spPr>
            <a:xfrm>
              <a:off x="2736" y="2779"/>
              <a:ext cx="5472" cy="605"/>
            </a:xfrm>
            <a:prstGeom prst="rect">
              <a:avLst/>
            </a:prstGeom>
            <a:solidFill>
              <a:srgbClr val="1F4E8C"/>
            </a:solidFill>
            <a:ln w="6350">
              <a:solidFill>
                <a:srgbClr val="D7E3F5"/>
              </a:solidFill>
              <a:prstDash val="solid"/>
            </a:ln>
          </p:spPr>
        </p:sp>
        <p:sp>
          <p:nvSpPr>
            <p:cNvPr id="19" name="Text 9"/>
            <p:cNvSpPr/>
            <p:nvPr/>
          </p:nvSpPr>
          <p:spPr>
            <a:xfrm>
              <a:off x="2794" y="2966"/>
              <a:ext cx="5357" cy="202"/>
            </a:xfrm>
            <a:prstGeom prst="rect">
              <a:avLst/>
            </a:prstGeom>
            <a:noFill/>
          </p:spPr>
          <p:txBody>
            <a:bodyPr wrap="square" lIns="0" tIns="0" rIns="0" bIns="0" rtlCol="0" anchor="ctr">
              <a:normAutofit fontScale="70000"/>
            </a:bodyPr>
            <a:lstStyle/>
            <a:p>
              <a:pPr marL="0" indent="0" algn="l"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测试内容</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0" name="Shape 10"/>
            <p:cNvSpPr/>
            <p:nvPr/>
          </p:nvSpPr>
          <p:spPr>
            <a:xfrm>
              <a:off x="8208" y="2779"/>
              <a:ext cx="936" cy="605"/>
            </a:xfrm>
            <a:prstGeom prst="rect">
              <a:avLst/>
            </a:prstGeom>
            <a:solidFill>
              <a:srgbClr val="1F4E8C"/>
            </a:solidFill>
            <a:ln w="6350">
              <a:solidFill>
                <a:srgbClr val="D7E3F5"/>
              </a:solidFill>
              <a:prstDash val="solid"/>
            </a:ln>
          </p:spPr>
        </p:sp>
        <p:sp>
          <p:nvSpPr>
            <p:cNvPr id="21" name="Text 11"/>
            <p:cNvSpPr/>
            <p:nvPr/>
          </p:nvSpPr>
          <p:spPr>
            <a:xfrm>
              <a:off x="8266" y="2966"/>
              <a:ext cx="821" cy="202"/>
            </a:xfrm>
            <a:prstGeom prst="rect">
              <a:avLst/>
            </a:prstGeom>
            <a:noFill/>
          </p:spPr>
          <p:txBody>
            <a:bodyPr wrap="square" lIns="0" tIns="0" rIns="0" bIns="0" rtlCol="0" anchor="ctr">
              <a:normAutofit fontScale="70000"/>
            </a:bodyPr>
            <a:lstStyle/>
            <a:p>
              <a:pPr marL="0" indent="0" algn="ctr" defTabSz="914400" eaLnBrk="0" fontAlgn="base" hangingPunct="0">
                <a:buNone/>
              </a:pPr>
              <a:r>
                <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测试结果</a:t>
              </a:r>
              <a:endParaRPr lang="en-US" sz="85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2" name="Shape 12"/>
            <p:cNvSpPr/>
            <p:nvPr/>
          </p:nvSpPr>
          <p:spPr>
            <a:xfrm>
              <a:off x="1080" y="3384"/>
              <a:ext cx="1656" cy="605"/>
            </a:xfrm>
            <a:prstGeom prst="rect">
              <a:avLst/>
            </a:prstGeom>
            <a:solidFill>
              <a:srgbClr val="F8FBFF"/>
            </a:solidFill>
            <a:ln w="6350">
              <a:solidFill>
                <a:srgbClr val="D7E3F5"/>
              </a:solidFill>
              <a:prstDash val="solid"/>
            </a:ln>
          </p:spPr>
        </p:sp>
        <p:sp>
          <p:nvSpPr>
            <p:cNvPr id="23" name="Text 13"/>
            <p:cNvSpPr/>
            <p:nvPr/>
          </p:nvSpPr>
          <p:spPr>
            <a:xfrm>
              <a:off x="1138" y="3571"/>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登录注册</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4" name="Shape 14"/>
            <p:cNvSpPr/>
            <p:nvPr/>
          </p:nvSpPr>
          <p:spPr>
            <a:xfrm>
              <a:off x="2736" y="3384"/>
              <a:ext cx="5472" cy="605"/>
            </a:xfrm>
            <a:prstGeom prst="rect">
              <a:avLst/>
            </a:prstGeom>
            <a:solidFill>
              <a:srgbClr val="F8FBFF"/>
            </a:solidFill>
            <a:ln w="6350">
              <a:solidFill>
                <a:srgbClr val="D7E3F5"/>
              </a:solidFill>
              <a:prstDash val="solid"/>
            </a:ln>
          </p:spPr>
        </p:sp>
        <p:sp>
          <p:nvSpPr>
            <p:cNvPr id="25" name="Text 15"/>
            <p:cNvSpPr/>
            <p:nvPr/>
          </p:nvSpPr>
          <p:spPr>
            <a:xfrm>
              <a:off x="2794" y="3571"/>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账号注册、登录状态保持、退出登录</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Shape 16"/>
            <p:cNvSpPr/>
            <p:nvPr/>
          </p:nvSpPr>
          <p:spPr>
            <a:xfrm>
              <a:off x="8208" y="3384"/>
              <a:ext cx="936" cy="605"/>
            </a:xfrm>
            <a:prstGeom prst="rect">
              <a:avLst/>
            </a:prstGeom>
            <a:solidFill>
              <a:srgbClr val="F8FBFF"/>
            </a:solidFill>
            <a:ln w="6350">
              <a:solidFill>
                <a:srgbClr val="D7E3F5"/>
              </a:solidFill>
              <a:prstDash val="solid"/>
            </a:ln>
          </p:spPr>
        </p:sp>
        <p:sp>
          <p:nvSpPr>
            <p:cNvPr id="27" name="Text 17"/>
            <p:cNvSpPr/>
            <p:nvPr/>
          </p:nvSpPr>
          <p:spPr>
            <a:xfrm>
              <a:off x="8266" y="3571"/>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8" name="Shape 18"/>
            <p:cNvSpPr/>
            <p:nvPr/>
          </p:nvSpPr>
          <p:spPr>
            <a:xfrm>
              <a:off x="1080" y="3989"/>
              <a:ext cx="1656" cy="605"/>
            </a:xfrm>
            <a:prstGeom prst="rect">
              <a:avLst/>
            </a:prstGeom>
            <a:solidFill>
              <a:srgbClr val="F8FBFF"/>
            </a:solidFill>
            <a:ln w="6350">
              <a:solidFill>
                <a:srgbClr val="D7E3F5"/>
              </a:solidFill>
              <a:prstDash val="solid"/>
            </a:ln>
          </p:spPr>
        </p:sp>
        <p:sp>
          <p:nvSpPr>
            <p:cNvPr id="29" name="Text 19"/>
            <p:cNvSpPr/>
            <p:nvPr/>
          </p:nvSpPr>
          <p:spPr>
            <a:xfrm>
              <a:off x="1138" y="4176"/>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模型训练</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0" name="Shape 20"/>
            <p:cNvSpPr/>
            <p:nvPr/>
          </p:nvSpPr>
          <p:spPr>
            <a:xfrm>
              <a:off x="2736" y="3989"/>
              <a:ext cx="5472" cy="605"/>
            </a:xfrm>
            <a:prstGeom prst="rect">
              <a:avLst/>
            </a:prstGeom>
            <a:solidFill>
              <a:srgbClr val="F8FBFF"/>
            </a:solidFill>
            <a:ln w="6350">
              <a:solidFill>
                <a:srgbClr val="D7E3F5"/>
              </a:solidFill>
              <a:prstDash val="solid"/>
            </a:ln>
          </p:spPr>
        </p:sp>
        <p:sp>
          <p:nvSpPr>
            <p:cNvPr id="31" name="Text 21"/>
            <p:cNvSpPr/>
            <p:nvPr/>
          </p:nvSpPr>
          <p:spPr>
            <a:xfrm>
              <a:off x="2794" y="4176"/>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上传训练集、配置参数、调用训练脚本</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2" name="Shape 22"/>
            <p:cNvSpPr/>
            <p:nvPr/>
          </p:nvSpPr>
          <p:spPr>
            <a:xfrm>
              <a:off x="8208" y="3989"/>
              <a:ext cx="936" cy="605"/>
            </a:xfrm>
            <a:prstGeom prst="rect">
              <a:avLst/>
            </a:prstGeom>
            <a:solidFill>
              <a:srgbClr val="F8FBFF"/>
            </a:solidFill>
            <a:ln w="6350">
              <a:solidFill>
                <a:srgbClr val="D7E3F5"/>
              </a:solidFill>
              <a:prstDash val="solid"/>
            </a:ln>
          </p:spPr>
        </p:sp>
        <p:sp>
          <p:nvSpPr>
            <p:cNvPr id="33" name="Text 23"/>
            <p:cNvSpPr/>
            <p:nvPr/>
          </p:nvSpPr>
          <p:spPr>
            <a:xfrm>
              <a:off x="8266" y="4176"/>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4" name="Shape 24"/>
            <p:cNvSpPr/>
            <p:nvPr/>
          </p:nvSpPr>
          <p:spPr>
            <a:xfrm>
              <a:off x="1080" y="4594"/>
              <a:ext cx="1656" cy="605"/>
            </a:xfrm>
            <a:prstGeom prst="rect">
              <a:avLst/>
            </a:prstGeom>
            <a:solidFill>
              <a:srgbClr val="F8FBFF"/>
            </a:solidFill>
            <a:ln w="6350">
              <a:solidFill>
                <a:srgbClr val="D7E3F5"/>
              </a:solidFill>
              <a:prstDash val="solid"/>
            </a:ln>
          </p:spPr>
        </p:sp>
        <p:sp>
          <p:nvSpPr>
            <p:cNvPr id="35" name="Text 25"/>
            <p:cNvSpPr/>
            <p:nvPr/>
          </p:nvSpPr>
          <p:spPr>
            <a:xfrm>
              <a:off x="1138" y="4781"/>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数据生成</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6" name="Shape 26"/>
            <p:cNvSpPr/>
            <p:nvPr/>
          </p:nvSpPr>
          <p:spPr>
            <a:xfrm>
              <a:off x="2736" y="4594"/>
              <a:ext cx="5472" cy="605"/>
            </a:xfrm>
            <a:prstGeom prst="rect">
              <a:avLst/>
            </a:prstGeom>
            <a:solidFill>
              <a:srgbClr val="F8FBFF"/>
            </a:solidFill>
            <a:ln w="6350">
              <a:solidFill>
                <a:srgbClr val="D7E3F5"/>
              </a:solidFill>
              <a:prstDash val="solid"/>
            </a:ln>
          </p:spPr>
        </p:sp>
        <p:sp>
          <p:nvSpPr>
            <p:cNvPr id="37" name="Text 27"/>
            <p:cNvSpPr/>
            <p:nvPr/>
          </p:nvSpPr>
          <p:spPr>
            <a:xfrm>
              <a:off x="2794" y="4781"/>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上传测试集、调用测试脚本、生成 Excel</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8" name="Shape 28"/>
            <p:cNvSpPr/>
            <p:nvPr/>
          </p:nvSpPr>
          <p:spPr>
            <a:xfrm>
              <a:off x="8208" y="4594"/>
              <a:ext cx="936" cy="605"/>
            </a:xfrm>
            <a:prstGeom prst="rect">
              <a:avLst/>
            </a:prstGeom>
            <a:solidFill>
              <a:srgbClr val="F8FBFF"/>
            </a:solidFill>
            <a:ln w="6350">
              <a:solidFill>
                <a:srgbClr val="D7E3F5"/>
              </a:solidFill>
              <a:prstDash val="solid"/>
            </a:ln>
          </p:spPr>
        </p:sp>
        <p:sp>
          <p:nvSpPr>
            <p:cNvPr id="39" name="Text 29"/>
            <p:cNvSpPr/>
            <p:nvPr/>
          </p:nvSpPr>
          <p:spPr>
            <a:xfrm>
              <a:off x="8266" y="4781"/>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0" name="Shape 30"/>
            <p:cNvSpPr/>
            <p:nvPr/>
          </p:nvSpPr>
          <p:spPr>
            <a:xfrm>
              <a:off x="1080" y="5198"/>
              <a:ext cx="1656" cy="605"/>
            </a:xfrm>
            <a:prstGeom prst="rect">
              <a:avLst/>
            </a:prstGeom>
            <a:solidFill>
              <a:srgbClr val="F8FBFF"/>
            </a:solidFill>
            <a:ln w="6350">
              <a:solidFill>
                <a:srgbClr val="D7E3F5"/>
              </a:solidFill>
              <a:prstDash val="solid"/>
            </a:ln>
          </p:spPr>
        </p:sp>
        <p:sp>
          <p:nvSpPr>
            <p:cNvPr id="41" name="Text 31"/>
            <p:cNvSpPr/>
            <p:nvPr/>
          </p:nvSpPr>
          <p:spPr>
            <a:xfrm>
              <a:off x="1138" y="5386"/>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数据可视化</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2" name="Shape 32"/>
            <p:cNvSpPr/>
            <p:nvPr/>
          </p:nvSpPr>
          <p:spPr>
            <a:xfrm>
              <a:off x="2736" y="5198"/>
              <a:ext cx="5472" cy="605"/>
            </a:xfrm>
            <a:prstGeom prst="rect">
              <a:avLst/>
            </a:prstGeom>
            <a:solidFill>
              <a:srgbClr val="F8FBFF"/>
            </a:solidFill>
            <a:ln w="6350">
              <a:solidFill>
                <a:srgbClr val="D7E3F5"/>
              </a:solidFill>
              <a:prstDash val="solid"/>
            </a:ln>
          </p:spPr>
        </p:sp>
        <p:sp>
          <p:nvSpPr>
            <p:cNvPr id="43" name="Text 33"/>
            <p:cNvSpPr/>
            <p:nvPr/>
          </p:nvSpPr>
          <p:spPr>
            <a:xfrm>
              <a:off x="2794" y="5386"/>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读取结果并绘制图表、支持图片导出</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4" name="Shape 34"/>
            <p:cNvSpPr/>
            <p:nvPr/>
          </p:nvSpPr>
          <p:spPr>
            <a:xfrm>
              <a:off x="8208" y="5198"/>
              <a:ext cx="936" cy="605"/>
            </a:xfrm>
            <a:prstGeom prst="rect">
              <a:avLst/>
            </a:prstGeom>
            <a:solidFill>
              <a:srgbClr val="F8FBFF"/>
            </a:solidFill>
            <a:ln w="6350">
              <a:solidFill>
                <a:srgbClr val="D7E3F5"/>
              </a:solidFill>
              <a:prstDash val="solid"/>
            </a:ln>
          </p:spPr>
        </p:sp>
        <p:sp>
          <p:nvSpPr>
            <p:cNvPr id="45" name="Text 35"/>
            <p:cNvSpPr/>
            <p:nvPr/>
          </p:nvSpPr>
          <p:spPr>
            <a:xfrm>
              <a:off x="8266" y="5386"/>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6" name="Shape 36"/>
            <p:cNvSpPr/>
            <p:nvPr/>
          </p:nvSpPr>
          <p:spPr>
            <a:xfrm>
              <a:off x="1080" y="5803"/>
              <a:ext cx="1656" cy="605"/>
            </a:xfrm>
            <a:prstGeom prst="rect">
              <a:avLst/>
            </a:prstGeom>
            <a:solidFill>
              <a:srgbClr val="F8FBFF"/>
            </a:solidFill>
            <a:ln w="6350">
              <a:solidFill>
                <a:srgbClr val="D7E3F5"/>
              </a:solidFill>
              <a:prstDash val="solid"/>
            </a:ln>
          </p:spPr>
        </p:sp>
        <p:sp>
          <p:nvSpPr>
            <p:cNvPr id="47" name="Text 37"/>
            <p:cNvSpPr/>
            <p:nvPr/>
          </p:nvSpPr>
          <p:spPr>
            <a:xfrm>
              <a:off x="1138" y="5990"/>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实验结果</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48" name="Shape 38"/>
            <p:cNvSpPr/>
            <p:nvPr/>
          </p:nvSpPr>
          <p:spPr>
            <a:xfrm>
              <a:off x="2736" y="5803"/>
              <a:ext cx="5472" cy="605"/>
            </a:xfrm>
            <a:prstGeom prst="rect">
              <a:avLst/>
            </a:prstGeom>
            <a:solidFill>
              <a:srgbClr val="F8FBFF"/>
            </a:solidFill>
            <a:ln w="6350">
              <a:solidFill>
                <a:srgbClr val="D7E3F5"/>
              </a:solidFill>
              <a:prstDash val="solid"/>
            </a:ln>
          </p:spPr>
        </p:sp>
        <p:sp>
          <p:nvSpPr>
            <p:cNvPr id="49" name="Text 39"/>
            <p:cNvSpPr/>
            <p:nvPr/>
          </p:nvSpPr>
          <p:spPr>
            <a:xfrm>
              <a:off x="2794" y="5990"/>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展示准确率、模型路径和结果文件</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0" name="Shape 40"/>
            <p:cNvSpPr/>
            <p:nvPr/>
          </p:nvSpPr>
          <p:spPr>
            <a:xfrm>
              <a:off x="8208" y="5803"/>
              <a:ext cx="936" cy="605"/>
            </a:xfrm>
            <a:prstGeom prst="rect">
              <a:avLst/>
            </a:prstGeom>
            <a:solidFill>
              <a:srgbClr val="F8FBFF"/>
            </a:solidFill>
            <a:ln w="6350">
              <a:solidFill>
                <a:srgbClr val="D7E3F5"/>
              </a:solidFill>
              <a:prstDash val="solid"/>
            </a:ln>
          </p:spPr>
        </p:sp>
        <p:sp>
          <p:nvSpPr>
            <p:cNvPr id="51" name="Text 41"/>
            <p:cNvSpPr/>
            <p:nvPr/>
          </p:nvSpPr>
          <p:spPr>
            <a:xfrm>
              <a:off x="8266" y="5990"/>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2" name="Shape 42"/>
            <p:cNvSpPr/>
            <p:nvPr/>
          </p:nvSpPr>
          <p:spPr>
            <a:xfrm>
              <a:off x="1080" y="6408"/>
              <a:ext cx="1656" cy="605"/>
            </a:xfrm>
            <a:prstGeom prst="rect">
              <a:avLst/>
            </a:prstGeom>
            <a:solidFill>
              <a:srgbClr val="F8FBFF"/>
            </a:solidFill>
            <a:ln w="6350">
              <a:solidFill>
                <a:srgbClr val="D7E3F5"/>
              </a:solidFill>
              <a:prstDash val="solid"/>
            </a:ln>
          </p:spPr>
        </p:sp>
        <p:sp>
          <p:nvSpPr>
            <p:cNvPr id="53" name="Text 43"/>
            <p:cNvSpPr/>
            <p:nvPr/>
          </p:nvSpPr>
          <p:spPr>
            <a:xfrm>
              <a:off x="1138" y="6595"/>
              <a:ext cx="1541"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系统日志</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4" name="Shape 44"/>
            <p:cNvSpPr/>
            <p:nvPr/>
          </p:nvSpPr>
          <p:spPr>
            <a:xfrm>
              <a:off x="2736" y="6408"/>
              <a:ext cx="5472" cy="605"/>
            </a:xfrm>
            <a:prstGeom prst="rect">
              <a:avLst/>
            </a:prstGeom>
            <a:solidFill>
              <a:srgbClr val="F8FBFF"/>
            </a:solidFill>
            <a:ln w="6350">
              <a:solidFill>
                <a:srgbClr val="D7E3F5"/>
              </a:solidFill>
              <a:prstDash val="solid"/>
            </a:ln>
          </p:spPr>
        </p:sp>
        <p:sp>
          <p:nvSpPr>
            <p:cNvPr id="55" name="Text 45"/>
            <p:cNvSpPr/>
            <p:nvPr/>
          </p:nvSpPr>
          <p:spPr>
            <a:xfrm>
              <a:off x="2794" y="6595"/>
              <a:ext cx="5357" cy="202"/>
            </a:xfrm>
            <a:prstGeom prst="rect">
              <a:avLst/>
            </a:prstGeom>
            <a:noFill/>
          </p:spPr>
          <p:txBody>
            <a:bodyPr wrap="square" lIns="0" tIns="0" rIns="0" bIns="0" rtlCol="0" anchor="ctr">
              <a:normAutofit fontScale="90000" lnSpcReduction="10000"/>
            </a:bodyPr>
            <a:lstStyle/>
            <a:p>
              <a:pPr marL="0" indent="0" algn="l" defTabSz="914400" eaLnBrk="0" fontAlgn="base" hangingPunct="0">
                <a:buNone/>
              </a:pPr>
              <a:r>
                <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INFO/WARN/ERROR 分类展示和排查</a:t>
              </a:r>
              <a:endParaRPr lang="en-US" sz="750"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6" name="Shape 46"/>
            <p:cNvSpPr/>
            <p:nvPr/>
          </p:nvSpPr>
          <p:spPr>
            <a:xfrm>
              <a:off x="8208" y="6408"/>
              <a:ext cx="936" cy="605"/>
            </a:xfrm>
            <a:prstGeom prst="rect">
              <a:avLst/>
            </a:prstGeom>
            <a:solidFill>
              <a:srgbClr val="F8FBFF"/>
            </a:solidFill>
            <a:ln w="6350">
              <a:solidFill>
                <a:srgbClr val="D7E3F5"/>
              </a:solidFill>
              <a:prstDash val="solid"/>
            </a:ln>
          </p:spPr>
        </p:sp>
        <p:sp>
          <p:nvSpPr>
            <p:cNvPr id="57" name="Text 47"/>
            <p:cNvSpPr/>
            <p:nvPr/>
          </p:nvSpPr>
          <p:spPr>
            <a:xfrm>
              <a:off x="8266" y="6595"/>
              <a:ext cx="821" cy="202"/>
            </a:xfrm>
            <a:prstGeom prst="rect">
              <a:avLst/>
            </a:prstGeom>
            <a:noFill/>
          </p:spPr>
          <p:txBody>
            <a:bodyPr wrap="square" lIns="0" tIns="0" rIns="0" bIns="0" rtlCol="0" anchor="ctr">
              <a:normAutofit fontScale="90000" lnSpcReduction="10000"/>
            </a:bodyPr>
            <a:lstStyle/>
            <a:p>
              <a:pPr marL="0" indent="0" algn="ctr" defTabSz="914400" eaLnBrk="0" fontAlgn="base" hangingPunct="0">
                <a:buNone/>
              </a:pPr>
              <a:r>
                <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rPr>
                <a:t>通过</a:t>
              </a:r>
              <a:endParaRPr lang="en-US" sz="750" b="1" dirty="0">
                <a:solidFill>
                  <a:srgbClr val="5EAD46"/>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58" name="Shape 48"/>
            <p:cNvSpPr/>
            <p:nvPr/>
          </p:nvSpPr>
          <p:spPr>
            <a:xfrm>
              <a:off x="9576" y="1944"/>
              <a:ext cx="3960" cy="5463"/>
            </a:xfrm>
            <a:prstGeom prst="roundRect">
              <a:avLst/>
            </a:prstGeom>
            <a:solidFill>
              <a:srgbClr val="F8FAFC"/>
            </a:solidFill>
            <a:ln w="13970">
              <a:solidFill>
                <a:srgbClr val="D7E3F5"/>
              </a:solidFill>
              <a:prstDash val="solid"/>
            </a:ln>
          </p:spPr>
        </p:sp>
        <p:sp>
          <p:nvSpPr>
            <p:cNvPr id="59" name="Text 49"/>
            <p:cNvSpPr/>
            <p:nvPr/>
          </p:nvSpPr>
          <p:spPr>
            <a:xfrm>
              <a:off x="9965" y="2333"/>
              <a:ext cx="1800" cy="360"/>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测试结论</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0" name="Shape 50"/>
            <p:cNvSpPr/>
            <p:nvPr/>
          </p:nvSpPr>
          <p:spPr>
            <a:xfrm>
              <a:off x="9965" y="2995"/>
              <a:ext cx="461" cy="461"/>
            </a:xfrm>
            <a:prstGeom prst="ellipse">
              <a:avLst/>
            </a:prstGeom>
            <a:solidFill>
              <a:srgbClr val="2F75B5"/>
            </a:solidFill>
            <a:ln w="12700">
              <a:solidFill>
                <a:srgbClr val="2F75B5"/>
              </a:solidFill>
              <a:prstDash val="solid"/>
            </a:ln>
          </p:spPr>
        </p:sp>
        <p:sp>
          <p:nvSpPr>
            <p:cNvPr id="61" name="Text 51"/>
            <p:cNvSpPr/>
            <p:nvPr/>
          </p:nvSpPr>
          <p:spPr>
            <a:xfrm>
              <a:off x="9965" y="3125"/>
              <a:ext cx="462" cy="144"/>
            </a:xfrm>
            <a:prstGeom prst="rect">
              <a:avLst/>
            </a:prstGeom>
            <a:noFill/>
          </p:spPr>
          <p:txBody>
            <a:bodyPr wrap="square" lIns="0" tIns="0" rIns="0" bIns="0" rtlCol="0" anchor="ctr"/>
            <a:lstStyle/>
            <a:p>
              <a:pPr marL="0" indent="0" algn="ctr" defTabSz="914400" eaLnBrk="0" fontAlgn="base" hangingPunct="0">
                <a:buNone/>
              </a:pPr>
              <a:r>
                <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1</a:t>
              </a:r>
              <a:endPar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2" name="Text 52"/>
            <p:cNvSpPr/>
            <p:nvPr/>
          </p:nvSpPr>
          <p:spPr>
            <a:xfrm>
              <a:off x="10584" y="3032"/>
              <a:ext cx="2160" cy="259"/>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流程完整</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3" name="Text 53"/>
            <p:cNvSpPr/>
            <p:nvPr/>
          </p:nvSpPr>
          <p:spPr>
            <a:xfrm>
              <a:off x="10583" y="3441"/>
              <a:ext cx="2520" cy="737"/>
            </a:xfrm>
            <a:prstGeom prst="rect">
              <a:avLst/>
            </a:prstGeom>
            <a:noFill/>
          </p:spPr>
          <p:txBody>
            <a:bodyPr wrap="square" lIns="0" tIns="0" rIns="0" bIns="0" rtlCol="0" anchor="ctr">
              <a:noAutofit/>
            </a:bodyPr>
            <a:lstStyle/>
            <a:p>
              <a:pPr marL="0" indent="0" defTabSz="914400" eaLnBrk="0" fontAlgn="base" hangingPunct="0">
                <a:buNone/>
              </a:pPr>
              <a:r>
                <a:rPr lang="en-US" sz="1100" dirty="0">
                  <a:solidFill>
                    <a:srgbClr val="6B7280"/>
                  </a:solidFill>
                  <a:uFillTx/>
                  <a:latin typeface="Times New Roman" panose="02020603050405020304" pitchFamily="18" charset="0"/>
                  <a:ea typeface="微软雅黑" panose="020B0503020204020204" pitchFamily="34" charset="-122"/>
                  <a:cs typeface="微软雅黑" panose="020B0503020204020204" pitchFamily="34" charset="-122"/>
                </a:rPr>
                <a:t>系统已覆盖数据上传、任务执行、结果生成和日志记录。</a:t>
              </a:r>
              <a:endParaRPr lang="en-US" sz="1100" dirty="0">
                <a:solidFill>
                  <a:srgbClr val="6B7280"/>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4" name="Shape 54"/>
            <p:cNvSpPr/>
            <p:nvPr/>
          </p:nvSpPr>
          <p:spPr>
            <a:xfrm>
              <a:off x="9965" y="4291"/>
              <a:ext cx="461" cy="461"/>
            </a:xfrm>
            <a:prstGeom prst="ellipse">
              <a:avLst/>
            </a:prstGeom>
            <a:solidFill>
              <a:srgbClr val="5EAD46"/>
            </a:solidFill>
            <a:ln w="12700">
              <a:solidFill>
                <a:srgbClr val="5EAD46"/>
              </a:solidFill>
              <a:prstDash val="solid"/>
            </a:ln>
          </p:spPr>
        </p:sp>
        <p:sp>
          <p:nvSpPr>
            <p:cNvPr id="65" name="Text 55"/>
            <p:cNvSpPr/>
            <p:nvPr/>
          </p:nvSpPr>
          <p:spPr>
            <a:xfrm>
              <a:off x="9965" y="4421"/>
              <a:ext cx="461" cy="144"/>
            </a:xfrm>
            <a:prstGeom prst="rect">
              <a:avLst/>
            </a:prstGeom>
            <a:noFill/>
          </p:spPr>
          <p:txBody>
            <a:bodyPr wrap="square" lIns="0" tIns="0" rIns="0" bIns="0" rtlCol="0" anchor="ctr"/>
            <a:lstStyle/>
            <a:p>
              <a:pPr marL="0" indent="0" algn="ctr" defTabSz="914400" eaLnBrk="0" fontAlgn="base" hangingPunct="0">
                <a:buNone/>
              </a:pPr>
              <a:r>
                <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2</a:t>
              </a:r>
              <a:endPar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6" name="Text 56"/>
            <p:cNvSpPr/>
            <p:nvPr/>
          </p:nvSpPr>
          <p:spPr>
            <a:xfrm>
              <a:off x="10584" y="4348"/>
              <a:ext cx="2160" cy="259"/>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接口可用</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7" name="Text 57"/>
            <p:cNvSpPr/>
            <p:nvPr/>
          </p:nvSpPr>
          <p:spPr>
            <a:xfrm>
              <a:off x="10583" y="4659"/>
              <a:ext cx="2520" cy="830"/>
            </a:xfrm>
            <a:prstGeom prst="rect">
              <a:avLst/>
            </a:prstGeom>
            <a:noFill/>
          </p:spPr>
          <p:txBody>
            <a:bodyPr wrap="square" lIns="0" tIns="0" rIns="0" bIns="0" rtlCol="0" anchor="ctr">
              <a:noAutofit/>
            </a:bodyPr>
            <a:lstStyle/>
            <a:p>
              <a:pPr marL="0" indent="0" defTabSz="914400" eaLnBrk="0" fontAlgn="base" hangingPunct="0">
                <a:buNone/>
              </a:pPr>
              <a:r>
                <a:rPr lang="en-US" sz="1100" dirty="0">
                  <a:solidFill>
                    <a:srgbClr val="6B7280"/>
                  </a:solidFill>
                  <a:uFillTx/>
                  <a:latin typeface="Times New Roman" panose="02020603050405020304" pitchFamily="18" charset="0"/>
                  <a:ea typeface="微软雅黑" panose="020B0503020204020204" pitchFamily="34" charset="-122"/>
                  <a:cs typeface="微软雅黑" panose="020B0503020204020204" pitchFamily="34" charset="-122"/>
                </a:rPr>
                <a:t>前端请求、后端调度和 Python 脚本调用能够形成闭环。</a:t>
              </a:r>
              <a:endParaRPr lang="en-US" sz="1100" dirty="0">
                <a:solidFill>
                  <a:srgbClr val="6B7280"/>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8" name="Shape 58"/>
            <p:cNvSpPr/>
            <p:nvPr/>
          </p:nvSpPr>
          <p:spPr>
            <a:xfrm>
              <a:off x="9965" y="5587"/>
              <a:ext cx="461" cy="461"/>
            </a:xfrm>
            <a:prstGeom prst="ellipse">
              <a:avLst/>
            </a:prstGeom>
            <a:solidFill>
              <a:srgbClr val="F39C12"/>
            </a:solidFill>
            <a:ln w="12700">
              <a:solidFill>
                <a:srgbClr val="F39C12"/>
              </a:solidFill>
              <a:prstDash val="solid"/>
            </a:ln>
          </p:spPr>
        </p:sp>
        <p:sp>
          <p:nvSpPr>
            <p:cNvPr id="69" name="Text 59"/>
            <p:cNvSpPr/>
            <p:nvPr/>
          </p:nvSpPr>
          <p:spPr>
            <a:xfrm>
              <a:off x="9965" y="5717"/>
              <a:ext cx="461" cy="144"/>
            </a:xfrm>
            <a:prstGeom prst="rect">
              <a:avLst/>
            </a:prstGeom>
            <a:noFill/>
          </p:spPr>
          <p:txBody>
            <a:bodyPr wrap="square" lIns="0" tIns="0" rIns="0" bIns="0" rtlCol="0" anchor="ctr"/>
            <a:lstStyle/>
            <a:p>
              <a:pPr marL="0" indent="0" algn="ctr" defTabSz="914400" eaLnBrk="0" fontAlgn="base" hangingPunct="0">
                <a:buNone/>
              </a:pPr>
              <a:r>
                <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rPr>
                <a:t>3</a:t>
              </a:r>
              <a:endParaRPr lang="en-US" sz="980" b="1"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0" name="Text 60"/>
            <p:cNvSpPr/>
            <p:nvPr/>
          </p:nvSpPr>
          <p:spPr>
            <a:xfrm>
              <a:off x="10584" y="5644"/>
              <a:ext cx="2160" cy="259"/>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rPr>
                <a:t>支撑验证</a:t>
              </a:r>
              <a:endParaRPr lang="en-US" sz="1400" b="1" dirty="0">
                <a:solidFill>
                  <a:srgbClr val="111827"/>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1" name="Text 61"/>
            <p:cNvSpPr/>
            <p:nvPr/>
          </p:nvSpPr>
          <p:spPr>
            <a:xfrm>
              <a:off x="10583" y="5932"/>
              <a:ext cx="2520" cy="1079"/>
            </a:xfrm>
            <a:prstGeom prst="rect">
              <a:avLst/>
            </a:prstGeom>
            <a:noFill/>
          </p:spPr>
          <p:txBody>
            <a:bodyPr wrap="square" lIns="0" tIns="0" rIns="0" bIns="0" rtlCol="0" anchor="ctr">
              <a:normAutofit/>
            </a:bodyPr>
            <a:lstStyle/>
            <a:p>
              <a:pPr marL="0" indent="0" defTabSz="914400" eaLnBrk="0" fontAlgn="base" hangingPunct="0">
                <a:buNone/>
              </a:pPr>
              <a:r>
                <a:rPr lang="en-US" sz="1100" dirty="0">
                  <a:solidFill>
                    <a:srgbClr val="6B7280"/>
                  </a:solidFill>
                  <a:uFillTx/>
                  <a:latin typeface="Times New Roman" panose="02020603050405020304" pitchFamily="18" charset="0"/>
                  <a:ea typeface="微软雅黑" panose="020B0503020204020204" pitchFamily="34" charset="-122"/>
                  <a:cs typeface="微软雅黑" panose="020B0503020204020204" pitchFamily="34" charset="-122"/>
                </a:rPr>
                <a:t>能够支撑本文 Meta-DML 方法的训练、测试与可视化展示</a:t>
              </a:r>
              <a:r>
                <a:rPr lang="en-US" sz="780" dirty="0">
                  <a:solidFill>
                    <a:srgbClr val="6B7280"/>
                  </a:solidFill>
                  <a:latin typeface="Times New Roman" panose="02020603050405020304" pitchFamily="18" charset="0"/>
                  <a:ea typeface="微软雅黑" panose="020B0503020204020204" pitchFamily="34" charset="-122"/>
                  <a:cs typeface="微软雅黑" panose="020B0503020204020204" pitchFamily="34" charset="-122"/>
                </a:rPr>
                <a:t>。</a:t>
              </a:r>
              <a:endParaRPr lang="en-US" sz="78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72" name="Shape 62"/>
            <p:cNvSpPr/>
            <p:nvPr/>
          </p:nvSpPr>
          <p:spPr>
            <a:xfrm>
              <a:off x="792" y="7670"/>
              <a:ext cx="12744" cy="873"/>
            </a:xfrm>
            <a:prstGeom prst="roundRect">
              <a:avLst/>
            </a:prstGeom>
            <a:solidFill>
              <a:srgbClr val="EAF3FF"/>
            </a:solidFill>
            <a:ln w="13970">
              <a:solidFill>
                <a:srgbClr val="2F75B5"/>
              </a:solidFill>
              <a:prstDash val="solid"/>
            </a:ln>
          </p:spPr>
        </p:sp>
        <p:sp>
          <p:nvSpPr>
            <p:cNvPr id="73" name="Text 63"/>
            <p:cNvSpPr/>
            <p:nvPr/>
          </p:nvSpPr>
          <p:spPr>
            <a:xfrm>
              <a:off x="1080" y="7929"/>
              <a:ext cx="12168" cy="359"/>
            </a:xfrm>
            <a:prstGeom prst="rect">
              <a:avLst/>
            </a:prstGeom>
            <a:noFill/>
          </p:spPr>
          <p:txBody>
            <a:bodyPr wrap="square" lIns="0" tIns="0" rIns="0" bIns="0" rtlCol="0" anchor="ctr"/>
            <a:lstStyle/>
            <a:p>
              <a:pPr marL="0" indent="0" defTabSz="914400" eaLnBrk="0" fontAlgn="base" hangingPunct="0">
                <a:buNone/>
              </a:pPr>
              <a:r>
                <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rPr>
                <a:t>该原型系统能够完成算法实验所需的核心流程，为少样本无人机射频指纹识别方法提供了可视化验证平台。</a:t>
              </a:r>
              <a:endParaRPr lang="en-US" sz="1400" b="1" dirty="0">
                <a:solidFill>
                  <a:srgbClr val="1F4E8C"/>
                </a:solidFill>
                <a:latin typeface="Times New Roman" panose="02020603050405020304" pitchFamily="18" charset="0"/>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3682297" y="1005043"/>
            <a:ext cx="4380230" cy="3133725"/>
            <a:chOff x="4358572" y="1016012"/>
            <a:chExt cx="4380230" cy="3133725"/>
          </a:xfrm>
        </p:grpSpPr>
        <p:sp>
          <p:nvSpPr>
            <p:cNvPr id="2" name="矩形 1"/>
            <p:cNvSpPr/>
            <p:nvPr>
              <p:custDataLst>
                <p:tags r:id="rId2"/>
              </p:custDataLst>
            </p:nvPr>
          </p:nvSpPr>
          <p:spPr>
            <a:xfrm>
              <a:off x="4727507" y="101601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3" name="矩形 2"/>
            <p:cNvSpPr/>
            <p:nvPr>
              <p:custDataLst>
                <p:tags r:id="rId3"/>
              </p:custDataLst>
            </p:nvPr>
          </p:nvSpPr>
          <p:spPr>
            <a:xfrm>
              <a:off x="4727815" y="101601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1</a:t>
              </a:r>
              <a:endParaRPr lang="en-US" altLang="zh-CN" sz="1800" b="1" dirty="0">
                <a:solidFill>
                  <a:srgbClr val="0070C0"/>
                </a:solidFill>
                <a:cs typeface="微软雅黑" panose="020B0503020204020204" pitchFamily="34" charset="-122"/>
              </a:endParaRPr>
            </a:p>
          </p:txBody>
        </p:sp>
        <p:sp>
          <p:nvSpPr>
            <p:cNvPr id="4" name="文本框 3"/>
            <p:cNvSpPr txBox="1"/>
            <p:nvPr>
              <p:custDataLst>
                <p:tags r:id="rId4"/>
              </p:custDataLst>
            </p:nvPr>
          </p:nvSpPr>
          <p:spPr>
            <a:xfrm>
              <a:off x="5311229" y="1025649"/>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研究背景与研究现状</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4727507" y="156592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endParaRPr lang="zh-CN" altLang="en-US" sz="1800">
                <a:cs typeface="微软雅黑" panose="020B0503020204020204" pitchFamily="34" charset="-122"/>
              </a:endParaRPr>
            </a:p>
          </p:txBody>
        </p:sp>
        <p:sp>
          <p:nvSpPr>
            <p:cNvPr id="7" name="矩形 6"/>
            <p:cNvSpPr/>
            <p:nvPr>
              <p:custDataLst>
                <p:tags r:id="rId6"/>
              </p:custDataLst>
            </p:nvPr>
          </p:nvSpPr>
          <p:spPr>
            <a:xfrm>
              <a:off x="4727815" y="1565977"/>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r>
                <a:rPr lang="en-US" altLang="zh-CN" sz="1800" b="1" dirty="0">
                  <a:solidFill>
                    <a:srgbClr val="0070C0"/>
                  </a:solidFill>
                  <a:cs typeface="微软雅黑" panose="020B0503020204020204" pitchFamily="34" charset="-122"/>
                </a:rPr>
                <a:t>2</a:t>
              </a:r>
              <a:endParaRPr lang="en-US" altLang="zh-CN" sz="1800" b="1" dirty="0">
                <a:solidFill>
                  <a:srgbClr val="0070C0"/>
                </a:solidFill>
                <a:cs typeface="微软雅黑" panose="020B0503020204020204" pitchFamily="34" charset="-122"/>
              </a:endParaRPr>
            </a:p>
          </p:txBody>
        </p:sp>
        <p:sp>
          <p:nvSpPr>
            <p:cNvPr id="8" name="文本框 7"/>
            <p:cNvSpPr txBox="1"/>
            <p:nvPr>
              <p:custDataLst>
                <p:tags r:id="rId7"/>
              </p:custDataLst>
            </p:nvPr>
          </p:nvSpPr>
          <p:spPr>
            <a:xfrm>
              <a:off x="5311229" y="1575614"/>
              <a:ext cx="2240280" cy="368300"/>
            </a:xfrm>
            <a:prstGeom prst="rect">
              <a:avLst/>
            </a:prstGeom>
            <a:noFill/>
          </p:spPr>
          <p:txBody>
            <a:bodyPr wrap="none" rtlCol="0">
              <a:spAutoFit/>
            </a:bodyPr>
            <a:lstStyle/>
            <a:p>
              <a:pPr defTabSz="914400" eaLnBrk="0" fontAlgn="base" hangingPunct="0"/>
              <a:r>
                <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研究内容与研究目标</a:t>
              </a:r>
              <a:endParaRPr lang="zh-CN" altLang="en-US" sz="1800"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9" name="矩形 8"/>
            <p:cNvSpPr/>
            <p:nvPr>
              <p:custDataLst>
                <p:tags r:id="rId8"/>
              </p:custDataLst>
            </p:nvPr>
          </p:nvSpPr>
          <p:spPr>
            <a:xfrm>
              <a:off x="4728142" y="211519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0" name="矩形 9"/>
            <p:cNvSpPr/>
            <p:nvPr>
              <p:custDataLst>
                <p:tags r:id="rId9"/>
              </p:custDataLst>
            </p:nvPr>
          </p:nvSpPr>
          <p:spPr>
            <a:xfrm>
              <a:off x="4727815" y="2115942"/>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3</a:t>
              </a:r>
              <a:endParaRPr lang="zh-CN" altLang="en-US" b="1" dirty="0">
                <a:solidFill>
                  <a:srgbClr val="0070C0"/>
                </a:solidFill>
                <a:cs typeface="微软雅黑" panose="020B0503020204020204" pitchFamily="34" charset="-122"/>
              </a:endParaRPr>
            </a:p>
          </p:txBody>
        </p:sp>
        <p:sp>
          <p:nvSpPr>
            <p:cNvPr id="11" name="文本框 3"/>
            <p:cNvSpPr txBox="1"/>
            <p:nvPr>
              <p:custDataLst>
                <p:tags r:id="rId10"/>
              </p:custDataLst>
            </p:nvPr>
          </p:nvSpPr>
          <p:spPr>
            <a:xfrm>
              <a:off x="5311229" y="2115419"/>
              <a:ext cx="3357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基于</a:t>
              </a:r>
              <a:r>
                <a:rPr lang="en-US" altLang="zh-CN"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Meta-DML</a:t>
              </a:r>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sym typeface="+mn-ea"/>
                </a:rPr>
                <a:t>的识别方法设计</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2" name="矩形 11"/>
            <p:cNvSpPr/>
            <p:nvPr>
              <p:custDataLst>
                <p:tags r:id="rId11"/>
              </p:custDataLst>
            </p:nvPr>
          </p:nvSpPr>
          <p:spPr>
            <a:xfrm>
              <a:off x="4727507" y="2664472"/>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3" name="矩形 12"/>
            <p:cNvSpPr/>
            <p:nvPr>
              <p:custDataLst>
                <p:tags r:id="rId12"/>
              </p:custDataLst>
            </p:nvPr>
          </p:nvSpPr>
          <p:spPr>
            <a:xfrm>
              <a:off x="4727815" y="2664413"/>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4</a:t>
              </a:r>
              <a:endParaRPr lang="zh-CN" altLang="en-US" b="1" dirty="0">
                <a:solidFill>
                  <a:srgbClr val="0070C0"/>
                </a:solidFill>
                <a:cs typeface="微软雅黑" panose="020B0503020204020204" pitchFamily="34" charset="-122"/>
              </a:endParaRPr>
            </a:p>
          </p:txBody>
        </p:sp>
        <p:sp>
          <p:nvSpPr>
            <p:cNvPr id="14" name="文本框 3"/>
            <p:cNvSpPr txBox="1"/>
            <p:nvPr>
              <p:custDataLst>
                <p:tags r:id="rId13"/>
              </p:custDataLst>
            </p:nvPr>
          </p:nvSpPr>
          <p:spPr>
            <a:xfrm>
              <a:off x="5311229" y="2674050"/>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仿真实验结果分析</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5" name="矩形 14"/>
            <p:cNvSpPr/>
            <p:nvPr>
              <p:custDataLst>
                <p:tags r:id="rId14"/>
              </p:custDataLst>
            </p:nvPr>
          </p:nvSpPr>
          <p:spPr>
            <a:xfrm>
              <a:off x="4727507" y="3213112"/>
              <a:ext cx="4011295"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6" name="矩形 15"/>
            <p:cNvSpPr/>
            <p:nvPr>
              <p:custDataLst>
                <p:tags r:id="rId15"/>
              </p:custDataLst>
            </p:nvPr>
          </p:nvSpPr>
          <p:spPr>
            <a:xfrm>
              <a:off x="4727815" y="3212884"/>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5</a:t>
              </a:r>
              <a:endParaRPr lang="zh-CN" altLang="en-US" b="1" dirty="0">
                <a:solidFill>
                  <a:srgbClr val="0070C0"/>
                </a:solidFill>
                <a:cs typeface="微软雅黑" panose="020B0503020204020204" pitchFamily="34" charset="-122"/>
              </a:endParaRPr>
            </a:p>
          </p:txBody>
        </p:sp>
        <p:sp>
          <p:nvSpPr>
            <p:cNvPr id="17" name="文本框 3"/>
            <p:cNvSpPr txBox="1"/>
            <p:nvPr>
              <p:custDataLst>
                <p:tags r:id="rId16"/>
              </p:custDataLst>
            </p:nvPr>
          </p:nvSpPr>
          <p:spPr>
            <a:xfrm>
              <a:off x="5311229" y="3222521"/>
              <a:ext cx="26974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rPr>
                <a:t>原型系统实现与功能测试</a:t>
              </a:r>
              <a:endParaRPr lang="zh-CN" altLang="en-US" b="1" dirty="0">
                <a:solidFill>
                  <a:schemeClr val="bg1"/>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8" name="矩形 17"/>
            <p:cNvSpPr/>
            <p:nvPr>
              <p:custDataLst>
                <p:tags r:id="rId17"/>
              </p:custDataLst>
            </p:nvPr>
          </p:nvSpPr>
          <p:spPr>
            <a:xfrm>
              <a:off x="4727507" y="3761117"/>
              <a:ext cx="4010660" cy="388620"/>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a:cs typeface="微软雅黑" panose="020B0503020204020204" pitchFamily="34" charset="-122"/>
              </a:endParaRPr>
            </a:p>
          </p:txBody>
        </p:sp>
        <p:sp>
          <p:nvSpPr>
            <p:cNvPr id="19" name="矩形 18"/>
            <p:cNvSpPr/>
            <p:nvPr>
              <p:custDataLst>
                <p:tags r:id="rId18"/>
              </p:custDataLst>
            </p:nvPr>
          </p:nvSpPr>
          <p:spPr>
            <a:xfrm>
              <a:off x="4727815" y="3760818"/>
              <a:ext cx="388607" cy="388607"/>
            </a:xfrm>
            <a:prstGeom prst="rect">
              <a:avLst/>
            </a:prstGeom>
            <a:solidFill>
              <a:schemeClr val="bg1"/>
            </a:solidFill>
            <a:ln>
              <a:solidFill>
                <a:srgbClr val="0850B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r>
                <a:rPr lang="en-US" altLang="zh-CN" b="1" dirty="0">
                  <a:solidFill>
                    <a:srgbClr val="0070C0"/>
                  </a:solidFill>
                  <a:cs typeface="微软雅黑" panose="020B0503020204020204" pitchFamily="34" charset="-122"/>
                </a:rPr>
                <a:t>6</a:t>
              </a:r>
              <a:endParaRPr lang="zh-CN" altLang="en-US" b="1" dirty="0">
                <a:solidFill>
                  <a:srgbClr val="0070C0"/>
                </a:solidFill>
                <a:cs typeface="微软雅黑" panose="020B0503020204020204" pitchFamily="34" charset="-122"/>
              </a:endParaRPr>
            </a:p>
          </p:txBody>
        </p:sp>
        <p:sp>
          <p:nvSpPr>
            <p:cNvPr id="20" name="文本框 3"/>
            <p:cNvSpPr txBox="1"/>
            <p:nvPr>
              <p:custDataLst>
                <p:tags r:id="rId19"/>
              </p:custDataLst>
            </p:nvPr>
          </p:nvSpPr>
          <p:spPr>
            <a:xfrm>
              <a:off x="5311229" y="3770455"/>
              <a:ext cx="13258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rPr>
                <a:t>总结与展望</a:t>
              </a:r>
              <a:endParaRPr lang="zh-CN" altLang="en-US" b="1" dirty="0">
                <a:solidFill>
                  <a:schemeClr val="accent4">
                    <a:lumMod val="60000"/>
                    <a:lumOff val="40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cxnSp>
          <p:nvCxnSpPr>
            <p:cNvPr id="22" name="直接连接符 21"/>
            <p:cNvCxnSpPr/>
            <p:nvPr/>
          </p:nvCxnSpPr>
          <p:spPr>
            <a:xfrm>
              <a:off x="4358572" y="1199676"/>
              <a:ext cx="0" cy="27663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546" y="2038386"/>
            <a:ext cx="1440180" cy="901664"/>
            <a:chOff x="1958546" y="2141539"/>
            <a:chExt cx="1440180" cy="901664"/>
          </a:xfrm>
        </p:grpSpPr>
        <p:sp>
          <p:nvSpPr>
            <p:cNvPr id="24" name="文本框 23"/>
            <p:cNvSpPr txBox="1"/>
            <p:nvPr/>
          </p:nvSpPr>
          <p:spPr>
            <a:xfrm>
              <a:off x="2205593" y="2141539"/>
              <a:ext cx="944880" cy="460375"/>
            </a:xfrm>
            <a:prstGeom prst="rect">
              <a:avLst/>
            </a:prstGeom>
            <a:noFill/>
          </p:spPr>
          <p:txBody>
            <a:bodyPr wrap="none" rtlCol="0">
              <a:spAutoFit/>
            </a:bodyPr>
            <a:lstStyle/>
            <a:p>
              <a:pPr defTabSz="914400" eaLnBrk="0" fontAlgn="base" hangingPunct="0"/>
              <a:r>
                <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rPr>
                <a:t>目  录</a:t>
              </a:r>
              <a:endParaRPr lang="zh-CN" altLang="en-US" sz="24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26" name="文本框 25"/>
            <p:cNvSpPr txBox="1"/>
            <p:nvPr/>
          </p:nvSpPr>
          <p:spPr>
            <a:xfrm>
              <a:off x="1958546" y="2674903"/>
              <a:ext cx="1440180" cy="368300"/>
            </a:xfrm>
            <a:prstGeom prst="rect">
              <a:avLst/>
            </a:prstGeom>
            <a:noFill/>
          </p:spPr>
          <p:txBody>
            <a:bodyPr wrap="none" rtlCol="0">
              <a:spAutoFit/>
            </a:bodyPr>
            <a:lstStyle/>
            <a:p>
              <a:pPr defTabSz="914400" eaLnBrk="0" fontAlgn="base" hangingPunct="0"/>
              <a:r>
                <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CONTENTS</a:t>
              </a:r>
              <a:endParaRPr lang="en-US" altLang="zh-CN" sz="1800" b="1"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文本框 2"/>
          <p:cNvSpPr txBox="1"/>
          <p:nvPr/>
        </p:nvSpPr>
        <p:spPr>
          <a:xfrm>
            <a:off x="598170" y="1198245"/>
            <a:ext cx="8139430" cy="3517900"/>
          </a:xfrm>
          <a:prstGeom prst="rect">
            <a:avLst/>
          </a:prstGeom>
          <a:noFill/>
        </p:spPr>
        <p:txBody>
          <a:bodyPr wrap="square" rtlCol="0" anchor="t">
            <a:noAutofit/>
          </a:bodyPr>
          <a:lstStyle/>
          <a:p>
            <a:pPr indent="288290" defTabSz="914400" eaLnBrk="0" fontAlgn="auto" hangingPunct="0">
              <a:lnSpc>
                <a:spcPts val="2000"/>
              </a:lnSpc>
            </a:pPr>
            <a:r>
              <a:rPr lang="zh-CN" altLang="en-US" sz="1200" dirty="0">
                <a:latin typeface="Times New Roman" panose="02020603050405020304" pitchFamily="18" charset="0"/>
                <a:ea typeface="微软雅黑" panose="020B0503020204020204" pitchFamily="34" charset="-122"/>
                <a:cs typeface="微软雅黑" panose="020B0503020204020204" pitchFamily="34" charset="-122"/>
              </a:rPr>
              <a:t>本研究围绕“少样本场景下无人机射频指纹识别方法”这一主题，针对非合作低空监测中样本获取困难、信号特征易受信道干扰、传统深度学习方法在少样本条件下泛化能力不足等问题，开展了算法设计、仿真实验和系统实现等工作。主要工作内容可归纳如下：</a:t>
            </a:r>
            <a:endParaRPr lang="zh-CN" altLang="en-US" sz="1200" dirty="0">
              <a:latin typeface="Times New Roman" panose="02020603050405020304" pitchFamily="18" charset="0"/>
              <a:ea typeface="微软雅黑" panose="020B0503020204020204" pitchFamily="34" charset="-122"/>
              <a:cs typeface="微软雅黑" panose="020B0503020204020204" pitchFamily="34" charset="-122"/>
            </a:endParaRPr>
          </a:p>
          <a:p>
            <a:pPr indent="288290" defTabSz="914400" eaLnBrk="0" fontAlgn="base" hangingPunct="0">
              <a:lnSpc>
                <a:spcPts val="2000"/>
              </a:lnSpc>
            </a:pP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）提出了一种基于 </a:t>
            </a:r>
            <a:r>
              <a:rPr lang="en-US" altLang="zh-CN"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Meta-DML </a:t>
            </a: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的少样本无人机射频指纹识别方法</a:t>
            </a:r>
            <a:endPar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base" hangingPunct="0">
              <a:lnSpc>
                <a:spcPts val="2000"/>
              </a:lnSpc>
            </a:pP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针对少样本条件下传统分类模型依赖大量标注数据、容易过拟合的问题，本文构建了融合元学习、深度度量学习与轻量化特征映射的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Meta-DML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方法。该方法通过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I/Q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信号预处理、轻量化 1</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D-CNN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特征提取、</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N-way K-shot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情景任务构造和类别原型计算，实现了少量样本条件下的无人机射频指纹特征学习与类别匹配。</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base" hangingPunct="0">
              <a:lnSpc>
                <a:spcPts val="2000"/>
              </a:lnSpc>
            </a:pP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完成了仿真实验分析与原型系统实现</a:t>
            </a:r>
            <a:endParaRPr lang="zh-CN" altLang="en-US" sz="1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base" hangingPunct="0">
              <a:lnSpc>
                <a:spcPts val="2000"/>
              </a:lnSpc>
            </a:pP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本文在引入加性高斯白噪声和瑞利多径衰落信道的实验条件下，对所提方法进行了识别性能测试，并结合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t-SNE、PCA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等方法对高维特征分布进行可视化分析。实验结果表明，本文方法能够在少样本和复杂信道条件下保持较好的识别性能。同时，基于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Vue.js、Spring Boot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Python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算法脚本开发了无人机射频指纹智能识别原型系统，实现了数据上传、模型训练、结果生成、可视化分析和系统日志展示等功能，为算法验证提供了系统支撑。。</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base" hangingPunct="0">
              <a:lnSpc>
                <a:spcPts val="2000"/>
              </a:lnSpc>
            </a:pP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nvSpPr>
        <p:spPr>
          <a:xfrm>
            <a:off x="764138" y="230067"/>
            <a:ext cx="1643380" cy="398780"/>
          </a:xfrm>
          <a:prstGeom prst="rect">
            <a:avLst/>
          </a:prstGeom>
          <a:noFill/>
        </p:spPr>
        <p:txBody>
          <a:bodyPr wrap="none" rtlCol="0">
            <a:spAutoFit/>
          </a:bodyPr>
          <a:lstStyle/>
          <a:p>
            <a:pPr algn="l" defTabSz="914400" eaLnBrk="0" fontAlgn="base" hangingPunct="0"/>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总结与展望</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圆角矩形 4"/>
          <p:cNvSpPr/>
          <p:nvPr/>
        </p:nvSpPr>
        <p:spPr>
          <a:xfrm>
            <a:off x="958850" y="791210"/>
            <a:ext cx="888365"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lnSpc>
                <a:spcPts val="2300"/>
              </a:lnSpc>
            </a:pPr>
            <a:r>
              <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总结：</a:t>
            </a:r>
            <a:endPar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9" name="KSO_Shape"/>
          <p:cNvSpPr/>
          <p:nvPr/>
        </p:nvSpPr>
        <p:spPr bwMode="auto">
          <a:xfrm>
            <a:off x="598347" y="761535"/>
            <a:ext cx="360602" cy="352052"/>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0" fontAlgn="base" hangingPunct="0">
              <a:defRPr/>
            </a:pPr>
            <a:endParaRPr lang="zh-CN" altLang="en-US" sz="2000"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936" y="416008"/>
            <a:ext cx="116441" cy="24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defTabSz="914400" eaLnBrk="0" fontAlgn="base" hangingPunct="0"/>
            <a:endParaRPr lang="zh-CN" altLang="en-US" sz="1125">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3" name="文本框 2"/>
          <p:cNvSpPr txBox="1"/>
          <p:nvPr/>
        </p:nvSpPr>
        <p:spPr>
          <a:xfrm>
            <a:off x="792480" y="1158240"/>
            <a:ext cx="7792720" cy="3681730"/>
          </a:xfrm>
          <a:prstGeom prst="rect">
            <a:avLst/>
          </a:prstGeom>
          <a:noFill/>
        </p:spPr>
        <p:txBody>
          <a:bodyPr wrap="square" rtlCol="0" anchor="t">
            <a:spAutoFit/>
          </a:bodyPr>
          <a:lstStyle/>
          <a:p>
            <a:pPr indent="288290" defTabSz="914400" eaLnBrk="0" fontAlgn="auto" hangingPunct="0">
              <a:lnSpc>
                <a:spcPts val="2000"/>
              </a:lnSpc>
            </a:pPr>
            <a:r>
              <a:rPr lang="zh-CN" altLang="en-US" sz="1200" dirty="0">
                <a:latin typeface="Times New Roman" panose="02020603050405020304" pitchFamily="18" charset="0"/>
                <a:ea typeface="微软雅黑" panose="020B0503020204020204" pitchFamily="34" charset="-122"/>
                <a:cs typeface="微软雅黑" panose="020B0503020204020204" pitchFamily="34" charset="-122"/>
              </a:rPr>
              <a:t>本研究围绕少样本无人机射频指纹识别完成了方法设计、实验验证和原型系统开发，但受数据规模、实验环境和系统部署条件限制，仍存在进一步完善的空间。后续研究可从以下几个方面展开：：</a:t>
            </a:r>
            <a:endParaRPr lang="en-US" altLang="zh-CN" sz="1200" dirty="0">
              <a:latin typeface="Times New Roman" panose="02020603050405020304" pitchFamily="18" charset="0"/>
              <a:ea typeface="微软雅黑" panose="020B0503020204020204" pitchFamily="34" charset="-122"/>
              <a:cs typeface="微软雅黑" panose="020B0503020204020204" pitchFamily="34" charset="-122"/>
            </a:endParaRPr>
          </a:p>
          <a:p>
            <a:pPr indent="288290" defTabSz="914400" eaLnBrk="0" fontAlgn="auto" hangingPunct="0">
              <a:lnSpc>
                <a:spcPts val="2000"/>
              </a:lnSpc>
            </a:pP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）拓展真实外场数据验证，提升复杂环境适应能力。</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本研究实验主要通过加性高斯白噪声和瑞利衰落信道对复杂环境进行仿真，能够在一定程度上验证模型的抗干扰能力。后续可进一步使用软件无线电设备采集真实低空环境下的无人机射频信号，构建包含不同距离、飞行姿态、天气条件和动态信道变化的数据集，从而更加全面地验证模型在实际场景中的泛化能力和鲁棒性。</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auto" hangingPunct="0">
              <a:lnSpc>
                <a:spcPts val="2000"/>
              </a:lnSpc>
            </a:pP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）推进模型轻量化部署，适应边缘设备应用需求。</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本研究原型系统主要运行在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PC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端环境下，能够完成算法验证和功能展示。实际低空监测场景中，识别模型往往需要部署在边缘终端、便携式侦测设备或低功耗网关上。后续可结合模型剪枝、知识蒸馏和参数量化等技术，进一步降低模型计算量和存储开销，实现少样本无人机射频指纹识别模型在边缘设备上的实时推理</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288290" defTabSz="914400" eaLnBrk="0" fontAlgn="auto" hangingPunct="0">
              <a:lnSpc>
                <a:spcPts val="2000"/>
              </a:lnSpc>
            </a:pP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）深化开放集识别与多模态融合研究。</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本研究主要针对已知类别条件下的少样本无人机个体识别展开研究。实际应用中可能存在未注册无人机或未知干扰设备，因此后续可进一步引入开放集识别机制，使系统具备未知设备拒识和异常提示能力。同时，可探索射频指纹与雷达、声学、光电图像等多模态特征融合方法，提升系统在复杂低空环境下的综合感知能力和识别可靠性。</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nvSpPr>
        <p:spPr>
          <a:xfrm>
            <a:off x="764138" y="230067"/>
            <a:ext cx="1643380" cy="398780"/>
          </a:xfrm>
          <a:prstGeom prst="rect">
            <a:avLst/>
          </a:prstGeom>
          <a:noFill/>
        </p:spPr>
        <p:txBody>
          <a:bodyPr wrap="none" rtlCol="0">
            <a:spAutoFit/>
          </a:bodyPr>
          <a:lstStyle/>
          <a:p>
            <a:pPr algn="l" defTabSz="914400" eaLnBrk="0" fontAlgn="base" hangingPunct="0"/>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5 </a:t>
            </a: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sym typeface="+mn-ea"/>
              </a:rPr>
              <a:t>总结与展望</a:t>
            </a:r>
            <a:endPar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圆角矩形 4"/>
          <p:cNvSpPr/>
          <p:nvPr/>
        </p:nvSpPr>
        <p:spPr>
          <a:xfrm>
            <a:off x="958850" y="791210"/>
            <a:ext cx="1038225" cy="351790"/>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lnSpc>
                <a:spcPts val="2300"/>
              </a:lnSpc>
            </a:pPr>
            <a:r>
              <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rPr>
              <a:t>展望：</a:t>
            </a:r>
            <a:endParaRPr lang="zh-CN" altLang="en-US" sz="1600" b="1" dirty="0">
              <a:solidFill>
                <a:srgbClr val="0070C0"/>
              </a:solidFill>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9" name="KSO_Shape"/>
          <p:cNvSpPr/>
          <p:nvPr/>
        </p:nvSpPr>
        <p:spPr bwMode="auto">
          <a:xfrm>
            <a:off x="598347" y="761535"/>
            <a:ext cx="360602" cy="352052"/>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ED493F"/>
          </a:solidFill>
          <a:ln>
            <a:noFill/>
          </a:ln>
        </p:spPr>
        <p:txBody>
          <a:bodyPr anchor="ctr">
            <a:scene3d>
              <a:camera prst="orthographicFront"/>
              <a:lightRig rig="threePt" dir="t"/>
            </a:scene3d>
            <a:sp3d contourW="12700">
              <a:contourClr>
                <a:srgbClr val="FFFFFF"/>
              </a:contourClr>
            </a:sp3d>
          </a:bodyPr>
          <a:lstStyle/>
          <a:p>
            <a:pPr algn="ctr" defTabSz="914400" eaLnBrk="0" fontAlgn="base" hangingPunct="0">
              <a:defRPr/>
            </a:pPr>
            <a:endParaRPr lang="zh-CN" altLang="en-US" sz="2000" dirty="0">
              <a:solidFill>
                <a:srgbClr val="FFFFFF"/>
              </a:solidFill>
              <a:latin typeface="Times New Roman" panose="02020603050405020304" pitchFamily="18" charset="0"/>
              <a:ea typeface="微软雅黑" panose="020B0503020204020204" pitchFamily="34" charset="-122"/>
              <a:cs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613" y="415925"/>
            <a:ext cx="115888" cy="242888"/>
          </a:xfrm>
          <a:prstGeom prst="rect">
            <a:avLst/>
          </a:prstGeom>
          <a:noFill/>
          <a:ln>
            <a:noFill/>
          </a:ln>
          <a:effectLst/>
        </p:spPr>
        <p:txBody>
          <a:bodyPr lIns="68580" tIns="34290" rIns="68580" bIns="34290" anchor="ctr">
            <a:spAutoFit/>
          </a:bodyPr>
          <a:lstStyle/>
          <a:p>
            <a:pPr defTabSz="914400" eaLnBrk="1" fontAlgn="auto" hangingPunct="1">
              <a:spcBef>
                <a:spcPts val="0"/>
              </a:spcBef>
              <a:spcAft>
                <a:spcPts val="0"/>
              </a:spcAft>
              <a:defRPr/>
            </a:pPr>
            <a:endParaRPr lang="zh-CN" altLang="en-US" sz="1125">
              <a:latin typeface="+mn-lt"/>
              <a:ea typeface="+mn-ea"/>
              <a:cs typeface="微软雅黑" panose="020B0503020204020204" pitchFamily="34" charset="-122"/>
            </a:endParaRPr>
          </a:p>
        </p:txBody>
      </p:sp>
      <mc:AlternateContent xmlns:mc="http://schemas.openxmlformats.org/markup-compatibility/2006" xmlns:p14="http://schemas.microsoft.com/office/powerpoint/2010/main">
        <mc:Choice Requires="p14">
          <p:contentPart r:id="rId1" p14:bwMode="auto">
            <p14:nvContentPartPr>
              <p14:cNvPr id="9" name="墨迹 8"/>
              <p14:cNvContentPartPr/>
              <p14:nvPr/>
            </p14:nvContentPartPr>
            <p14:xfrm>
              <a:off x="428048" y="456733"/>
              <a:ext cx="6178680" cy="257040"/>
            </p14:xfrm>
          </p:contentPart>
        </mc:Choice>
        <mc:Fallback xmlns="">
          <p:pic>
            <p:nvPicPr>
              <p:cNvPr id="9" name="墨迹 8"/>
            </p:nvPicPr>
            <p:blipFill>
              <a:blip r:embed="rId2"/>
            </p:blipFill>
            <p:spPr>
              <a:xfrm>
                <a:off x="428048" y="456733"/>
                <a:ext cx="6178680" cy="257040"/>
              </a:xfrm>
              <a:prstGeom prst="rect"/>
            </p:spPr>
          </p:pic>
        </mc:Fallback>
      </mc:AlternateContent>
      <p:sp>
        <p:nvSpPr>
          <p:cNvPr id="18" name="矩形 17"/>
          <p:cNvSpPr/>
          <p:nvPr/>
        </p:nvSpPr>
        <p:spPr bwMode="auto">
          <a:xfrm>
            <a:off x="0" y="1699261"/>
            <a:ext cx="9144000" cy="1399937"/>
          </a:xfrm>
          <a:prstGeom prst="rect">
            <a:avLst/>
          </a:prstGeom>
          <a:solidFill>
            <a:srgbClr val="0070C0"/>
          </a:solidFill>
          <a:ln w="9525" cap="flat" cmpd="sng" algn="ctr">
            <a:solidFill>
              <a:srgbClr val="E7F1F9"/>
            </a:solidFill>
            <a:prstDash val="solid"/>
            <a:round/>
            <a:headEnd type="none" w="med" len="med"/>
            <a:tailEnd type="none" w="med" len="med"/>
          </a:ln>
          <a:effectLst>
            <a:outerShdw blurRad="50800" dist="38100" dir="5400000" algn="t" rotWithShape="0">
              <a:prstClr val="black">
                <a:alpha val="40000"/>
              </a:prstClr>
            </a:outerShdw>
          </a:effectLst>
        </p:spPr>
        <p:txBody>
          <a:bodyPr lIns="51435" tIns="25718" rIns="51435" bIns="25718"/>
          <a:lstStyle/>
          <a:p>
            <a:pPr defTabSz="514350" eaLnBrk="0" fontAlgn="base" hangingPunct="0">
              <a:defRPr/>
            </a:pPr>
            <a:endParaRPr lang="zh-CN" altLang="en-US" sz="1015" dirty="0">
              <a:latin typeface="Times New Roman" panose="02020603050405020304" pitchFamily="18" charset="0"/>
              <a:ea typeface="微软雅黑" panose="020B0503020204020204" pitchFamily="34" charset="-122"/>
              <a:cs typeface="+mn-ea"/>
              <a:sym typeface="+mn-lt"/>
            </a:endParaRPr>
          </a:p>
        </p:txBody>
      </p:sp>
      <p:sp>
        <p:nvSpPr>
          <p:cNvPr id="19" name="标题 17"/>
          <p:cNvSpPr txBox="1">
            <a:spLocks noChangeArrowheads="1"/>
          </p:cNvSpPr>
          <p:nvPr/>
        </p:nvSpPr>
        <p:spPr bwMode="auto">
          <a:xfrm>
            <a:off x="0" y="1994297"/>
            <a:ext cx="9144000" cy="88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eaLnBrk="1" fontAlgn="base" hangingPunct="1">
              <a:lnSpc>
                <a:spcPct val="120000"/>
              </a:lnSpc>
              <a:spcBef>
                <a:spcPct val="0"/>
              </a:spcBef>
              <a:buFontTx/>
              <a:buNone/>
            </a:pPr>
            <a:r>
              <a:rPr lang="zh-CN" altLang="en-US" sz="3000" b="1" dirty="0">
                <a:solidFill>
                  <a:schemeClr val="bg1"/>
                </a:solidFill>
                <a:latin typeface="Times New Roman" panose="02020603050405020304" pitchFamily="18" charset="0"/>
                <a:ea typeface="微软雅黑" panose="020B0503020204020204" pitchFamily="34" charset="-122"/>
                <a:cs typeface="+mn-ea"/>
                <a:sym typeface="+mn-lt"/>
              </a:rPr>
              <a:t>感谢聆听！</a:t>
            </a:r>
            <a:br>
              <a:rPr lang="en-US" altLang="zh-CN" sz="3000" b="1" dirty="0">
                <a:solidFill>
                  <a:schemeClr val="bg1"/>
                </a:solidFill>
                <a:latin typeface="Times New Roman" panose="02020603050405020304" pitchFamily="18" charset="0"/>
                <a:ea typeface="微软雅黑" panose="020B0503020204020204" pitchFamily="34" charset="-122"/>
                <a:cs typeface="+mn-ea"/>
                <a:sym typeface="+mn-lt"/>
              </a:rPr>
            </a:br>
            <a:r>
              <a:rPr lang="zh-CN" altLang="en-US" sz="3000" b="1" dirty="0">
                <a:solidFill>
                  <a:schemeClr val="bg1"/>
                </a:solidFill>
                <a:latin typeface="Times New Roman" panose="02020603050405020304" pitchFamily="18" charset="0"/>
                <a:ea typeface="微软雅黑" panose="020B0503020204020204" pitchFamily="34" charset="-122"/>
                <a:cs typeface="+mn-ea"/>
                <a:sym typeface="+mn-lt"/>
              </a:rPr>
              <a:t>恳请各位老师批评指正！</a:t>
            </a:r>
            <a:endParaRPr lang="zh-CN" altLang="en-US" sz="3000" b="1" dirty="0">
              <a:solidFill>
                <a:schemeClr val="bg1"/>
              </a:solidFill>
              <a:latin typeface="Times New Roman" panose="02020603050405020304" pitchFamily="18" charset="0"/>
              <a:ea typeface="微软雅黑" panose="020B0503020204020204" pitchFamily="34" charset="-122"/>
              <a:cs typeface="+mn-ea"/>
              <a:sym typeface="+mn-lt"/>
            </a:endParaRPr>
          </a:p>
        </p:txBody>
      </p:sp>
      <p:graphicFrame>
        <p:nvGraphicFramePr>
          <p:cNvPr id="21" name="表格 20"/>
          <p:cNvGraphicFramePr>
            <a:graphicFrameLocks noGrp="1"/>
          </p:cNvGraphicFramePr>
          <p:nvPr/>
        </p:nvGraphicFramePr>
        <p:xfrm>
          <a:off x="1684074" y="3589894"/>
          <a:ext cx="2828720" cy="494792"/>
        </p:xfrm>
        <a:graphic>
          <a:graphicData uri="http://schemas.openxmlformats.org/drawingml/2006/table">
            <a:tbl>
              <a:tblPr firstRow="1" bandRow="1">
                <a:tableStyleId>{2D5ABB26-0587-4C30-8999-92F81FD0307C}</a:tableStyleId>
              </a:tblPr>
              <a:tblGrid>
                <a:gridCol w="1414360"/>
                <a:gridCol w="1414360"/>
              </a:tblGrid>
              <a:tr h="370840">
                <a:tc>
                  <a:txBody>
                    <a:bodyPr/>
                    <a:lstStyle/>
                    <a:p>
                      <a:pPr marL="0" marR="0" lvl="0" indent="0" algn="r" defTabSz="685800" rtl="0" eaLnBrk="1" fontAlgn="auto" latinLnBrk="0" hangingPunct="1">
                        <a:lnSpc>
                          <a:spcPct val="15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答辩人：</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endParaRPr>
                    </a:p>
                  </a:txBody>
                  <a:tcPr/>
                </a:tc>
                <a:tc>
                  <a:txBody>
                    <a:bodyPr/>
                    <a:lstStyle/>
                    <a:p>
                      <a:pPr marL="0" marR="0" lvl="0" indent="0" algn="l" defTabSz="685800" rtl="0" eaLnBrk="1" fontAlgn="auto" latinLnBrk="0" hangingPunct="1">
                        <a:lnSpc>
                          <a:spcPct val="150000"/>
                        </a:lnSpc>
                        <a:spcBef>
                          <a:spcPts val="0"/>
                        </a:spcBef>
                        <a:spcAft>
                          <a:spcPts val="2000"/>
                        </a:spcAft>
                        <a:buClrTx/>
                        <a:buSzTx/>
                        <a:buFontTx/>
                        <a:buNone/>
                        <a:defRPr/>
                      </a:pPr>
                      <a:r>
                        <a:rPr lang="zh-CN" altLang="en-US" sz="2000" b="1" kern="1200" dirty="0">
                          <a:solidFill>
                            <a:schemeClr val="tx1"/>
                          </a:solidFill>
                          <a:latin typeface="Times New Roman" panose="02020603050405020304" pitchFamily="18" charset="0"/>
                          <a:ea typeface="微软雅黑" panose="020B0503020204020204" pitchFamily="34" charset="-122"/>
                          <a:cs typeface="+mn-ea"/>
                        </a:rPr>
                        <a:t>李云霞</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endParaRPr>
                    </a:p>
                  </a:txBody>
                  <a:tcPr/>
                </a:tc>
              </a:tr>
            </a:tbl>
          </a:graphicData>
        </a:graphic>
      </p:graphicFrame>
      <p:graphicFrame>
        <p:nvGraphicFramePr>
          <p:cNvPr id="22" name="表格 21"/>
          <p:cNvGraphicFramePr>
            <a:graphicFrameLocks noGrp="1"/>
          </p:cNvGraphicFramePr>
          <p:nvPr/>
        </p:nvGraphicFramePr>
        <p:xfrm>
          <a:off x="4874606" y="3589894"/>
          <a:ext cx="2940552" cy="494792"/>
        </p:xfrm>
        <a:graphic>
          <a:graphicData uri="http://schemas.openxmlformats.org/drawingml/2006/table">
            <a:tbl>
              <a:tblPr firstRow="1" bandRow="1">
                <a:tableStyleId>{2D5ABB26-0587-4C30-8999-92F81FD0307C}</a:tableStyleId>
              </a:tblPr>
              <a:tblGrid>
                <a:gridCol w="1470276"/>
                <a:gridCol w="1470276"/>
              </a:tblGrid>
              <a:tr h="370840">
                <a:tc>
                  <a:txBody>
                    <a:bodyPr/>
                    <a:lstStyle/>
                    <a:p>
                      <a:pPr algn="r">
                        <a:lnSpc>
                          <a:spcPct val="150000"/>
                        </a:lnSpc>
                      </a:pP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rPr>
                        <a:t>日   期：</a:t>
                      </a:r>
                      <a:endPar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endParaRPr>
                    </a:p>
                  </a:txBody>
                  <a:tcPr/>
                </a:tc>
                <a:tc>
                  <a:txBody>
                    <a:bodyPr/>
                    <a:lstStyle/>
                    <a:p>
                      <a:pPr marL="0" marR="0" lvl="0" indent="0" algn="l" defTabSz="685800" rtl="0" eaLnBrk="1" fontAlgn="auto" latinLnBrk="0" hangingPunct="1">
                        <a:lnSpc>
                          <a:spcPct val="150000"/>
                        </a:lnSpc>
                        <a:spcBef>
                          <a:spcPts val="0"/>
                        </a:spcBef>
                        <a:spcAft>
                          <a:spcPts val="0"/>
                        </a:spcAft>
                        <a:buClrTx/>
                        <a:buSzTx/>
                        <a:buFontTx/>
                        <a:buNone/>
                        <a:defRPr/>
                      </a:pPr>
                      <a:r>
                        <a:rPr lang="en-US" altLang="zh-CN"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2026</a:t>
                      </a: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 </a:t>
                      </a:r>
                      <a:r>
                        <a:rPr lang="en-US" altLang="zh-CN"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 06</a:t>
                      </a:r>
                      <a:r>
                        <a:rPr lang="zh-CN" altLang="en-US" sz="2000" b="1" kern="1200" dirty="0">
                          <a:solidFill>
                            <a:schemeClr val="tx1"/>
                          </a:solidFill>
                          <a:latin typeface="Times New Roman" panose="02020603050405020304" pitchFamily="18" charset="0"/>
                          <a:ea typeface="微软雅黑" panose="020B0503020204020204" pitchFamily="34" charset="-122"/>
                          <a:cs typeface="微软雅黑" panose="020B0503020204020204" pitchFamily="34" charset="-122"/>
                          <a:sym typeface="+mn-lt"/>
                        </a:rPr>
                        <a:t> </a:t>
                      </a:r>
                      <a:endParaRPr lang="zh-CN" altLang="en-US" sz="2000" b="1" kern="1200" dirty="0">
                        <a:solidFill>
                          <a:schemeClr val="tx1"/>
                        </a:solidFill>
                        <a:latin typeface="Times New Roman" panose="02020603050405020304" pitchFamily="18" charset="0"/>
                        <a:ea typeface="微软雅黑" panose="020B0503020204020204" pitchFamily="34" charset="-122"/>
                        <a:cs typeface="+mn-ea"/>
                        <a:sym typeface="+mn-lt"/>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P spid="18" grpId="1" animBg="1"/>
      <p:bldP spid="19" grpId="1"/>
    </p:bldLst>
  </p:timing>
</p:sld>
</file>

<file path=ppt/tags/tag1.xml><?xml version="1.0" encoding="utf-8"?>
<p:tagLst xmlns:p="http://schemas.openxmlformats.org/presentationml/2006/main">
  <p:tag name="KSO_WM_DIAGRAM_VIRTUALLY_FRAME" val="{&quot;height&quot;:246.75,&quot;left&quot;:289.94464566929116,&quot;top&quot;:79.13724409448818,&quot;width&quot;:404.71236220472446}"/>
</p:tagLst>
</file>

<file path=ppt/tags/tag2.xml><?xml version="1.0" encoding="utf-8"?>
<p:tagLst xmlns:p="http://schemas.openxmlformats.org/presentationml/2006/main">
  <p:tag name="KSO_WM_DIAGRAM_VIRTUALLY_FRAME" val="{&quot;height&quot;:246.75,&quot;left&quot;:289.94464566929116,&quot;top&quot;:79.13724409448818,&quot;width&quot;:404.71236220472446}"/>
</p:tagLst>
</file>

<file path=ppt/tags/tag3.xml><?xml version="1.0" encoding="utf-8"?>
<p:tagLst xmlns:p="http://schemas.openxmlformats.org/presentationml/2006/main">
  <p:tag name="KSO_WM_DIAGRAM_VIRTUALLY_FRAME" val="{&quot;height&quot;:246.75,&quot;left&quot;:289.94464566929116,&quot;top&quot;:79.13724409448818,&quot;width&quot;:404.71236220472446}"/>
</p:tagLst>
</file>

<file path=ppt/tags/tag4.xml><?xml version="1.0" encoding="utf-8"?>
<p:tagLst xmlns:p="http://schemas.openxmlformats.org/presentationml/2006/main">
  <p:tag name="KSO_WM_DIAGRAM_VIRTUALLY_FRAME" val="{&quot;height&quot;:246.75,&quot;left&quot;:289.94464566929116,&quot;top&quot;:79.13724409448818,&quot;width&quot;:404.71236220472446}"/>
</p:tagLst>
</file>

<file path=ppt/tags/tag5.xml><?xml version="1.0" encoding="utf-8"?>
<p:tagLst xmlns:p="http://schemas.openxmlformats.org/presentationml/2006/main">
  <p:tag name="KSO_WM_DIAGRAM_VIRTUALLY_FRAME" val="{&quot;height&quot;:246.75,&quot;left&quot;:289.94464566929116,&quot;top&quot;:79.13724409448818,&quot;width&quot;:404.71236220472446}"/>
</p:tagLst>
</file>

<file path=ppt/tags/tag6.xml><?xml version="1.0" encoding="utf-8"?>
<p:tagLst xmlns:p="http://schemas.openxmlformats.org/presentationml/2006/main">
  <p:tag name="KSO_WM_DIAGRAM_VIRTUALLY_FRAME" val="{&quot;height&quot;:246.75,&quot;left&quot;:289.94464566929116,&quot;top&quot;:79.13724409448818,&quot;width&quot;:404.71236220472446}"/>
</p:tagLst>
</file>

<file path=ppt/tags/tag7.xml><?xml version="1.0" encoding="utf-8"?>
<p:tagLst xmlns:p="http://schemas.openxmlformats.org/presentationml/2006/main">
  <p:tag name="KSO_WM_DIAGRAM_VIRTUALLY_FRAME" val="{&quot;height&quot;:246.75,&quot;left&quot;:289.94464566929116,&quot;top&quot;:79.13724409448818,&quot;width&quot;:404.71236220472446}"/>
</p:tagLst>
</file>

<file path=ppt/tags/tag8.xml><?xml version="1.0" encoding="utf-8"?>
<p:tagLst xmlns:p="http://schemas.openxmlformats.org/presentationml/2006/main">
  <p:tag name="KSO_WM_DIAGRAM_VIRTUALLY_FRAME" val="{&quot;height&quot;:246.75,&quot;left&quot;:289.94464566929116,&quot;top&quot;:79.13724409448818,&quot;width&quot;:404.71236220472446}"/>
</p:tagLst>
</file>

<file path=ppt/tags/tag9.xml><?xml version="1.0" encoding="utf-8"?>
<p:tagLst xmlns:p="http://schemas.openxmlformats.org/presentationml/2006/main">
  <p:tag name="KSO_WM_DIAGRAM_VIRTUALLY_FRAME" val="{&quot;height&quot;:246.75,&quot;left&quot;:289.94464566929116,&quot;top&quot;:79.13724409448818,&quot;width&quot;:404.71236220472446}"/>
</p:tagLst>
</file>

<file path=ppt/tags/tag10.xml><?xml version="1.0" encoding="utf-8"?>
<p:tagLst xmlns:p="http://schemas.openxmlformats.org/presentationml/2006/main">
  <p:tag name="KSO_WM_DIAGRAM_VIRTUALLY_FRAME" val="{&quot;height&quot;:246.75,&quot;left&quot;:289.94464566929116,&quot;top&quot;:79.13724409448818,&quot;width&quot;:404.71236220472446}"/>
</p:tagLst>
</file>

<file path=ppt/tags/tag11.xml><?xml version="1.0" encoding="utf-8"?>
<p:tagLst xmlns:p="http://schemas.openxmlformats.org/presentationml/2006/main">
  <p:tag name="KSO_WM_DIAGRAM_VIRTUALLY_FRAME" val="{&quot;height&quot;:246.75,&quot;left&quot;:289.94464566929116,&quot;top&quot;:79.13724409448818,&quot;width&quot;:404.71236220472446}"/>
</p:tagLst>
</file>

<file path=ppt/tags/tag12.xml><?xml version="1.0" encoding="utf-8"?>
<p:tagLst xmlns:p="http://schemas.openxmlformats.org/presentationml/2006/main">
  <p:tag name="KSO_WM_DIAGRAM_VIRTUALLY_FRAME" val="{&quot;height&quot;:246.75,&quot;left&quot;:289.94464566929116,&quot;top&quot;:79.13724409448818,&quot;width&quot;:404.71236220472446}"/>
</p:tagLst>
</file>

<file path=ppt/tags/tag13.xml><?xml version="1.0" encoding="utf-8"?>
<p:tagLst xmlns:p="http://schemas.openxmlformats.org/presentationml/2006/main">
  <p:tag name="KSO_WM_DIAGRAM_VIRTUALLY_FRAME" val="{&quot;height&quot;:246.75,&quot;left&quot;:289.94464566929116,&quot;top&quot;:79.13724409448818,&quot;width&quot;:404.71236220472446}"/>
</p:tagLst>
</file>

<file path=ppt/tags/tag14.xml><?xml version="1.0" encoding="utf-8"?>
<p:tagLst xmlns:p="http://schemas.openxmlformats.org/presentationml/2006/main">
  <p:tag name="KSO_WM_DIAGRAM_VIRTUALLY_FRAME" val="{&quot;height&quot;:246.75,&quot;left&quot;:289.94464566929116,&quot;top&quot;:79.13724409448818,&quot;width&quot;:404.71236220472446}"/>
</p:tagLst>
</file>

<file path=ppt/tags/tag15.xml><?xml version="1.0" encoding="utf-8"?>
<p:tagLst xmlns:p="http://schemas.openxmlformats.org/presentationml/2006/main">
  <p:tag name="KSO_WM_DIAGRAM_VIRTUALLY_FRAME" val="{&quot;height&quot;:246.75,&quot;left&quot;:289.94464566929116,&quot;top&quot;:79.13724409448818,&quot;width&quot;:404.71236220472446}"/>
</p:tagLst>
</file>

<file path=ppt/tags/tag16.xml><?xml version="1.0" encoding="utf-8"?>
<p:tagLst xmlns:p="http://schemas.openxmlformats.org/presentationml/2006/main">
  <p:tag name="KSO_WM_DIAGRAM_VIRTUALLY_FRAME" val="{&quot;height&quot;:246.75,&quot;left&quot;:289.94464566929116,&quot;top&quot;:79.13724409448818,&quot;width&quot;:404.71236220472446}"/>
</p:tagLst>
</file>

<file path=ppt/tags/tag17.xml><?xml version="1.0" encoding="utf-8"?>
<p:tagLst xmlns:p="http://schemas.openxmlformats.org/presentationml/2006/main">
  <p:tag name="KSO_WM_DIAGRAM_VIRTUALLY_FRAME" val="{&quot;height&quot;:246.75,&quot;left&quot;:289.94464566929116,&quot;top&quot;:79.13724409448818,&quot;width&quot;:404.71236220472446}"/>
</p:tagLst>
</file>

<file path=ppt/tags/tag18.xml><?xml version="1.0" encoding="utf-8"?>
<p:tagLst xmlns:p="http://schemas.openxmlformats.org/presentationml/2006/main">
  <p:tag name="KSO_WM_DIAGRAM_VIRTUALLY_FRAME" val="{&quot;height&quot;:246.75,&quot;left&quot;:289.94464566929116,&quot;top&quot;:79.13724409448818,&quot;width&quot;:404.71236220472446}"/>
</p:tagLst>
</file>

<file path=ppt/tags/tag19.xml><?xml version="1.0" encoding="utf-8"?>
<p:tagLst xmlns:p="http://schemas.openxmlformats.org/presentationml/2006/main">
  <p:tag name="KSO_WM_DIAGRAM_VIRTUALLY_FRAME" val="{&quot;height&quot;:246.75,&quot;left&quot;:289.94464566929116,&quot;top&quot;:79.13724409448818,&quot;width&quot;:404.71236220472446}"/>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DIAGRAM_VIRTUALLY_FRAME" val="{&quot;height&quot;:246.75,&quot;left&quot;:289.94464566929116,&quot;top&quot;:79.13724409448818,&quot;width&quot;:404.71236220472446}"/>
</p:tagLst>
</file>

<file path=ppt/tags/tag30.xml><?xml version="1.0" encoding="utf-8"?>
<p:tagLst xmlns:p="http://schemas.openxmlformats.org/presentationml/2006/main">
  <p:tag name="KSO_WM_DIAGRAM_VIRTUALLY_FRAME" val="{&quot;height&quot;:246.75,&quot;left&quot;:289.94464566929116,&quot;top&quot;:79.13724409448818,&quot;width&quot;:404.71236220472446}"/>
</p:tagLst>
</file>

<file path=ppt/tags/tag31.xml><?xml version="1.0" encoding="utf-8"?>
<p:tagLst xmlns:p="http://schemas.openxmlformats.org/presentationml/2006/main">
  <p:tag name="KSO_WM_DIAGRAM_VIRTUALLY_FRAME" val="{&quot;height&quot;:246.75,&quot;left&quot;:289.94464566929116,&quot;top&quot;:79.13724409448818,&quot;width&quot;:404.71236220472446}"/>
</p:tagLst>
</file>

<file path=ppt/tags/tag32.xml><?xml version="1.0" encoding="utf-8"?>
<p:tagLst xmlns:p="http://schemas.openxmlformats.org/presentationml/2006/main">
  <p:tag name="KSO_WM_DIAGRAM_VIRTUALLY_FRAME" val="{&quot;height&quot;:246.75,&quot;left&quot;:289.94464566929116,&quot;top&quot;:79.13724409448818,&quot;width&quot;:404.71236220472446}"/>
</p:tagLst>
</file>

<file path=ppt/tags/tag33.xml><?xml version="1.0" encoding="utf-8"?>
<p:tagLst xmlns:p="http://schemas.openxmlformats.org/presentationml/2006/main">
  <p:tag name="KSO_WM_DIAGRAM_VIRTUALLY_FRAME" val="{&quot;height&quot;:246.75,&quot;left&quot;:289.94464566929116,&quot;top&quot;:79.13724409448818,&quot;width&quot;:404.71236220472446}"/>
</p:tagLst>
</file>

<file path=ppt/tags/tag34.xml><?xml version="1.0" encoding="utf-8"?>
<p:tagLst xmlns:p="http://schemas.openxmlformats.org/presentationml/2006/main">
  <p:tag name="KSO_WM_DIAGRAM_VIRTUALLY_FRAME" val="{&quot;height&quot;:246.75,&quot;left&quot;:289.94464566929116,&quot;top&quot;:79.13724409448818,&quot;width&quot;:404.71236220472446}"/>
</p:tagLst>
</file>

<file path=ppt/tags/tag35.xml><?xml version="1.0" encoding="utf-8"?>
<p:tagLst xmlns:p="http://schemas.openxmlformats.org/presentationml/2006/main">
  <p:tag name="KSO_WM_DIAGRAM_VIRTUALLY_FRAME" val="{&quot;height&quot;:246.75,&quot;left&quot;:289.94464566929116,&quot;top&quot;:79.13724409448818,&quot;width&quot;:404.71236220472446}"/>
</p:tagLst>
</file>

<file path=ppt/tags/tag36.xml><?xml version="1.0" encoding="utf-8"?>
<p:tagLst xmlns:p="http://schemas.openxmlformats.org/presentationml/2006/main">
  <p:tag name="KSO_WM_DIAGRAM_VIRTUALLY_FRAME" val="{&quot;height&quot;:246.75,&quot;left&quot;:289.94464566929116,&quot;top&quot;:79.13724409448818,&quot;width&quot;:404.71236220472446}"/>
</p:tagLst>
</file>

<file path=ppt/tags/tag37.xml><?xml version="1.0" encoding="utf-8"?>
<p:tagLst xmlns:p="http://schemas.openxmlformats.org/presentationml/2006/main">
  <p:tag name="KSO_WM_DIAGRAM_VIRTUALLY_FRAME" val="{&quot;height&quot;:246.75,&quot;left&quot;:289.94464566929116,&quot;top&quot;:79.13724409448818,&quot;width&quot;:404.71236220472446}"/>
</p:tagLst>
</file>

<file path=ppt/tags/tag38.xml><?xml version="1.0" encoding="utf-8"?>
<p:tagLst xmlns:p="http://schemas.openxmlformats.org/presentationml/2006/main">
  <p:tag name="KSO_WM_DIAGRAM_VIRTUALLY_FRAME" val="{&quot;height&quot;:246.75,&quot;left&quot;:289.94464566929116,&quot;top&quot;:79.13724409448818,&quot;width&quot;:404.71236220472446}"/>
</p:tagLst>
</file>

<file path=ppt/tags/tag39.xml><?xml version="1.0" encoding="utf-8"?>
<p:tagLst xmlns:p="http://schemas.openxmlformats.org/presentationml/2006/main">
  <p:tag name="KSO_WM_DIAGRAM_VIRTUALLY_FRAME" val="{&quot;height&quot;:246.75,&quot;left&quot;:289.94464566929116,&quot;top&quot;:79.13724409448818,&quot;width&quot;:404.71236220472446}"/>
</p:tagLst>
</file>

<file path=ppt/tags/tag40.xml><?xml version="1.0" encoding="utf-8"?>
<p:tagLst xmlns:p="http://schemas.openxmlformats.org/presentationml/2006/main">
  <p:tag name="KSO_WM_DIAGRAM_VIRTUALLY_FRAME" val="{&quot;height&quot;:246.75,&quot;left&quot;:289.94464566929116,&quot;top&quot;:79.13724409448818,&quot;width&quot;:404.71236220472446}"/>
</p:tagLst>
</file>

<file path=ppt/tags/tag41.xml><?xml version="1.0" encoding="utf-8"?>
<p:tagLst xmlns:p="http://schemas.openxmlformats.org/presentationml/2006/main">
  <p:tag name="KSO_WM_DIAGRAM_VIRTUALLY_FRAME" val="{&quot;height&quot;:246.75,&quot;left&quot;:289.94464566929116,&quot;top&quot;:79.13724409448818,&quot;width&quot;:404.71236220472446}"/>
</p:tagLst>
</file>

<file path=ppt/tags/tag42.xml><?xml version="1.0" encoding="utf-8"?>
<p:tagLst xmlns:p="http://schemas.openxmlformats.org/presentationml/2006/main">
  <p:tag name="KSO_WM_DIAGRAM_VIRTUALLY_FRAME" val="{&quot;height&quot;:246.75,&quot;left&quot;:289.94464566929116,&quot;top&quot;:79.13724409448818,&quot;width&quot;:404.71236220472446}"/>
</p:tagLst>
</file>

<file path=ppt/tags/tag43.xml><?xml version="1.0" encoding="utf-8"?>
<p:tagLst xmlns:p="http://schemas.openxmlformats.org/presentationml/2006/main">
  <p:tag name="KSO_WM_DIAGRAM_VIRTUALLY_FRAME" val="{&quot;height&quot;:246.75,&quot;left&quot;:289.94464566929116,&quot;top&quot;:79.13724409448818,&quot;width&quot;:404.71236220472446}"/>
</p:tagLst>
</file>

<file path=ppt/tags/tag44.xml><?xml version="1.0" encoding="utf-8"?>
<p:tagLst xmlns:p="http://schemas.openxmlformats.org/presentationml/2006/main">
  <p:tag name="KSO_WM_DIAGRAM_VIRTUALLY_FRAME" val="{&quot;height&quot;:246.75,&quot;left&quot;:289.94464566929116,&quot;top&quot;:79.13724409448818,&quot;width&quot;:404.71236220472446}"/>
</p:tagLst>
</file>

<file path=ppt/tags/tag45.xml><?xml version="1.0" encoding="utf-8"?>
<p:tagLst xmlns:p="http://schemas.openxmlformats.org/presentationml/2006/main">
  <p:tag name="KSO_WM_DIAGRAM_VIRTUALLY_FRAME" val="{&quot;height&quot;:246.75,&quot;left&quot;:289.94464566929116,&quot;top&quot;:79.13724409448818,&quot;width&quot;:404.71236220472446}"/>
</p:tagLst>
</file>

<file path=ppt/tags/tag46.xml><?xml version="1.0" encoding="utf-8"?>
<p:tagLst xmlns:p="http://schemas.openxmlformats.org/presentationml/2006/main">
  <p:tag name="KSO_WM_DIAGRAM_VIRTUALLY_FRAME" val="{&quot;height&quot;:246.75,&quot;left&quot;:289.94464566929116,&quot;top&quot;:79.13724409448818,&quot;width&quot;:404.71236220472446}"/>
</p:tagLst>
</file>

<file path=ppt/tags/tag47.xml><?xml version="1.0" encoding="utf-8"?>
<p:tagLst xmlns:p="http://schemas.openxmlformats.org/presentationml/2006/main">
  <p:tag name="KSO_WM_DIAGRAM_VIRTUALLY_FRAME" val="{&quot;height&quot;:246.75,&quot;left&quot;:289.94464566929116,&quot;top&quot;:79.13724409448818,&quot;width&quot;:404.71236220472446}"/>
</p:tagLst>
</file>

<file path=ppt/tags/tag48.xml><?xml version="1.0" encoding="utf-8"?>
<p:tagLst xmlns:p="http://schemas.openxmlformats.org/presentationml/2006/main">
  <p:tag name="KSO_WM_DIAGRAM_VIRTUALLY_FRAME" val="{&quot;height&quot;:144.03033333326366,&quot;left&quot;:28.25,&quot;top&quot;:222.62535433070866,&quot;width&quot;:680.8723622047244}"/>
</p:tagLst>
</file>

<file path=ppt/tags/tag49.xml><?xml version="1.0" encoding="utf-8"?>
<p:tagLst xmlns:p="http://schemas.openxmlformats.org/presentationml/2006/main">
  <p:tag name="KSO_WM_DIAGRAM_VIRTUALLY_FRAME" val="{&quot;height&quot;:144.03033333326366,&quot;left&quot;:28.25,&quot;top&quot;:222.62535433070866,&quot;width&quot;:680.8723622047244}"/>
</p:tagLst>
</file>

<file path=ppt/tags/tag50.xml><?xml version="1.0" encoding="utf-8"?>
<p:tagLst xmlns:p="http://schemas.openxmlformats.org/presentationml/2006/main">
  <p:tag name="KSO_WM_DIAGRAM_VIRTUALLY_FRAME" val="{&quot;height&quot;:144.03033333326366,&quot;left&quot;:28.25,&quot;top&quot;:222.62535433070866,&quot;width&quot;:680.8723622047244}"/>
</p:tagLst>
</file>

<file path=ppt/tags/tag51.xml><?xml version="1.0" encoding="utf-8"?>
<p:tagLst xmlns:p="http://schemas.openxmlformats.org/presentationml/2006/main">
  <p:tag name="KSO_WM_DIAGRAM_VIRTUALLY_FRAME" val="{&quot;height&quot;:144.03033333326366,&quot;left&quot;:28.25,&quot;top&quot;:222.62535433070866,&quot;width&quot;:680.8723622047244}"/>
</p:tagLst>
</file>

<file path=ppt/tags/tag52.xml><?xml version="1.0" encoding="utf-8"?>
<p:tagLst xmlns:p="http://schemas.openxmlformats.org/presentationml/2006/main">
  <p:tag name="KSO_WM_DIAGRAM_VIRTUALLY_FRAME" val="{&quot;height&quot;:144.03033333326366,&quot;left&quot;:28.25,&quot;top&quot;:222.62535433070866,&quot;width&quot;:680.8723622047244}"/>
</p:tagLst>
</file>

<file path=ppt/tags/tag53.xml><?xml version="1.0" encoding="utf-8"?>
<p:tagLst xmlns:p="http://schemas.openxmlformats.org/presentationml/2006/main">
  <p:tag name="KSO_WM_DIAGRAM_VIRTUALLY_FRAME" val="{&quot;height&quot;:144.03033333326366,&quot;left&quot;:28.25,&quot;top&quot;:222.62535433070866,&quot;width&quot;:680.8723622047244}"/>
</p:tagLst>
</file>

<file path=ppt/tags/tag54.xml><?xml version="1.0" encoding="utf-8"?>
<p:tagLst xmlns:p="http://schemas.openxmlformats.org/presentationml/2006/main">
  <p:tag name="KSO_WM_DIAGRAM_VIRTUALLY_FRAME" val="{&quot;height&quot;:144.03033333326366,&quot;left&quot;:28.25,&quot;top&quot;:222.62535433070866,&quot;width&quot;:680.8723622047244}"/>
</p:tagLst>
</file>

<file path=ppt/tags/tag55.xml><?xml version="1.0" encoding="utf-8"?>
<p:tagLst xmlns:p="http://schemas.openxmlformats.org/presentationml/2006/main">
  <p:tag name="KSO_WM_DIAGRAM_VIRTUALLY_FRAME" val="{&quot;height&quot;:144.03033333326366,&quot;left&quot;:28.25,&quot;top&quot;:222.62535433070866,&quot;width&quot;:680.8723622047244}"/>
</p:tagLst>
</file>

<file path=ppt/tags/tag56.xml><?xml version="1.0" encoding="utf-8"?>
<p:tagLst xmlns:p="http://schemas.openxmlformats.org/presentationml/2006/main">
  <p:tag name="KSO_WM_DIAGRAM_VIRTUALLY_FRAME" val="{&quot;height&quot;:144.03033333326366,&quot;left&quot;:28.25,&quot;top&quot;:222.62535433070866,&quot;width&quot;:680.8723622047244}"/>
</p:tagLst>
</file>

<file path=ppt/tags/tag57.xml><?xml version="1.0" encoding="utf-8"?>
<p:tagLst xmlns:p="http://schemas.openxmlformats.org/presentationml/2006/main">
  <p:tag name="KSO_WM_DIAGRAM_VIRTUALLY_FRAME" val="{&quot;height&quot;:246.75,&quot;left&quot;:289.94464566929116,&quot;top&quot;:79.13724409448818,&quot;width&quot;:404.71236220472446}"/>
</p:tagLst>
</file>

<file path=ppt/tags/tag58.xml><?xml version="1.0" encoding="utf-8"?>
<p:tagLst xmlns:p="http://schemas.openxmlformats.org/presentationml/2006/main">
  <p:tag name="KSO_WM_DIAGRAM_VIRTUALLY_FRAME" val="{&quot;height&quot;:246.75,&quot;left&quot;:289.94464566929116,&quot;top&quot;:79.13724409448818,&quot;width&quot;:404.71236220472446}"/>
</p:tagLst>
</file>

<file path=ppt/tags/tag59.xml><?xml version="1.0" encoding="utf-8"?>
<p:tagLst xmlns:p="http://schemas.openxmlformats.org/presentationml/2006/main">
  <p:tag name="KSO_WM_DIAGRAM_VIRTUALLY_FRAME" val="{&quot;height&quot;:246.75,&quot;left&quot;:289.94464566929116,&quot;top&quot;:79.13724409448818,&quot;width&quot;:404.71236220472446}"/>
</p:tagLst>
</file>

<file path=ppt/tags/tag60.xml><?xml version="1.0" encoding="utf-8"?>
<p:tagLst xmlns:p="http://schemas.openxmlformats.org/presentationml/2006/main">
  <p:tag name="KSO_WM_DIAGRAM_VIRTUALLY_FRAME" val="{&quot;height&quot;:246.75,&quot;left&quot;:289.94464566929116,&quot;top&quot;:79.13724409448818,&quot;width&quot;:404.71236220472446}"/>
</p:tagLst>
</file>

<file path=ppt/tags/tag61.xml><?xml version="1.0" encoding="utf-8"?>
<p:tagLst xmlns:p="http://schemas.openxmlformats.org/presentationml/2006/main">
  <p:tag name="KSO_WM_DIAGRAM_VIRTUALLY_FRAME" val="{&quot;height&quot;:246.75,&quot;left&quot;:289.94464566929116,&quot;top&quot;:79.13724409448818,&quot;width&quot;:404.71236220472446}"/>
</p:tagLst>
</file>

<file path=ppt/tags/tag62.xml><?xml version="1.0" encoding="utf-8"?>
<p:tagLst xmlns:p="http://schemas.openxmlformats.org/presentationml/2006/main">
  <p:tag name="KSO_WM_DIAGRAM_VIRTUALLY_FRAME" val="{&quot;height&quot;:246.75,&quot;left&quot;:289.94464566929116,&quot;top&quot;:79.13724409448818,&quot;width&quot;:404.71236220472446}"/>
</p:tagLst>
</file>

<file path=ppt/tags/tag63.xml><?xml version="1.0" encoding="utf-8"?>
<p:tagLst xmlns:p="http://schemas.openxmlformats.org/presentationml/2006/main">
  <p:tag name="KSO_WM_DIAGRAM_VIRTUALLY_FRAME" val="{&quot;height&quot;:246.75,&quot;left&quot;:289.94464566929116,&quot;top&quot;:79.13724409448818,&quot;width&quot;:404.71236220472446}"/>
</p:tagLst>
</file>

<file path=ppt/tags/tag64.xml><?xml version="1.0" encoding="utf-8"?>
<p:tagLst xmlns:p="http://schemas.openxmlformats.org/presentationml/2006/main">
  <p:tag name="KSO_WM_DIAGRAM_VIRTUALLY_FRAME" val="{&quot;height&quot;:246.75,&quot;left&quot;:289.94464566929116,&quot;top&quot;:79.13724409448818,&quot;width&quot;:404.71236220472446}"/>
</p:tagLst>
</file>

<file path=ppt/tags/tag65.xml><?xml version="1.0" encoding="utf-8"?>
<p:tagLst xmlns:p="http://schemas.openxmlformats.org/presentationml/2006/main">
  <p:tag name="KSO_WM_DIAGRAM_VIRTUALLY_FRAME" val="{&quot;height&quot;:246.75,&quot;left&quot;:289.94464566929116,&quot;top&quot;:79.13724409448818,&quot;width&quot;:404.71236220472446}"/>
</p:tagLst>
</file>

<file path=ppt/tags/tag66.xml><?xml version="1.0" encoding="utf-8"?>
<p:tagLst xmlns:p="http://schemas.openxmlformats.org/presentationml/2006/main">
  <p:tag name="KSO_WM_DIAGRAM_VIRTUALLY_FRAME" val="{&quot;height&quot;:246.75,&quot;left&quot;:289.94464566929116,&quot;top&quot;:79.13724409448818,&quot;width&quot;:404.71236220472446}"/>
</p:tagLst>
</file>

<file path=ppt/tags/tag67.xml><?xml version="1.0" encoding="utf-8"?>
<p:tagLst xmlns:p="http://schemas.openxmlformats.org/presentationml/2006/main">
  <p:tag name="KSO_WM_DIAGRAM_VIRTUALLY_FRAME" val="{&quot;height&quot;:246.75,&quot;left&quot;:289.94464566929116,&quot;top&quot;:79.13724409448818,&quot;width&quot;:404.71236220472446}"/>
</p:tagLst>
</file>

<file path=ppt/tags/tag68.xml><?xml version="1.0" encoding="utf-8"?>
<p:tagLst xmlns:p="http://schemas.openxmlformats.org/presentationml/2006/main">
  <p:tag name="KSO_WM_DIAGRAM_VIRTUALLY_FRAME" val="{&quot;height&quot;:246.75,&quot;left&quot;:289.94464566929116,&quot;top&quot;:79.13724409448818,&quot;width&quot;:404.71236220472446}"/>
</p:tagLst>
</file>

<file path=ppt/tags/tag69.xml><?xml version="1.0" encoding="utf-8"?>
<p:tagLst xmlns:p="http://schemas.openxmlformats.org/presentationml/2006/main">
  <p:tag name="KSO_WM_DIAGRAM_VIRTUALLY_FRAME" val="{&quot;height&quot;:246.75,&quot;left&quot;:289.94464566929116,&quot;top&quot;:79.13724409448818,&quot;width&quot;:404.71236220472446}"/>
</p:tagLst>
</file>

<file path=ppt/tags/tag70.xml><?xml version="1.0" encoding="utf-8"?>
<p:tagLst xmlns:p="http://schemas.openxmlformats.org/presentationml/2006/main">
  <p:tag name="KSO_WM_DIAGRAM_VIRTUALLY_FRAME" val="{&quot;height&quot;:246.75,&quot;left&quot;:289.94464566929116,&quot;top&quot;:79.13724409448818,&quot;width&quot;:404.71236220472446}"/>
</p:tagLst>
</file>

<file path=ppt/tags/tag71.xml><?xml version="1.0" encoding="utf-8"?>
<p:tagLst xmlns:p="http://schemas.openxmlformats.org/presentationml/2006/main">
  <p:tag name="KSO_WM_DIAGRAM_VIRTUALLY_FRAME" val="{&quot;height&quot;:246.75,&quot;left&quot;:289.94464566929116,&quot;top&quot;:79.13724409448818,&quot;width&quot;:404.71236220472446}"/>
</p:tagLst>
</file>

<file path=ppt/tags/tag72.xml><?xml version="1.0" encoding="utf-8"?>
<p:tagLst xmlns:p="http://schemas.openxmlformats.org/presentationml/2006/main">
  <p:tag name="KSO_WM_DIAGRAM_VIRTUALLY_FRAME" val="{&quot;height&quot;:246.75,&quot;left&quot;:289.94464566929116,&quot;top&quot;:79.13724409448818,&quot;width&quot;:404.71236220472446}"/>
</p:tagLst>
</file>

<file path=ppt/tags/tag73.xml><?xml version="1.0" encoding="utf-8"?>
<p:tagLst xmlns:p="http://schemas.openxmlformats.org/presentationml/2006/main">
  <p:tag name="KSO_WM_DIAGRAM_VIRTUALLY_FRAME" val="{&quot;height&quot;:246.75,&quot;left&quot;:289.94464566929116,&quot;top&quot;:79.13724409448818,&quot;width&quot;:404.71236220472446}"/>
</p:tagLst>
</file>

<file path=ppt/tags/tag74.xml><?xml version="1.0" encoding="utf-8"?>
<p:tagLst xmlns:p="http://schemas.openxmlformats.org/presentationml/2006/main">
  <p:tag name="KSO_WM_DIAGRAM_VIRTUALLY_FRAME" val="{&quot;height&quot;:246.75,&quot;left&quot;:289.94464566929116,&quot;top&quot;:79.13724409448818,&quot;width&quot;:404.71236220472446}"/>
</p:tagLst>
</file>

<file path=ppt/tags/tag75.xml><?xml version="1.0" encoding="utf-8"?>
<p:tagLst xmlns:p="http://schemas.openxmlformats.org/presentationml/2006/main">
  <p:tag name="KSO_WM_DIAGRAM_VIRTUALLY_FRAME" val="{&quot;height&quot;:246.75,&quot;left&quot;:289.94464566929116,&quot;top&quot;:79.13724409448818,&quot;width&quot;:404.71236220472446}"/>
</p:tagLst>
</file>

<file path=ppt/tags/tag76.xml><?xml version="1.0" encoding="utf-8"?>
<p:tagLst xmlns:p="http://schemas.openxmlformats.org/presentationml/2006/main">
  <p:tag name="KSO_WM_DIAGRAM_VIRTUALLY_FRAME" val="{&quot;height&quot;:246.75,&quot;left&quot;:289.94464566929116,&quot;top&quot;:79.13724409448818,&quot;width&quot;:404.71236220472446}"/>
</p:tagLst>
</file>

<file path=ppt/tags/tag77.xml><?xml version="1.0" encoding="utf-8"?>
<p:tagLst xmlns:p="http://schemas.openxmlformats.org/presentationml/2006/main">
  <p:tag name="KSO_WM_DIAGRAM_VIRTUALLY_FRAME" val="{&quot;height&quot;:246.75,&quot;left&quot;:289.94464566929116,&quot;top&quot;:79.13724409448818,&quot;width&quot;:404.71236220472446}"/>
</p:tagLst>
</file>

<file path=ppt/tags/tag78.xml><?xml version="1.0" encoding="utf-8"?>
<p:tagLst xmlns:p="http://schemas.openxmlformats.org/presentationml/2006/main">
  <p:tag name="KSO_WM_DIAGRAM_VIRTUALLY_FRAME" val="{&quot;height&quot;:246.75,&quot;left&quot;:289.94464566929116,&quot;top&quot;:79.13724409448818,&quot;width&quot;:404.71236220472446}"/>
</p:tagLst>
</file>

<file path=ppt/tags/tag79.xml><?xml version="1.0" encoding="utf-8"?>
<p:tagLst xmlns:p="http://schemas.openxmlformats.org/presentationml/2006/main">
  <p:tag name="KSO_WM_DIAGRAM_VIRTUALLY_FRAME" val="{&quot;height&quot;:246.75,&quot;left&quot;:289.94464566929116,&quot;top&quot;:79.13724409448818,&quot;width&quot;:404.71236220472446}"/>
</p:tagLst>
</file>

<file path=ppt/tags/tag80.xml><?xml version="1.0" encoding="utf-8"?>
<p:tagLst xmlns:p="http://schemas.openxmlformats.org/presentationml/2006/main">
  <p:tag name="KSO_WM_DIAGRAM_VIRTUALLY_FRAME" val="{&quot;height&quot;:246.75,&quot;left&quot;:289.94464566929116,&quot;top&quot;:79.13724409448818,&quot;width&quot;:404.71236220472446}"/>
</p:tagLst>
</file>

<file path=ppt/tags/tag81.xml><?xml version="1.0" encoding="utf-8"?>
<p:tagLst xmlns:p="http://schemas.openxmlformats.org/presentationml/2006/main">
  <p:tag name="KSO_WM_DIAGRAM_VIRTUALLY_FRAME" val="{&quot;height&quot;:246.75,&quot;left&quot;:289.94464566929116,&quot;top&quot;:79.13724409448818,&quot;width&quot;:404.71236220472446}"/>
</p:tagLst>
</file>

<file path=ppt/tags/tag82.xml><?xml version="1.0" encoding="utf-8"?>
<p:tagLst xmlns:p="http://schemas.openxmlformats.org/presentationml/2006/main">
  <p:tag name="KSO_WM_DIAGRAM_VIRTUALLY_FRAME" val="{&quot;height&quot;:246.75,&quot;left&quot;:289.94464566929116,&quot;top&quot;:79.13724409448818,&quot;width&quot;:404.71236220472446}"/>
</p:tagLst>
</file>

<file path=ppt/tags/tag83.xml><?xml version="1.0" encoding="utf-8"?>
<p:tagLst xmlns:p="http://schemas.openxmlformats.org/presentationml/2006/main">
  <p:tag name="KSO_WM_DIAGRAM_VIRTUALLY_FRAME" val="{&quot;height&quot;:246.75,&quot;left&quot;:289.94464566929116,&quot;top&quot;:79.13724409448818,&quot;width&quot;:404.71236220472446}"/>
</p:tagLst>
</file>

<file path=ppt/tags/tag84.xml><?xml version="1.0" encoding="utf-8"?>
<p:tagLst xmlns:p="http://schemas.openxmlformats.org/presentationml/2006/main">
  <p:tag name="KSO_WM_DIAGRAM_VIRTUALLY_FRAME" val="{&quot;height&quot;:246.75,&quot;left&quot;:289.94464566929116,&quot;top&quot;:79.13724409448818,&quot;width&quot;:404.71236220472446}"/>
</p:tagLst>
</file>

<file path=ppt/tags/tag85.xml><?xml version="1.0" encoding="utf-8"?>
<p:tagLst xmlns:p="http://schemas.openxmlformats.org/presentationml/2006/main">
  <p:tag name="KSO_WM_DIAGRAM_VIRTUALLY_FRAME" val="{&quot;height&quot;:246.75,&quot;left&quot;:289.94464566929116,&quot;top&quot;:79.13724409448818,&quot;width&quot;:404.71236220472446}"/>
</p:tagLst>
</file>

<file path=ppt/tags/tag86.xml><?xml version="1.0" encoding="utf-8"?>
<p:tagLst xmlns:p="http://schemas.openxmlformats.org/presentationml/2006/main">
  <p:tag name="KSO_WM_DIAGRAM_VIRTUALLY_FRAME" val="{&quot;height&quot;:246.75,&quot;left&quot;:289.94464566929116,&quot;top&quot;:79.13724409448818,&quot;width&quot;:404.71236220472446}"/>
</p:tagLst>
</file>

<file path=ppt/tags/tag87.xml><?xml version="1.0" encoding="utf-8"?>
<p:tagLst xmlns:p="http://schemas.openxmlformats.org/presentationml/2006/main">
  <p:tag name="KSO_WM_DIAGRAM_VIRTUALLY_FRAME" val="{&quot;height&quot;:246.75,&quot;left&quot;:289.94464566929116,&quot;top&quot;:79.13724409448818,&quot;width&quot;:404.71236220472446}"/>
</p:tagLst>
</file>

<file path=ppt/tags/tag88.xml><?xml version="1.0" encoding="utf-8"?>
<p:tagLst xmlns:p="http://schemas.openxmlformats.org/presentationml/2006/main">
  <p:tag name="KSO_WM_DIAGRAM_VIRTUALLY_FRAME" val="{&quot;height&quot;:246.75,&quot;left&quot;:289.94464566929116,&quot;top&quot;:79.13724409448818,&quot;width&quot;:404.71236220472446}"/>
</p:tagLst>
</file>

<file path=ppt/tags/tag89.xml><?xml version="1.0" encoding="utf-8"?>
<p:tagLst xmlns:p="http://schemas.openxmlformats.org/presentationml/2006/main">
  <p:tag name="KSO_WM_DIAGRAM_VIRTUALLY_FRAME" val="{&quot;height&quot;:246.75,&quot;left&quot;:289.94464566929116,&quot;top&quot;:79.13724409448818,&quot;width&quot;:404.71236220472446}"/>
</p:tagLst>
</file>

<file path=ppt/tags/tag90.xml><?xml version="1.0" encoding="utf-8"?>
<p:tagLst xmlns:p="http://schemas.openxmlformats.org/presentationml/2006/main">
  <p:tag name="KSO_WM_DIAGRAM_VIRTUALLY_FRAME" val="{&quot;height&quot;:246.75,&quot;left&quot;:289.94464566929116,&quot;top&quot;:79.13724409448818,&quot;width&quot;:404.71236220472446}"/>
</p:tagLst>
</file>

<file path=ppt/tags/tag91.xml><?xml version="1.0" encoding="utf-8"?>
<p:tagLst xmlns:p="http://schemas.openxmlformats.org/presentationml/2006/main">
  <p:tag name="KSO_WM_DIAGRAM_VIRTUALLY_FRAME" val="{&quot;height&quot;:246.75,&quot;left&quot;:289.94464566929116,&quot;top&quot;:79.13724409448818,&quot;width&quot;:404.71236220472446}"/>
</p:tagLst>
</file>

<file path=ppt/tags/tag92.xml><?xml version="1.0" encoding="utf-8"?>
<p:tagLst xmlns:p="http://schemas.openxmlformats.org/presentationml/2006/main">
  <p:tag name="KSO_WM_DIAGRAM_VIRTUALLY_FRAME" val="{&quot;height&quot;:246.75,&quot;left&quot;:289.94464566929116,&quot;top&quot;:79.13724409448818,&quot;width&quot;:404.71236220472446}"/>
</p:tagLst>
</file>

<file path=ppt/tags/tag93.xml><?xml version="1.0" encoding="utf-8"?>
<p:tagLst xmlns:p="http://schemas.openxmlformats.org/presentationml/2006/main">
  <p:tag name="KSO_WM_DIAGRAM_VIRTUALLY_FRAME" val="{&quot;height&quot;:246.75,&quot;left&quot;:289.94464566929116,&quot;top&quot;:79.13724409448818,&quot;width&quot;:404.71236220472446}"/>
</p:tagLst>
</file>

<file path=ppt/tags/tag94.xml><?xml version="1.0" encoding="utf-8"?>
<p:tagLst xmlns:p="http://schemas.openxmlformats.org/presentationml/2006/main">
  <p:tag name="KSO_WM_DIAGRAM_VIRTUALLY_FRAME" val="{&quot;height&quot;:246.75,&quot;left&quot;:289.94464566929116,&quot;top&quot;:79.13724409448818,&quot;width&quot;:404.71236220472446}"/>
</p:tagLst>
</file>

<file path=ppt/tags/tag95.xml><?xml version="1.0" encoding="utf-8"?>
<p:tagLst xmlns:p="http://schemas.openxmlformats.org/presentationml/2006/main">
  <p:tag name="KSO_WM_DIAGRAM_VIRTUALLY_FRAME" val="{&quot;height&quot;:307.88929341963325,&quot;left&quot;:6.95,&quot;top&quot;:91.71070658036682,&quot;width&quot;:703.15}"/>
</p:tagLst>
</file>

<file path=ppt/tags/tag96.xml><?xml version="1.0" encoding="utf-8"?>
<p:tagLst xmlns:p="http://schemas.openxmlformats.org/presentationml/2006/main">
  <p:tag name="KSO_WM_DIAGRAM_VIRTUALLY_FRAME" val="{&quot;height&quot;:307.88929341963325,&quot;left&quot;:6.95,&quot;top&quot;:91.71070658036682,&quot;width&quot;:703.15}"/>
</p:tagLst>
</file>

<file path=ppt/tags/tag97.xml><?xml version="1.0" encoding="utf-8"?>
<p:tagLst xmlns:p="http://schemas.openxmlformats.org/presentationml/2006/main">
  <p:tag name="KSO_WM_DIAGRAM_VIRTUALLY_FRAME" val="{&quot;height&quot;:307.88929341963325,&quot;left&quot;:6.95,&quot;top&quot;:91.71070658036682,&quot;width&quot;:703.15}"/>
</p:tagLst>
</file>

<file path=ppt/tags/tag98.xml><?xml version="1.0" encoding="utf-8"?>
<p:tagLst xmlns:p="http://schemas.openxmlformats.org/presentationml/2006/main">
  <p:tag name="KSO_WM_DIAGRAM_VIRTUALLY_FRAME" val="{&quot;height&quot;:307.88929341963325,&quot;left&quot;:6.95,&quot;top&quot;:91.71070658036682,&quot;width&quot;:703.15}"/>
</p:tagLst>
</file>

<file path=ppt/tags/tag99.xml><?xml version="1.0" encoding="utf-8"?>
<p:tagLst xmlns:p="http://schemas.openxmlformats.org/presentationml/2006/main">
  <p:tag name="KSO_WM_DIAGRAM_VIRTUALLY_FRAME" val="{&quot;height&quot;:307.88929341963325,&quot;left&quot;:6.95,&quot;top&quot;:91.71070658036682,&quot;width&quot;:703.15}"/>
</p:tagLst>
</file>

<file path=ppt/tags/tag100.xml><?xml version="1.0" encoding="utf-8"?>
<p:tagLst xmlns:p="http://schemas.openxmlformats.org/presentationml/2006/main">
  <p:tag name="KSO_WM_DIAGRAM_VIRTUALLY_FRAME" val="{&quot;height&quot;:307.88929341963325,&quot;left&quot;:6.95,&quot;top&quot;:91.71070658036682,&quot;width&quot;:703.15}"/>
</p:tagLst>
</file>

<file path=ppt/tags/tag101.xml><?xml version="1.0" encoding="utf-8"?>
<p:tagLst xmlns:p="http://schemas.openxmlformats.org/presentationml/2006/main">
  <p:tag name="KSO_WM_DIAGRAM_VIRTUALLY_FRAME" val="{&quot;height&quot;:307.88929341963325,&quot;left&quot;:6.95,&quot;top&quot;:91.71070658036682,&quot;width&quot;:703.15}"/>
</p:tagLst>
</file>

<file path=ppt/tags/tag102.xml><?xml version="1.0" encoding="utf-8"?>
<p:tagLst xmlns:p="http://schemas.openxmlformats.org/presentationml/2006/main">
  <p:tag name="KSO_WM_DIAGRAM_VIRTUALLY_FRAME" val="{&quot;height&quot;:307.88929341963325,&quot;left&quot;:6.95,&quot;top&quot;:91.71070658036682,&quot;width&quot;:703.15}"/>
</p:tagLst>
</file>

<file path=ppt/tags/tag103.xml><?xml version="1.0" encoding="utf-8"?>
<p:tagLst xmlns:p="http://schemas.openxmlformats.org/presentationml/2006/main">
  <p:tag name="KSO_WM_DIAGRAM_VIRTUALLY_FRAME" val="{&quot;height&quot;:307.88929341963325,&quot;left&quot;:6.95,&quot;top&quot;:91.71070658036682,&quot;width&quot;:703.15}"/>
</p:tagLst>
</file>

<file path=ppt/tags/tag104.xml><?xml version="1.0" encoding="utf-8"?>
<p:tagLst xmlns:p="http://schemas.openxmlformats.org/presentationml/2006/main">
  <p:tag name="KSO_WM_DIAGRAM_VIRTUALLY_FRAME" val="{&quot;height&quot;:307.88929341963325,&quot;left&quot;:6.95,&quot;top&quot;:91.71070658036682,&quot;width&quot;:703.15}"/>
</p:tagLst>
</file>

<file path=ppt/tags/tag105.xml><?xml version="1.0" encoding="utf-8"?>
<p:tagLst xmlns:p="http://schemas.openxmlformats.org/presentationml/2006/main">
  <p:tag name="KSO_WM_DIAGRAM_VIRTUALLY_FRAME" val="{&quot;height&quot;:301.6,&quot;left&quot;:21.55,&quot;top&quot;:90.35,&quot;width&quot;:675.5}"/>
</p:tagLst>
</file>

<file path=ppt/tags/tag106.xml><?xml version="1.0" encoding="utf-8"?>
<p:tagLst xmlns:p="http://schemas.openxmlformats.org/presentationml/2006/main">
  <p:tag name="KSO_WM_DIAGRAM_VIRTUALLY_FRAME" val="{&quot;height&quot;:301.6,&quot;left&quot;:21.55,&quot;top&quot;:90.35,&quot;width&quot;:675.5}"/>
</p:tagLst>
</file>

<file path=ppt/tags/tag107.xml><?xml version="1.0" encoding="utf-8"?>
<p:tagLst xmlns:p="http://schemas.openxmlformats.org/presentationml/2006/main">
  <p:tag name="KSO_WM_DIAGRAM_VIRTUALLY_FRAME" val="{&quot;height&quot;:301.6,&quot;left&quot;:21.55,&quot;top&quot;:90.35,&quot;width&quot;:675.5}"/>
</p:tagLst>
</file>

<file path=ppt/tags/tag108.xml><?xml version="1.0" encoding="utf-8"?>
<p:tagLst xmlns:p="http://schemas.openxmlformats.org/presentationml/2006/main">
  <p:tag name="KSO_WM_DIAGRAM_VIRTUALLY_FRAME" val="{&quot;height&quot;:301.6,&quot;left&quot;:21.55,&quot;top&quot;:90.35,&quot;width&quot;:675.5}"/>
</p:tagLst>
</file>

<file path=ppt/tags/tag109.xml><?xml version="1.0" encoding="utf-8"?>
<p:tagLst xmlns:p="http://schemas.openxmlformats.org/presentationml/2006/main">
  <p:tag name="KSO_WM_DIAGRAM_VIRTUALLY_FRAME" val="{&quot;height&quot;:301.6,&quot;left&quot;:21.55,&quot;top&quot;:90.35,&quot;width&quot;:675.5}"/>
</p:tagLst>
</file>

<file path=ppt/tags/tag110.xml><?xml version="1.0" encoding="utf-8"?>
<p:tagLst xmlns:p="http://schemas.openxmlformats.org/presentationml/2006/main">
  <p:tag name="KSO_WM_DIAGRAM_VIRTUALLY_FRAME" val="{&quot;height&quot;:301.6,&quot;left&quot;:21.55,&quot;top&quot;:90.35,&quot;width&quot;:675.5}"/>
</p:tagLst>
</file>

<file path=ppt/tags/tag111.xml><?xml version="1.0" encoding="utf-8"?>
<p:tagLst xmlns:p="http://schemas.openxmlformats.org/presentationml/2006/main">
  <p:tag name="KSO_WM_DIAGRAM_VIRTUALLY_FRAME" val="{&quot;height&quot;:301.6,&quot;left&quot;:21.55,&quot;top&quot;:90.35,&quot;width&quot;:675.5}"/>
</p:tagLst>
</file>

<file path=ppt/tags/tag112.xml><?xml version="1.0" encoding="utf-8"?>
<p:tagLst xmlns:p="http://schemas.openxmlformats.org/presentationml/2006/main">
  <p:tag name="KSO_WM_DIAGRAM_VIRTUALLY_FRAME" val="{&quot;height&quot;:301.6,&quot;left&quot;:21.55,&quot;top&quot;:90.35,&quot;width&quot;:675.5}"/>
</p:tagLst>
</file>

<file path=ppt/tags/tag113.xml><?xml version="1.0" encoding="utf-8"?>
<p:tagLst xmlns:p="http://schemas.openxmlformats.org/presentationml/2006/main">
  <p:tag name="KSO_WM_DIAGRAM_VIRTUALLY_FRAME" val="{&quot;height&quot;:301.6,&quot;left&quot;:21.55,&quot;top&quot;:90.35,&quot;width&quot;:675.5}"/>
</p:tagLst>
</file>

<file path=ppt/tags/tag114.xml><?xml version="1.0" encoding="utf-8"?>
<p:tagLst xmlns:p="http://schemas.openxmlformats.org/presentationml/2006/main">
  <p:tag name="KSO_WM_DIAGRAM_VIRTUALLY_FRAME" val="{&quot;height&quot;:301.6,&quot;left&quot;:21.55,&quot;top&quot;:90.35,&quot;width&quot;:675.5}"/>
</p:tagLst>
</file>

<file path=ppt/tags/tag115.xml><?xml version="1.0" encoding="utf-8"?>
<p:tagLst xmlns:p="http://schemas.openxmlformats.org/presentationml/2006/main">
  <p:tag name="KSO_WM_DIAGRAM_VIRTUALLY_FRAME" val="{&quot;height&quot;:293.2,&quot;left&quot;:14.9,&quot;top&quot;:99.65,&quot;width&quot;:694.3}"/>
</p:tagLst>
</file>

<file path=ppt/tags/tag116.xml><?xml version="1.0" encoding="utf-8"?>
<p:tagLst xmlns:p="http://schemas.openxmlformats.org/presentationml/2006/main">
  <p:tag name="KSO_WM_DIAGRAM_VIRTUALLY_FRAME" val="{&quot;height&quot;:293.2,&quot;left&quot;:14.9,&quot;top&quot;:99.65,&quot;width&quot;:694.3}"/>
</p:tagLst>
</file>

<file path=ppt/tags/tag117.xml><?xml version="1.0" encoding="utf-8"?>
<p:tagLst xmlns:p="http://schemas.openxmlformats.org/presentationml/2006/main">
  <p:tag name="KSO_WM_DIAGRAM_VIRTUALLY_FRAME" val="{&quot;height&quot;:293.2,&quot;left&quot;:14.9,&quot;top&quot;:99.65,&quot;width&quot;:694.3}"/>
</p:tagLst>
</file>

<file path=ppt/tags/tag118.xml><?xml version="1.0" encoding="utf-8"?>
<p:tagLst xmlns:p="http://schemas.openxmlformats.org/presentationml/2006/main">
  <p:tag name="KSO_WM_DIAGRAM_VIRTUALLY_FRAME" val="{&quot;height&quot;:293.2,&quot;left&quot;:14.9,&quot;top&quot;:99.65,&quot;width&quot;:694.3}"/>
</p:tagLst>
</file>

<file path=ppt/tags/tag119.xml><?xml version="1.0" encoding="utf-8"?>
<p:tagLst xmlns:p="http://schemas.openxmlformats.org/presentationml/2006/main">
  <p:tag name="KSO_WM_DIAGRAM_VIRTUALLY_FRAME" val="{&quot;height&quot;:293.2,&quot;left&quot;:14.9,&quot;top&quot;:99.65,&quot;width&quot;:694.3}"/>
</p:tagLst>
</file>

<file path=ppt/tags/tag120.xml><?xml version="1.0" encoding="utf-8"?>
<p:tagLst xmlns:p="http://schemas.openxmlformats.org/presentationml/2006/main">
  <p:tag name="KSO_WM_DIAGRAM_VIRTUALLY_FRAME" val="{&quot;height&quot;:293.2,&quot;left&quot;:14.9,&quot;top&quot;:99.65,&quot;width&quot;:694.3}"/>
</p:tagLst>
</file>

<file path=ppt/tags/tag121.xml><?xml version="1.0" encoding="utf-8"?>
<p:tagLst xmlns:p="http://schemas.openxmlformats.org/presentationml/2006/main">
  <p:tag name="KSO_WM_DIAGRAM_VIRTUALLY_FRAME" val="{&quot;height&quot;:293.2,&quot;left&quot;:14.9,&quot;top&quot;:99.65,&quot;width&quot;:694.3}"/>
</p:tagLst>
</file>

<file path=ppt/tags/tag122.xml><?xml version="1.0" encoding="utf-8"?>
<p:tagLst xmlns:p="http://schemas.openxmlformats.org/presentationml/2006/main">
  <p:tag name="KSO_WM_DIAGRAM_VIRTUALLY_FRAME" val="{&quot;height&quot;:293.2,&quot;left&quot;:14.9,&quot;top&quot;:99.65,&quot;width&quot;:694.3}"/>
</p:tagLst>
</file>

<file path=ppt/tags/tag123.xml><?xml version="1.0" encoding="utf-8"?>
<p:tagLst xmlns:p="http://schemas.openxmlformats.org/presentationml/2006/main">
  <p:tag name="KSO_WM_DIAGRAM_VIRTUALLY_FRAME" val="{&quot;height&quot;:293.2,&quot;left&quot;:14.9,&quot;top&quot;:99.65,&quot;width&quot;:694.3}"/>
</p:tagLst>
</file>

<file path=ppt/tags/tag124.xml><?xml version="1.0" encoding="utf-8"?>
<p:tagLst xmlns:p="http://schemas.openxmlformats.org/presentationml/2006/main">
  <p:tag name="KSO_WM_DIAGRAM_VIRTUALLY_FRAME" val="{&quot;height&quot;:293.2,&quot;left&quot;:14.9,&quot;top&quot;:99.65,&quot;width&quot;:694.3}"/>
</p:tagLst>
</file>

<file path=ppt/tags/tag125.xml><?xml version="1.0" encoding="utf-8"?>
<p:tagLst xmlns:p="http://schemas.openxmlformats.org/presentationml/2006/main">
  <p:tag name="KSO_WM_DIAGRAM_VIRTUALLY_FRAME" val="{&quot;height&quot;:246.75,&quot;left&quot;:289.94464566929116,&quot;top&quot;:79.13724409448818,&quot;width&quot;:404.71236220472446}"/>
</p:tagLst>
</file>

<file path=ppt/tags/tag126.xml><?xml version="1.0" encoding="utf-8"?>
<p:tagLst xmlns:p="http://schemas.openxmlformats.org/presentationml/2006/main">
  <p:tag name="KSO_WM_DIAGRAM_VIRTUALLY_FRAME" val="{&quot;height&quot;:246.75,&quot;left&quot;:289.94464566929116,&quot;top&quot;:79.13724409448818,&quot;width&quot;:404.71236220472446}"/>
</p:tagLst>
</file>

<file path=ppt/tags/tag127.xml><?xml version="1.0" encoding="utf-8"?>
<p:tagLst xmlns:p="http://schemas.openxmlformats.org/presentationml/2006/main">
  <p:tag name="KSO_WM_DIAGRAM_VIRTUALLY_FRAME" val="{&quot;height&quot;:246.75,&quot;left&quot;:289.94464566929116,&quot;top&quot;:79.13724409448818,&quot;width&quot;:404.71236220472446}"/>
</p:tagLst>
</file>

<file path=ppt/tags/tag128.xml><?xml version="1.0" encoding="utf-8"?>
<p:tagLst xmlns:p="http://schemas.openxmlformats.org/presentationml/2006/main">
  <p:tag name="KSO_WM_DIAGRAM_VIRTUALLY_FRAME" val="{&quot;height&quot;:246.75,&quot;left&quot;:289.94464566929116,&quot;top&quot;:79.13724409448818,&quot;width&quot;:404.71236220472446}"/>
</p:tagLst>
</file>

<file path=ppt/tags/tag129.xml><?xml version="1.0" encoding="utf-8"?>
<p:tagLst xmlns:p="http://schemas.openxmlformats.org/presentationml/2006/main">
  <p:tag name="KSO_WM_DIAGRAM_VIRTUALLY_FRAME" val="{&quot;height&quot;:246.75,&quot;left&quot;:289.94464566929116,&quot;top&quot;:79.13724409448818,&quot;width&quot;:404.71236220472446}"/>
</p:tagLst>
</file>

<file path=ppt/tags/tag130.xml><?xml version="1.0" encoding="utf-8"?>
<p:tagLst xmlns:p="http://schemas.openxmlformats.org/presentationml/2006/main">
  <p:tag name="KSO_WM_DIAGRAM_VIRTUALLY_FRAME" val="{&quot;height&quot;:246.75,&quot;left&quot;:289.94464566929116,&quot;top&quot;:79.13724409448818,&quot;width&quot;:404.71236220472446}"/>
</p:tagLst>
</file>

<file path=ppt/tags/tag131.xml><?xml version="1.0" encoding="utf-8"?>
<p:tagLst xmlns:p="http://schemas.openxmlformats.org/presentationml/2006/main">
  <p:tag name="KSO_WM_DIAGRAM_VIRTUALLY_FRAME" val="{&quot;height&quot;:246.75,&quot;left&quot;:289.94464566929116,&quot;top&quot;:79.13724409448818,&quot;width&quot;:404.71236220472446}"/>
</p:tagLst>
</file>

<file path=ppt/tags/tag132.xml><?xml version="1.0" encoding="utf-8"?>
<p:tagLst xmlns:p="http://schemas.openxmlformats.org/presentationml/2006/main">
  <p:tag name="KSO_WM_DIAGRAM_VIRTUALLY_FRAME" val="{&quot;height&quot;:246.75,&quot;left&quot;:289.94464566929116,&quot;top&quot;:79.13724409448818,&quot;width&quot;:404.71236220472446}"/>
</p:tagLst>
</file>

<file path=ppt/tags/tag133.xml><?xml version="1.0" encoding="utf-8"?>
<p:tagLst xmlns:p="http://schemas.openxmlformats.org/presentationml/2006/main">
  <p:tag name="KSO_WM_DIAGRAM_VIRTUALLY_FRAME" val="{&quot;height&quot;:246.75,&quot;left&quot;:289.94464566929116,&quot;top&quot;:79.13724409448818,&quot;width&quot;:404.71236220472446}"/>
</p:tagLst>
</file>

<file path=ppt/tags/tag134.xml><?xml version="1.0" encoding="utf-8"?>
<p:tagLst xmlns:p="http://schemas.openxmlformats.org/presentationml/2006/main">
  <p:tag name="KSO_WM_DIAGRAM_VIRTUALLY_FRAME" val="{&quot;height&quot;:246.75,&quot;left&quot;:289.94464566929116,&quot;top&quot;:79.13724409448818,&quot;width&quot;:404.71236220472446}"/>
</p:tagLst>
</file>

<file path=ppt/tags/tag135.xml><?xml version="1.0" encoding="utf-8"?>
<p:tagLst xmlns:p="http://schemas.openxmlformats.org/presentationml/2006/main">
  <p:tag name="KSO_WM_DIAGRAM_VIRTUALLY_FRAME" val="{&quot;height&quot;:246.75,&quot;left&quot;:289.94464566929116,&quot;top&quot;:79.13724409448818,&quot;width&quot;:404.71236220472446}"/>
</p:tagLst>
</file>

<file path=ppt/tags/tag136.xml><?xml version="1.0" encoding="utf-8"?>
<p:tagLst xmlns:p="http://schemas.openxmlformats.org/presentationml/2006/main">
  <p:tag name="KSO_WM_DIAGRAM_VIRTUALLY_FRAME" val="{&quot;height&quot;:246.75,&quot;left&quot;:289.94464566929116,&quot;top&quot;:79.13724409448818,&quot;width&quot;:404.71236220472446}"/>
</p:tagLst>
</file>

<file path=ppt/tags/tag137.xml><?xml version="1.0" encoding="utf-8"?>
<p:tagLst xmlns:p="http://schemas.openxmlformats.org/presentationml/2006/main">
  <p:tag name="KSO_WM_DIAGRAM_VIRTUALLY_FRAME" val="{&quot;height&quot;:246.75,&quot;left&quot;:289.94464566929116,&quot;top&quot;:79.13724409448818,&quot;width&quot;:404.71236220472446}"/>
</p:tagLst>
</file>

<file path=ppt/tags/tag138.xml><?xml version="1.0" encoding="utf-8"?>
<p:tagLst xmlns:p="http://schemas.openxmlformats.org/presentationml/2006/main">
  <p:tag name="KSO_WM_DIAGRAM_VIRTUALLY_FRAME" val="{&quot;height&quot;:246.75,&quot;left&quot;:289.94464566929116,&quot;top&quot;:79.13724409448818,&quot;width&quot;:404.71236220472446}"/>
</p:tagLst>
</file>

<file path=ppt/tags/tag139.xml><?xml version="1.0" encoding="utf-8"?>
<p:tagLst xmlns:p="http://schemas.openxmlformats.org/presentationml/2006/main">
  <p:tag name="KSO_WM_DIAGRAM_VIRTUALLY_FRAME" val="{&quot;height&quot;:246.75,&quot;left&quot;:289.94464566929116,&quot;top&quot;:79.13724409448818,&quot;width&quot;:404.71236220472446}"/>
</p:tagLst>
</file>

<file path=ppt/tags/tag140.xml><?xml version="1.0" encoding="utf-8"?>
<p:tagLst xmlns:p="http://schemas.openxmlformats.org/presentationml/2006/main">
  <p:tag name="KSO_WM_DIAGRAM_VIRTUALLY_FRAME" val="{&quot;height&quot;:246.75,&quot;left&quot;:289.94464566929116,&quot;top&quot;:79.13724409448818,&quot;width&quot;:404.71236220472446}"/>
</p:tagLst>
</file>

<file path=ppt/tags/tag141.xml><?xml version="1.0" encoding="utf-8"?>
<p:tagLst xmlns:p="http://schemas.openxmlformats.org/presentationml/2006/main">
  <p:tag name="KSO_WM_DIAGRAM_VIRTUALLY_FRAME" val="{&quot;height&quot;:246.75,&quot;left&quot;:289.94464566929116,&quot;top&quot;:79.13724409448818,&quot;width&quot;:404.71236220472446}"/>
</p:tagLst>
</file>

<file path=ppt/tags/tag142.xml><?xml version="1.0" encoding="utf-8"?>
<p:tagLst xmlns:p="http://schemas.openxmlformats.org/presentationml/2006/main">
  <p:tag name="KSO_WM_DIAGRAM_VIRTUALLY_FRAME" val="{&quot;height&quot;:246.75,&quot;left&quot;:289.94464566929116,&quot;top&quot;:79.13724409448818,&quot;width&quot;:404.71236220472446}"/>
</p:tagLst>
</file>

<file path=ppt/tags/tag143.xml><?xml version="1.0" encoding="utf-8"?>
<p:tagLst xmlns:p="http://schemas.openxmlformats.org/presentationml/2006/main">
  <p:tag name="KSO_WM_DIAGRAM_VIRTUALLY_FRAME" val="{&quot;height&quot;:246.75,&quot;left&quot;:289.94464566929116,&quot;top&quot;:79.13724409448818,&quot;width&quot;:404.71236220472446}"/>
</p:tagLst>
</file>

<file path=ppt/tags/tag144.xml><?xml version="1.0" encoding="utf-8"?>
<p:tagLst xmlns:p="http://schemas.openxmlformats.org/presentationml/2006/main">
  <p:tag name="KSO_WM_DIAGRAM_VIRTUALLY_FRAME" val="{&quot;height&quot;:358.5565217391304,&quot;left&quot;:44.9,&quot;top&quot;:85.74999999999997,&quot;width&quot;:599.5}"/>
</p:tagLst>
</file>

<file path=ppt/tags/tag145.xml><?xml version="1.0" encoding="utf-8"?>
<p:tagLst xmlns:p="http://schemas.openxmlformats.org/presentationml/2006/main">
  <p:tag name="KSO_WM_DIAGRAM_VIRTUALLY_FRAME" val="{&quot;height&quot;:358.5565217391304,&quot;left&quot;:44.9,&quot;top&quot;:85.74999999999997,&quot;width&quot;:599.5}"/>
</p:tagLst>
</file>

<file path=ppt/tags/tag146.xml><?xml version="1.0" encoding="utf-8"?>
<p:tagLst xmlns:p="http://schemas.openxmlformats.org/presentationml/2006/main">
  <p:tag name="KSO_WM_DIAGRAM_VIRTUALLY_FRAME" val="{&quot;height&quot;:358.5565217391304,&quot;left&quot;:44.9,&quot;top&quot;:85.74999999999997,&quot;width&quot;:599.5}"/>
</p:tagLst>
</file>

<file path=ppt/tags/tag147.xml><?xml version="1.0" encoding="utf-8"?>
<p:tagLst xmlns:p="http://schemas.openxmlformats.org/presentationml/2006/main">
  <p:tag name="KSO_WM_DIAGRAM_VIRTUALLY_FRAME" val="{&quot;height&quot;:358.5565217391304,&quot;left&quot;:44.9,&quot;top&quot;:85.74999999999997,&quot;width&quot;:599.5}"/>
</p:tagLst>
</file>

<file path=ppt/tags/tag148.xml><?xml version="1.0" encoding="utf-8"?>
<p:tagLst xmlns:p="http://schemas.openxmlformats.org/presentationml/2006/main">
  <p:tag name="KSO_WM_DIAGRAM_VIRTUALLY_FRAME" val="{&quot;height&quot;:358.5565217391304,&quot;left&quot;:44.9,&quot;top&quot;:85.74999999999997,&quot;width&quot;:599.5}"/>
</p:tagLst>
</file>

<file path=ppt/tags/tag149.xml><?xml version="1.0" encoding="utf-8"?>
<p:tagLst xmlns:p="http://schemas.openxmlformats.org/presentationml/2006/main">
  <p:tag name="KSO_WM_DIAGRAM_VIRTUALLY_FRAME" val="{&quot;height&quot;:358.5565217391304,&quot;left&quot;:44.9,&quot;top&quot;:85.74999999999997,&quot;width&quot;:599.5}"/>
</p:tagLst>
</file>

<file path=ppt/tags/tag150.xml><?xml version="1.0" encoding="utf-8"?>
<p:tagLst xmlns:p="http://schemas.openxmlformats.org/presentationml/2006/main">
  <p:tag name="KSO_WM_DIAGRAM_VIRTUALLY_FRAME" val="{&quot;height&quot;:358.5565217391304,&quot;left&quot;:44.9,&quot;top&quot;:85.74999999999997,&quot;width&quot;:599.5}"/>
</p:tagLst>
</file>

<file path=ppt/tags/tag151.xml><?xml version="1.0" encoding="utf-8"?>
<p:tagLst xmlns:p="http://schemas.openxmlformats.org/presentationml/2006/main">
  <p:tag name="KSO_WM_DIAGRAM_VIRTUALLY_FRAME" val="{&quot;height&quot;:358.5565217391304,&quot;left&quot;:44.9,&quot;top&quot;:85.74999999999997,&quot;width&quot;:599.5}"/>
</p:tagLst>
</file>

<file path=ppt/tags/tag152.xml><?xml version="1.0" encoding="utf-8"?>
<p:tagLst xmlns:p="http://schemas.openxmlformats.org/presentationml/2006/main">
  <p:tag name="KSO_WM_DIAGRAM_VIRTUALLY_FRAME" val="{&quot;height&quot;:358.5565217391304,&quot;left&quot;:44.9,&quot;top&quot;:85.74999999999997,&quot;width&quot;:599.5}"/>
</p:tagLst>
</file>

<file path=ppt/tags/tag153.xml><?xml version="1.0" encoding="utf-8"?>
<p:tagLst xmlns:p="http://schemas.openxmlformats.org/presentationml/2006/main">
  <p:tag name="KSO_WM_DIAGRAM_VIRTUALLY_FRAME" val="{&quot;height&quot;:358.5565217391304,&quot;left&quot;:44.9,&quot;top&quot;:85.74999999999997,&quot;width&quot;:599.5}"/>
</p:tagLst>
</file>

<file path=ppt/tags/tag154.xml><?xml version="1.0" encoding="utf-8"?>
<p:tagLst xmlns:p="http://schemas.openxmlformats.org/presentationml/2006/main">
  <p:tag name="KSO_WM_DIAGRAM_VIRTUALLY_FRAME" val="{&quot;height&quot;:358.5565217391304,&quot;left&quot;:44.9,&quot;top&quot;:85.74999999999997,&quot;width&quot;:599.5}"/>
</p:tagLst>
</file>

<file path=ppt/tags/tag155.xml><?xml version="1.0" encoding="utf-8"?>
<p:tagLst xmlns:p="http://schemas.openxmlformats.org/presentationml/2006/main">
  <p:tag name="KSO_WM_DIAGRAM_VIRTUALLY_FRAME" val="{&quot;height&quot;:358.5565217391304,&quot;left&quot;:44.9,&quot;top&quot;:85.74999999999997,&quot;width&quot;:599.5}"/>
</p:tagLst>
</file>

<file path=ppt/tags/tag156.xml><?xml version="1.0" encoding="utf-8"?>
<p:tagLst xmlns:p="http://schemas.openxmlformats.org/presentationml/2006/main">
  <p:tag name="KSO_WM_DIAGRAM_VIRTUALLY_FRAME" val="{&quot;height&quot;:358.5565217391304,&quot;left&quot;:44.9,&quot;top&quot;:85.74999999999997,&quot;width&quot;:599.5}"/>
</p:tagLst>
</file>

<file path=ppt/tags/tag157.xml><?xml version="1.0" encoding="utf-8"?>
<p:tagLst xmlns:p="http://schemas.openxmlformats.org/presentationml/2006/main">
  <p:tag name="KSO_WM_DIAGRAM_VIRTUALLY_FRAME" val="{&quot;height&quot;:337.9581208698787,&quot;left&quot;:68.85,&quot;top&quot;:82.1999999999999,&quot;width&quot;:600.3}"/>
</p:tagLst>
</file>

<file path=ppt/tags/tag158.xml><?xml version="1.0" encoding="utf-8"?>
<p:tagLst xmlns:p="http://schemas.openxmlformats.org/presentationml/2006/main">
  <p:tag name="KSO_WM_DIAGRAM_VIRTUALLY_FRAME" val="{&quot;height&quot;:337.9581208698787,&quot;left&quot;:68.85,&quot;top&quot;:82.1999999999999,&quot;width&quot;:600.3}"/>
</p:tagLst>
</file>

<file path=ppt/tags/tag159.xml><?xml version="1.0" encoding="utf-8"?>
<p:tagLst xmlns:p="http://schemas.openxmlformats.org/presentationml/2006/main">
  <p:tag name="KSO_WM_DIAGRAM_VIRTUALLY_FRAME" val="{&quot;height&quot;:337.9581208698787,&quot;left&quot;:68.85,&quot;top&quot;:82.1999999999999,&quot;width&quot;:600.3}"/>
</p:tagLst>
</file>

<file path=ppt/tags/tag160.xml><?xml version="1.0" encoding="utf-8"?>
<p:tagLst xmlns:p="http://schemas.openxmlformats.org/presentationml/2006/main">
  <p:tag name="KSO_WM_DIAGRAM_VIRTUALLY_FRAME" val="{&quot;height&quot;:337.9581208698787,&quot;left&quot;:68.85,&quot;top&quot;:82.1999999999999,&quot;width&quot;:600.3}"/>
</p:tagLst>
</file>

<file path=ppt/tags/tag161.xml><?xml version="1.0" encoding="utf-8"?>
<p:tagLst xmlns:p="http://schemas.openxmlformats.org/presentationml/2006/main">
  <p:tag name="KSO_WM_DIAGRAM_VIRTUALLY_FRAME" val="{&quot;height&quot;:337.9581208698787,&quot;left&quot;:68.85,&quot;top&quot;:82.1999999999999,&quot;width&quot;:600.3}"/>
</p:tagLst>
</file>

<file path=ppt/tags/tag162.xml><?xml version="1.0" encoding="utf-8"?>
<p:tagLst xmlns:p="http://schemas.openxmlformats.org/presentationml/2006/main">
  <p:tag name="KSO_WM_DIAGRAM_VIRTUALLY_FRAME" val="{&quot;height&quot;:337.9581208698787,&quot;left&quot;:68.85,&quot;top&quot;:82.1999999999999,&quot;width&quot;:600.3}"/>
</p:tagLst>
</file>

<file path=ppt/tags/tag163.xml><?xml version="1.0" encoding="utf-8"?>
<p:tagLst xmlns:p="http://schemas.openxmlformats.org/presentationml/2006/main">
  <p:tag name="KSO_WM_DIAGRAM_VIRTUALLY_FRAME" val="{&quot;height&quot;:337.9581208698787,&quot;left&quot;:68.85,&quot;top&quot;:82.1999999999999,&quot;width&quot;:600.3}"/>
</p:tagLst>
</file>

<file path=ppt/tags/tag164.xml><?xml version="1.0" encoding="utf-8"?>
<p:tagLst xmlns:p="http://schemas.openxmlformats.org/presentationml/2006/main">
  <p:tag name="KSO_WM_DIAGRAM_VIRTUALLY_FRAME" val="{&quot;height&quot;:337.9581208698787,&quot;left&quot;:68.85,&quot;top&quot;:82.1999999999999,&quot;width&quot;:600.3}"/>
</p:tagLst>
</file>

<file path=ppt/tags/tag165.xml><?xml version="1.0" encoding="utf-8"?>
<p:tagLst xmlns:p="http://schemas.openxmlformats.org/presentationml/2006/main">
  <p:tag name="KSO_WM_DIAGRAM_VIRTUALLY_FRAME" val="{&quot;height&quot;:337.9581208698787,&quot;left&quot;:68.85,&quot;top&quot;:82.1999999999999,&quot;width&quot;:600.3}"/>
</p:tagLst>
</file>

<file path=ppt/tags/tag166.xml><?xml version="1.0" encoding="utf-8"?>
<p:tagLst xmlns:p="http://schemas.openxmlformats.org/presentationml/2006/main">
  <p:tag name="KSO_WM_DIAGRAM_VIRTUALLY_FRAME" val="{&quot;height&quot;:337.9581208698787,&quot;left&quot;:68.85,&quot;top&quot;:82.1999999999999,&quot;width&quot;:600.3}"/>
</p:tagLst>
</file>

<file path=ppt/tags/tag167.xml><?xml version="1.0" encoding="utf-8"?>
<p:tagLst xmlns:p="http://schemas.openxmlformats.org/presentationml/2006/main">
  <p:tag name="KSO_WM_DIAGRAM_VIRTUALLY_FRAME" val="{&quot;height&quot;:337.9581208698787,&quot;left&quot;:68.85,&quot;top&quot;:82.1999999999999,&quot;width&quot;:600.3}"/>
</p:tagLst>
</file>

<file path=ppt/tags/tag168.xml><?xml version="1.0" encoding="utf-8"?>
<p:tagLst xmlns:p="http://schemas.openxmlformats.org/presentationml/2006/main">
  <p:tag name="KSO_WM_DIAGRAM_VIRTUALLY_FRAME" val="{&quot;height&quot;:246.75,&quot;left&quot;:289.94464566929116,&quot;top&quot;:79.13724409448818,&quot;width&quot;:404.71236220472446}"/>
</p:tagLst>
</file>

<file path=ppt/tags/tag169.xml><?xml version="1.0" encoding="utf-8"?>
<p:tagLst xmlns:p="http://schemas.openxmlformats.org/presentationml/2006/main">
  <p:tag name="KSO_WM_DIAGRAM_VIRTUALLY_FRAME" val="{&quot;height&quot;:246.75,&quot;left&quot;:289.94464566929116,&quot;top&quot;:79.13724409448818,&quot;width&quot;:404.71236220472446}"/>
</p:tagLst>
</file>

<file path=ppt/tags/tag170.xml><?xml version="1.0" encoding="utf-8"?>
<p:tagLst xmlns:p="http://schemas.openxmlformats.org/presentationml/2006/main">
  <p:tag name="KSO_WM_DIAGRAM_VIRTUALLY_FRAME" val="{&quot;height&quot;:246.75,&quot;left&quot;:289.94464566929116,&quot;top&quot;:79.13724409448818,&quot;width&quot;:404.71236220472446}"/>
</p:tagLst>
</file>

<file path=ppt/tags/tag171.xml><?xml version="1.0" encoding="utf-8"?>
<p:tagLst xmlns:p="http://schemas.openxmlformats.org/presentationml/2006/main">
  <p:tag name="KSO_WM_DIAGRAM_VIRTUALLY_FRAME" val="{&quot;height&quot;:246.75,&quot;left&quot;:289.94464566929116,&quot;top&quot;:79.13724409448818,&quot;width&quot;:404.71236220472446}"/>
</p:tagLst>
</file>

<file path=ppt/tags/tag172.xml><?xml version="1.0" encoding="utf-8"?>
<p:tagLst xmlns:p="http://schemas.openxmlformats.org/presentationml/2006/main">
  <p:tag name="KSO_WM_DIAGRAM_VIRTUALLY_FRAME" val="{&quot;height&quot;:246.75,&quot;left&quot;:289.94464566929116,&quot;top&quot;:79.13724409448818,&quot;width&quot;:404.71236220472446}"/>
</p:tagLst>
</file>

<file path=ppt/tags/tag173.xml><?xml version="1.0" encoding="utf-8"?>
<p:tagLst xmlns:p="http://schemas.openxmlformats.org/presentationml/2006/main">
  <p:tag name="KSO_WM_DIAGRAM_VIRTUALLY_FRAME" val="{&quot;height&quot;:246.75,&quot;left&quot;:289.94464566929116,&quot;top&quot;:79.13724409448818,&quot;width&quot;:404.71236220472446}"/>
</p:tagLst>
</file>

<file path=ppt/tags/tag174.xml><?xml version="1.0" encoding="utf-8"?>
<p:tagLst xmlns:p="http://schemas.openxmlformats.org/presentationml/2006/main">
  <p:tag name="KSO_WM_DIAGRAM_VIRTUALLY_FRAME" val="{&quot;height&quot;:246.75,&quot;left&quot;:289.94464566929116,&quot;top&quot;:79.13724409448818,&quot;width&quot;:404.71236220472446}"/>
</p:tagLst>
</file>

<file path=ppt/tags/tag175.xml><?xml version="1.0" encoding="utf-8"?>
<p:tagLst xmlns:p="http://schemas.openxmlformats.org/presentationml/2006/main">
  <p:tag name="KSO_WM_DIAGRAM_VIRTUALLY_FRAME" val="{&quot;height&quot;:246.75,&quot;left&quot;:289.94464566929116,&quot;top&quot;:79.13724409448818,&quot;width&quot;:404.71236220472446}"/>
</p:tagLst>
</file>

<file path=ppt/tags/tag176.xml><?xml version="1.0" encoding="utf-8"?>
<p:tagLst xmlns:p="http://schemas.openxmlformats.org/presentationml/2006/main">
  <p:tag name="KSO_WM_DIAGRAM_VIRTUALLY_FRAME" val="{&quot;height&quot;:246.75,&quot;left&quot;:289.94464566929116,&quot;top&quot;:79.13724409448818,&quot;width&quot;:404.71236220472446}"/>
</p:tagLst>
</file>

<file path=ppt/tags/tag177.xml><?xml version="1.0" encoding="utf-8"?>
<p:tagLst xmlns:p="http://schemas.openxmlformats.org/presentationml/2006/main">
  <p:tag name="KSO_WM_DIAGRAM_VIRTUALLY_FRAME" val="{&quot;height&quot;:246.75,&quot;left&quot;:289.94464566929116,&quot;top&quot;:79.13724409448818,&quot;width&quot;:404.71236220472446}"/>
</p:tagLst>
</file>

<file path=ppt/tags/tag178.xml><?xml version="1.0" encoding="utf-8"?>
<p:tagLst xmlns:p="http://schemas.openxmlformats.org/presentationml/2006/main">
  <p:tag name="KSO_WM_DIAGRAM_VIRTUALLY_FRAME" val="{&quot;height&quot;:246.75,&quot;left&quot;:289.94464566929116,&quot;top&quot;:79.13724409448818,&quot;width&quot;:404.71236220472446}"/>
</p:tagLst>
</file>

<file path=ppt/tags/tag179.xml><?xml version="1.0" encoding="utf-8"?>
<p:tagLst xmlns:p="http://schemas.openxmlformats.org/presentationml/2006/main">
  <p:tag name="KSO_WM_DIAGRAM_VIRTUALLY_FRAME" val="{&quot;height&quot;:246.75,&quot;left&quot;:289.94464566929116,&quot;top&quot;:79.13724409448818,&quot;width&quot;:404.71236220472446}"/>
</p:tagLst>
</file>

<file path=ppt/tags/tag180.xml><?xml version="1.0" encoding="utf-8"?>
<p:tagLst xmlns:p="http://schemas.openxmlformats.org/presentationml/2006/main">
  <p:tag name="KSO_WM_DIAGRAM_VIRTUALLY_FRAME" val="{&quot;height&quot;:246.75,&quot;left&quot;:289.94464566929116,&quot;top&quot;:79.13724409448818,&quot;width&quot;:404.71236220472446}"/>
</p:tagLst>
</file>

<file path=ppt/tags/tag181.xml><?xml version="1.0" encoding="utf-8"?>
<p:tagLst xmlns:p="http://schemas.openxmlformats.org/presentationml/2006/main">
  <p:tag name="KSO_WM_DIAGRAM_VIRTUALLY_FRAME" val="{&quot;height&quot;:246.75,&quot;left&quot;:289.94464566929116,&quot;top&quot;:79.13724409448818,&quot;width&quot;:404.71236220472446}"/>
</p:tagLst>
</file>

<file path=ppt/tags/tag182.xml><?xml version="1.0" encoding="utf-8"?>
<p:tagLst xmlns:p="http://schemas.openxmlformats.org/presentationml/2006/main">
  <p:tag name="KSO_WM_DIAGRAM_VIRTUALLY_FRAME" val="{&quot;height&quot;:246.75,&quot;left&quot;:289.94464566929116,&quot;top&quot;:79.13724409448818,&quot;width&quot;:404.71236220472446}"/>
</p:tagLst>
</file>

<file path=ppt/tags/tag183.xml><?xml version="1.0" encoding="utf-8"?>
<p:tagLst xmlns:p="http://schemas.openxmlformats.org/presentationml/2006/main">
  <p:tag name="KSO_WM_DIAGRAM_VIRTUALLY_FRAME" val="{&quot;height&quot;:246.75,&quot;left&quot;:289.94464566929116,&quot;top&quot;:79.13724409448818,&quot;width&quot;:404.71236220472446}"/>
</p:tagLst>
</file>

<file path=ppt/tags/tag184.xml><?xml version="1.0" encoding="utf-8"?>
<p:tagLst xmlns:p="http://schemas.openxmlformats.org/presentationml/2006/main">
  <p:tag name="KSO_WM_DIAGRAM_VIRTUALLY_FRAME" val="{&quot;height&quot;:246.75,&quot;left&quot;:289.94464566929116,&quot;top&quot;:79.13724409448818,&quot;width&quot;:404.71236220472446}"/>
</p:tagLst>
</file>

<file path=ppt/tags/tag185.xml><?xml version="1.0" encoding="utf-8"?>
<p:tagLst xmlns:p="http://schemas.openxmlformats.org/presentationml/2006/main">
  <p:tag name="KSO_WM_DIAGRAM_VIRTUALLY_FRAME" val="{&quot;height&quot;:246.75,&quot;left&quot;:289.94464566929116,&quot;top&quot;:79.13724409448818,&quot;width&quot;:404.71236220472446}"/>
</p:tagLst>
</file>

<file path=ppt/tags/tag186.xml><?xml version="1.0" encoding="utf-8"?>
<p:tagLst xmlns:p="http://schemas.openxmlformats.org/presentationml/2006/main">
  <p:tag name="KSO_WM_DIAGRAM_VIRTUALLY_FRAME" val="{&quot;height&quot;:246.75,&quot;left&quot;:289.94464566929116,&quot;top&quot;:79.13724409448818,&quot;width&quot;:404.71236220472446}"/>
</p:tagLst>
</file>

<file path=ppt/tags/tag187.xml><?xml version="1.0" encoding="utf-8"?>
<p:tagLst xmlns:p="http://schemas.openxmlformats.org/presentationml/2006/main">
  <p:tag name="COMMONDATA" val="eyJoZGlkIjoiYjIyOGQ1NmI4OTk0MzJkN2RmZDRjNzZkZTI3ZGY3ZmMifQ=="/>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10018</Words>
  <Application>WPS 演示</Application>
  <PresentationFormat>全屏显示(16:9)</PresentationFormat>
  <Paragraphs>1071</Paragraphs>
  <Slides>39</Slides>
  <Notes>26</Notes>
  <HiddenSlides>0</HiddenSlides>
  <MMClips>0</MMClips>
  <ScaleCrop>false</ScaleCrop>
  <HeadingPairs>
    <vt:vector size="8" baseType="variant">
      <vt:variant>
        <vt:lpstr>已用的字体</vt:lpstr>
      </vt:variant>
      <vt:variant>
        <vt:i4>28</vt:i4>
      </vt:variant>
      <vt:variant>
        <vt:lpstr>主题</vt:lpstr>
      </vt:variant>
      <vt:variant>
        <vt:i4>1</vt:i4>
      </vt:variant>
      <vt:variant>
        <vt:lpstr>嵌入 OLE 服务器</vt:lpstr>
      </vt:variant>
      <vt:variant>
        <vt:i4>5</vt:i4>
      </vt:variant>
      <vt:variant>
        <vt:lpstr>幻灯片标题</vt:lpstr>
      </vt:variant>
      <vt:variant>
        <vt:i4>39</vt:i4>
      </vt:variant>
    </vt:vector>
  </HeadingPairs>
  <TitlesOfParts>
    <vt:vector size="73" baseType="lpstr">
      <vt:lpstr>Arial</vt:lpstr>
      <vt:lpstr>宋体</vt:lpstr>
      <vt:lpstr>Wingdings</vt:lpstr>
      <vt:lpstr>Calibri</vt:lpstr>
      <vt:lpstr>等线</vt:lpstr>
      <vt:lpstr>Calibri Light</vt:lpstr>
      <vt:lpstr>等线 Light</vt:lpstr>
      <vt:lpstr>楷体_GB2312</vt:lpstr>
      <vt:lpstr>新宋体</vt:lpstr>
      <vt:lpstr>微软雅黑</vt:lpstr>
      <vt:lpstr>Times New Roman</vt:lpstr>
      <vt:lpstr>黑体</vt:lpstr>
      <vt:lpstr>Arial Black</vt:lpstr>
      <vt:lpstr>Inter</vt:lpstr>
      <vt:lpstr>Segoe Print</vt:lpstr>
      <vt:lpstr>quote-cjk-patch</vt:lpstr>
      <vt:lpstr>Wingdings</vt:lpstr>
      <vt:lpstr>Arial Unicode MS</vt:lpstr>
      <vt:lpstr>华文仿宋</vt:lpstr>
      <vt:lpstr>微软雅黑 Light</vt:lpstr>
      <vt:lpstr>微软雅黑</vt:lpstr>
      <vt:lpstr>Arial</vt:lpstr>
      <vt:lpstr>Cambria Math</vt:lpstr>
      <vt:lpstr>Cambria Math</vt:lpstr>
      <vt:lpstr>Cambria Math</vt:lpstr>
      <vt:lpstr>Arial</vt:lpstr>
      <vt:lpstr>Arial</vt:lpstr>
      <vt:lpstr>MS Mincho</vt:lpstr>
      <vt:lpstr>Office Theme</vt:lpstr>
      <vt:lpstr>Visio.Drawing.15</vt:lpstr>
      <vt:lpstr>Visio.Drawing.15</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移动互联网</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Penny</dc:creator>
  <cp:lastModifiedBy>Polaris</cp:lastModifiedBy>
  <cp:revision>2786</cp:revision>
  <cp:lastPrinted>2023-12-04T14:15:00Z</cp:lastPrinted>
  <dcterms:created xsi:type="dcterms:W3CDTF">2015-09-20T11:05:00Z</dcterms:created>
  <dcterms:modified xsi:type="dcterms:W3CDTF">2026-05-21T09:42:35Z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7D662DE48E154268AF334A47C12A6C90_13</vt:lpwstr>
  </property>
</Properties>
</file>