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04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1AC9-CB9E-8675-48E4-29E4BEC5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496417-E6EE-CD44-3B48-0065688FC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3A0E2-1EAA-FC37-7F41-2524F64F0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4193F-D2BB-6CEA-D992-6BB6A189A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04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FF24C-6B44-9CA8-CA20-D96A84E73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5CC61A-E0C3-6AC1-9218-1E5A630AC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AFBD3D-3A66-24B7-8BC8-38CD40654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A15FC-362E-2FD5-A71B-5E076F880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2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9728" cy="20116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毕业答辩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基于DPDK的</a:t>
            </a:r>
            <a:r>
              <a:rPr lang="zh-CN" altLang="en-US" sz="3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</a:t>
            </a:r>
            <a:r>
              <a:rPr lang="en-US" sz="3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</a:t>
            </a:r>
            <a:endParaRPr lang="en-US" sz="38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3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防火墙设计与实现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097280" y="3429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Packet Firewall Based on DPDK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答辩人：杨毅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计算机科学与技术学院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4297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背景与意义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DPDK技术与系统目标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数据面/控制面/Web三层架构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核心模块实现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· 会话跟踪 · 路由ARP · 控制面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32120" y="1280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Web管理平台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Go后端 + Vue3前端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514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测试与实验数据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53212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+ 性能测试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657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3950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 + 改进方向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背景与意义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课题背景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网络带宽持续提升，攻击手段日益复杂化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传统内核防火墙：中断驱动 → CPU占用高、吞吐低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有效吞吐量仅能达到 30%~50%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329184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DPDK技术优势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用户态轮询：绕过内核，零系统调用开销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大页内存：减少TLB Miss，提升缓存命中率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CPU绑定 + 批量处理 + 零拷贝 + 多队列RSS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高性能：基于DPDK实现线速数据包处理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46888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可扩展：模块化设计，ACL/路由/会话/限速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可管理：Web界面 + CLI + REST 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前端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353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REST · Element Plus · ECharts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00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后端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130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 · SQLite持久化 · TCP CLI客户端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377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控制平面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9077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SECONDARY · TCP CLI服务端 · 共享内存读写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31546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3931920" cy="64008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数据平面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685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PRIMARY · 包处理流水线 · NIC PMD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164592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 </a:t>
            </a: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（IPv4/IPv6）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28600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9377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会话跟踪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（rte_hash O(1)）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292608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（rte_lpm O(1)）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56616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ARP/ND 缓存解析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64592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766560" y="16459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（端口扫描封禁）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766560" y="228600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76656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速率限制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（令牌桶算法）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66560" y="2926080"/>
            <a:ext cx="1645920" cy="502920"/>
          </a:xfrm>
          <a:prstGeom prst="roundRect">
            <a:avLst>
              <a:gd name="adj" fmla="val 727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766560" y="29260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 </a:t>
            </a: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</a:t>
            </a:r>
            <a:endParaRPr lang="en-US" sz="1000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（共享内存 + rte_ring）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数据面处理流水线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43000" y="11887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最多32包/次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2606040" y="100584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0604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协议解析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Ethertype分派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IPv4/IPv6/ARP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19659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40680" y="118872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544068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攻击检测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端口扫描封禁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SYN/UDP统计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03720" y="100584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589520" y="118872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589520" y="1188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03720" y="1874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速率限制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95160" y="212140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令牌桶算法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SYN &amp; UDP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274320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43000" y="292608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4300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5720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ACL检查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5元组线性匹配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拒绝日志记录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0604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2606040" y="274320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3291840" y="292608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329184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260604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69748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per-lcore会话表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754880" y="2743200"/>
            <a:ext cx="1965960" cy="7315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5440680" y="292608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54406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75488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路由转发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LPM查找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ARP/ND解析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03720" y="2743200"/>
            <a:ext cx="1965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903720" y="2743200"/>
            <a:ext cx="1965960" cy="7315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589520" y="2926080"/>
            <a:ext cx="594360" cy="59436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758952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90372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批量发送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95160" y="385876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TX缓冲排空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~100μs周期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多核模型：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收包核 + 处理核 + 发包核分离 · RSS保证流亲和性 · 每核独立处理无锁快速路径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4">
            <a:extLst>
              <a:ext uri="{FF2B5EF4-FFF2-40B4-BE49-F238E27FC236}">
                <a16:creationId xmlns:a16="http://schemas.microsoft.com/office/drawing/2014/main" id="{AF762010-552D-223E-9A95-83CEB29792D0}"/>
              </a:ext>
            </a:extLst>
          </p:cNvPr>
          <p:cNvSpPr/>
          <p:nvPr/>
        </p:nvSpPr>
        <p:spPr>
          <a:xfrm>
            <a:off x="2834640" y="3979164"/>
            <a:ext cx="5472228" cy="95707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5" name="Shape 38">
            <a:extLst>
              <a:ext uri="{FF2B5EF4-FFF2-40B4-BE49-F238E27FC236}">
                <a16:creationId xmlns:a16="http://schemas.microsoft.com/office/drawing/2014/main" id="{AB8E898F-2879-23E8-8F49-C7F2568A34E3}"/>
              </a:ext>
            </a:extLst>
          </p:cNvPr>
          <p:cNvSpPr/>
          <p:nvPr/>
        </p:nvSpPr>
        <p:spPr>
          <a:xfrm>
            <a:off x="533400" y="3979164"/>
            <a:ext cx="2301240" cy="957072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ACL模块设计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206240" cy="289255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20624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五元组规则 + 动态管理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17320" y="1645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src_ip / src_mask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dst_ip / dst_mask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源端口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2743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src_port_min ~ max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164592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2651760" y="164592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目的端口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164592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dst_port_min ~ max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19456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651760" y="219456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协议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29000" y="2194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proto (TCP/UDP/ICMP/...)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2743200"/>
            <a:ext cx="685800" cy="384048"/>
          </a:xfrm>
          <a:prstGeom prst="roundRect">
            <a:avLst>
              <a:gd name="adj" fmla="val 95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51760" y="274320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274320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allow=1 / deny=0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208020"/>
            <a:ext cx="3840480" cy="0"/>
          </a:xfrm>
          <a:prstGeom prst="line">
            <a:avLst/>
          </a:prstGeom>
          <a:noFill/>
          <a:ln w="12700">
            <a:solidFill>
              <a:srgbClr val="F0FD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动态管理命令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4008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1732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41732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9456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19456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7180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297180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749040" y="3444240"/>
            <a:ext cx="640080" cy="411480"/>
          </a:xfrm>
          <a:prstGeom prst="roundRect">
            <a:avLst>
              <a:gd name="adj" fmla="val 8889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3749040" y="34442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D2FE7126-2865-D0A7-B574-2B56AF5F6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1" y="850392"/>
            <a:ext cx="3185159" cy="3208074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699E8D37-4813-7C19-4445-0CE4D1EBBF00}"/>
              </a:ext>
            </a:extLst>
          </p:cNvPr>
          <p:cNvSpPr txBox="1"/>
          <p:nvPr/>
        </p:nvSpPr>
        <p:spPr>
          <a:xfrm>
            <a:off x="533400" y="4273034"/>
            <a:ext cx="230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zh-CN" sz="1800" b="1" dirty="0" err="1">
                <a:solidFill>
                  <a:schemeClr val="bg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双缓冲无锁更新机制</a:t>
            </a:r>
            <a:endParaRPr lang="en-US" altLang="zh-CN" sz="1800" dirty="0">
              <a:solidFill>
                <a:schemeClr val="bg1"/>
              </a:solidFill>
            </a:endParaRPr>
          </a:p>
        </p:txBody>
      </p:sp>
      <p:sp>
        <p:nvSpPr>
          <p:cNvPr id="64" name="Shape 40">
            <a:extLst>
              <a:ext uri="{FF2B5EF4-FFF2-40B4-BE49-F238E27FC236}">
                <a16:creationId xmlns:a16="http://schemas.microsoft.com/office/drawing/2014/main" id="{74F1DDAD-9A7E-D350-E501-2F2F6BF6FF2B}"/>
              </a:ext>
            </a:extLst>
          </p:cNvPr>
          <p:cNvSpPr/>
          <p:nvPr/>
        </p:nvSpPr>
        <p:spPr>
          <a:xfrm>
            <a:off x="2971802" y="400284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41">
            <a:extLst>
              <a:ext uri="{FF2B5EF4-FFF2-40B4-BE49-F238E27FC236}">
                <a16:creationId xmlns:a16="http://schemas.microsoft.com/office/drawing/2014/main" id="{040634DA-F1E5-C866-3A5B-CF237D03BC85}"/>
              </a:ext>
            </a:extLst>
          </p:cNvPr>
          <p:cNvSpPr/>
          <p:nvPr/>
        </p:nvSpPr>
        <p:spPr>
          <a:xfrm>
            <a:off x="2971802" y="4002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Text 42">
            <a:extLst>
              <a:ext uri="{FF2B5EF4-FFF2-40B4-BE49-F238E27FC236}">
                <a16:creationId xmlns:a16="http://schemas.microsoft.com/office/drawing/2014/main" id="{8DB85944-739E-72B0-DCE7-1B9E88B023E7}"/>
              </a:ext>
            </a:extLst>
          </p:cNvPr>
          <p:cNvSpPr/>
          <p:nvPr/>
        </p:nvSpPr>
        <p:spPr>
          <a:xfrm>
            <a:off x="3474722" y="4002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</a:t>
            </a:r>
            <a:r>
              <a:rPr lang="en-US" sz="11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活跃ctx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[0] → 非活跃ctx[1]</a:t>
            </a:r>
            <a:endParaRPr lang="en-US" sz="1100" dirty="0"/>
          </a:p>
        </p:txBody>
      </p:sp>
      <p:sp>
        <p:nvSpPr>
          <p:cNvPr id="73" name="Shape 43">
            <a:extLst>
              <a:ext uri="{FF2B5EF4-FFF2-40B4-BE49-F238E27FC236}">
                <a16:creationId xmlns:a16="http://schemas.microsoft.com/office/drawing/2014/main" id="{0EE23785-0C74-3CF9-C7F3-80A2ED33CD3D}"/>
              </a:ext>
            </a:extLst>
          </p:cNvPr>
          <p:cNvSpPr/>
          <p:nvPr/>
        </p:nvSpPr>
        <p:spPr>
          <a:xfrm>
            <a:off x="5713932" y="40187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44">
            <a:extLst>
              <a:ext uri="{FF2B5EF4-FFF2-40B4-BE49-F238E27FC236}">
                <a16:creationId xmlns:a16="http://schemas.microsoft.com/office/drawing/2014/main" id="{F087C18A-5B12-B846-97AB-E75463D83247}"/>
              </a:ext>
            </a:extLst>
          </p:cNvPr>
          <p:cNvSpPr/>
          <p:nvPr/>
        </p:nvSpPr>
        <p:spPr>
          <a:xfrm>
            <a:off x="5713932" y="40187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5" name="Text 45">
            <a:extLst>
              <a:ext uri="{FF2B5EF4-FFF2-40B4-BE49-F238E27FC236}">
                <a16:creationId xmlns:a16="http://schemas.microsoft.com/office/drawing/2014/main" id="{F112E9B1-E2C5-8BB7-37BA-17BFCF9F7E66}"/>
              </a:ext>
            </a:extLst>
          </p:cNvPr>
          <p:cNvSpPr/>
          <p:nvPr/>
        </p:nvSpPr>
        <p:spPr>
          <a:xfrm>
            <a:off x="6216852" y="40187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在ctx[1]上原地执行CRUD修改</a:t>
            </a:r>
            <a:endParaRPr lang="en-US" sz="1100" dirty="0"/>
          </a:p>
        </p:txBody>
      </p:sp>
      <p:sp>
        <p:nvSpPr>
          <p:cNvPr id="76" name="Shape 46">
            <a:extLst>
              <a:ext uri="{FF2B5EF4-FFF2-40B4-BE49-F238E27FC236}">
                <a16:creationId xmlns:a16="http://schemas.microsoft.com/office/drawing/2014/main" id="{DC254BD8-40B9-6082-D010-23B9D293C883}"/>
              </a:ext>
            </a:extLst>
          </p:cNvPr>
          <p:cNvSpPr/>
          <p:nvPr/>
        </p:nvSpPr>
        <p:spPr>
          <a:xfrm>
            <a:off x="2971800" y="456742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7" name="Text 47">
            <a:extLst>
              <a:ext uri="{FF2B5EF4-FFF2-40B4-BE49-F238E27FC236}">
                <a16:creationId xmlns:a16="http://schemas.microsoft.com/office/drawing/2014/main" id="{5CEAE3D0-8903-E4A2-A24C-813B64AEC20F}"/>
              </a:ext>
            </a:extLst>
          </p:cNvPr>
          <p:cNvSpPr/>
          <p:nvPr/>
        </p:nvSpPr>
        <p:spPr>
          <a:xfrm>
            <a:off x="2971800" y="45674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Text 48">
            <a:extLst>
              <a:ext uri="{FF2B5EF4-FFF2-40B4-BE49-F238E27FC236}">
                <a16:creationId xmlns:a16="http://schemas.microsoft.com/office/drawing/2014/main" id="{97D43B22-6CB1-3002-CE0B-B026EAEE69E4}"/>
              </a:ext>
            </a:extLst>
          </p:cNvPr>
          <p:cNvSpPr/>
          <p:nvPr/>
        </p:nvSpPr>
        <p:spPr>
          <a:xfrm>
            <a:off x="3474720" y="45674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原子切换active索引指向ctx[1]</a:t>
            </a:r>
            <a:endParaRPr lang="en-US" sz="1100" dirty="0"/>
          </a:p>
        </p:txBody>
      </p:sp>
      <p:sp>
        <p:nvSpPr>
          <p:cNvPr id="82" name="Shape 49">
            <a:extLst>
              <a:ext uri="{FF2B5EF4-FFF2-40B4-BE49-F238E27FC236}">
                <a16:creationId xmlns:a16="http://schemas.microsoft.com/office/drawing/2014/main" id="{CB0707E3-CCA8-11D2-F402-48985A6219C5}"/>
              </a:ext>
            </a:extLst>
          </p:cNvPr>
          <p:cNvSpPr/>
          <p:nvPr/>
        </p:nvSpPr>
        <p:spPr>
          <a:xfrm>
            <a:off x="5729172" y="458876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3" name="Text 50">
            <a:extLst>
              <a:ext uri="{FF2B5EF4-FFF2-40B4-BE49-F238E27FC236}">
                <a16:creationId xmlns:a16="http://schemas.microsoft.com/office/drawing/2014/main" id="{335288BF-3A8F-C35F-9135-8FDAAFC47DEF}"/>
              </a:ext>
            </a:extLst>
          </p:cNvPr>
          <p:cNvSpPr/>
          <p:nvPr/>
        </p:nvSpPr>
        <p:spPr>
          <a:xfrm>
            <a:off x="5729172" y="45887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4" name="Text 51">
            <a:extLst>
              <a:ext uri="{FF2B5EF4-FFF2-40B4-BE49-F238E27FC236}">
                <a16:creationId xmlns:a16="http://schemas.microsoft.com/office/drawing/2014/main" id="{D91741AC-3047-2013-9303-14C639133629}"/>
              </a:ext>
            </a:extLst>
          </p:cNvPr>
          <p:cNvSpPr/>
          <p:nvPr/>
        </p:nvSpPr>
        <p:spPr>
          <a:xfrm>
            <a:off x="6232092" y="45887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数据路径始终无锁读取，零阻塞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会话跟踪</a:t>
            </a:r>
            <a:endParaRPr lang="en-US" sz="2800" b="1" dirty="0">
              <a:solidFill>
                <a:srgbClr val="1E293B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 (Session Tracking)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71600" y="1600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5元组键：src_ip/dst_ip/src_port/dst_port/proto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查找算法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71600" y="20574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rte_hash，O(1)时间复杂度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TCP状态机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71600" y="2514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 → ESTABLISHED → FIN/RST 全状态跟踪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UDP伪状态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0" y="29718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基于超时机制的伪连接跟踪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per-lcore隔离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71600" y="34290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每核独立哈希表，消除缓存行争用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594360" cy="292608"/>
          </a:xfrm>
          <a:prstGeom prst="roundRect">
            <a:avLst>
              <a:gd name="adj" fmla="val 937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超时清理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71600" y="3886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定时软过期 + 共享内存同步(4096条)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22C3D71E-A907-F8C5-5A03-7EC05B5434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7720" y="1463040"/>
            <a:ext cx="4344800" cy="263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2CC6B-9186-C694-CDD8-FCE69863B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635CFC-928C-B7E4-86E1-9A731987E576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053A04-038C-188E-763D-A0211553821B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AB2127D-36A0-7D29-AA58-86193448D3C3}"/>
              </a:ext>
            </a:extLst>
          </p:cNvPr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2C0E430-A927-F303-98AA-1C249B85C691}"/>
              </a:ext>
            </a:extLst>
          </p:cNvPr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F75AEC72-E245-9391-29A3-3693679454CD}"/>
              </a:ext>
            </a:extLst>
          </p:cNvPr>
          <p:cNvSpPr/>
          <p:nvPr/>
        </p:nvSpPr>
        <p:spPr>
          <a:xfrm>
            <a:off x="692349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9FCEFD4-473E-0A6D-108F-F2B2CB6A73C8}"/>
              </a:ext>
            </a:extLst>
          </p:cNvPr>
          <p:cNvSpPr/>
          <p:nvPr/>
        </p:nvSpPr>
        <p:spPr>
          <a:xfrm>
            <a:off x="692349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38480A2-FCAE-DD9D-A5BC-6CC3BF1C39F9}"/>
              </a:ext>
            </a:extLst>
          </p:cNvPr>
          <p:cNvSpPr/>
          <p:nvPr/>
        </p:nvSpPr>
        <p:spPr>
          <a:xfrm>
            <a:off x="692349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路由查找与ARP解析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003D092-5E65-5C68-5C3C-CD8BA850C5B4}"/>
              </a:ext>
            </a:extLst>
          </p:cNvPr>
          <p:cNvSpPr/>
          <p:nvPr/>
        </p:nvSpPr>
        <p:spPr>
          <a:xfrm>
            <a:off x="875229" y="16002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741F9835-9216-C569-0BB7-928771C64B95}"/>
              </a:ext>
            </a:extLst>
          </p:cNvPr>
          <p:cNvSpPr/>
          <p:nvPr/>
        </p:nvSpPr>
        <p:spPr>
          <a:xfrm>
            <a:off x="1058109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路由查找 (rte_lpm)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305DCC7-87E6-96AC-F897-78C36B22DC5E}"/>
              </a:ext>
            </a:extLst>
          </p:cNvPr>
          <p:cNvSpPr/>
          <p:nvPr/>
        </p:nvSpPr>
        <p:spPr>
          <a:xfrm>
            <a:off x="1058109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Dir-24-8算法实现，O(1)查找复杂度</a:t>
            </a:r>
            <a:endParaRPr lang="en-US" sz="1000" dirty="0"/>
          </a:p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最长前缀匹配(LPM)路由表</a:t>
            </a:r>
            <a:endParaRPr lang="en-US" sz="1000" dirty="0"/>
          </a:p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支持IPv4/IPv6双栈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5E26545-6426-DD62-AE21-C5F992F1AB91}"/>
              </a:ext>
            </a:extLst>
          </p:cNvPr>
          <p:cNvSpPr/>
          <p:nvPr/>
        </p:nvSpPr>
        <p:spPr>
          <a:xfrm>
            <a:off x="875229" y="2971800"/>
            <a:ext cx="3566160" cy="1371600"/>
          </a:xfrm>
          <a:prstGeom prst="roundRect">
            <a:avLst>
              <a:gd name="adj" fmla="val 333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1BB7ED6-0D6C-E1F5-71AB-382FC0E7F16E}"/>
              </a:ext>
            </a:extLst>
          </p:cNvPr>
          <p:cNvSpPr/>
          <p:nvPr/>
        </p:nvSpPr>
        <p:spPr>
          <a:xfrm>
            <a:off x="1058109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ARP/ND缓存解析</a:t>
            </a:r>
            <a:endParaRPr lang="en-US" sz="12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29FABE5-6C82-FFB6-1DC3-13F9F13F386F}"/>
              </a:ext>
            </a:extLst>
          </p:cNvPr>
          <p:cNvSpPr/>
          <p:nvPr/>
        </p:nvSpPr>
        <p:spPr>
          <a:xfrm>
            <a:off x="1058109" y="33832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哈希表维护 IP→MAC 映射关系</a:t>
            </a:r>
            <a:endParaRPr lang="en-US" sz="1000" dirty="0"/>
          </a:p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支持ARP请求/响应/邻居通告</a:t>
            </a:r>
            <a:endParaRPr lang="en-US" sz="1000" dirty="0"/>
          </a:p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挂起队列机制：MAC未知时先挂起包</a:t>
            </a:r>
            <a:endParaRPr lang="en-US" sz="1000" dirty="0"/>
          </a:p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老化机制定期清理无效条目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1570B75-D841-7C42-2F12-325834662793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9AB0B16-4A20-5650-9D94-909A8AA7E3A4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74A8DF95-E473-5358-715F-8688C6CFF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786" y="1647523"/>
            <a:ext cx="4010262" cy="1187117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6FB4E4A6-C149-4FC9-D4CF-903217855C6B}"/>
              </a:ext>
            </a:extLst>
          </p:cNvPr>
          <p:cNvSpPr txBox="1"/>
          <p:nvPr/>
        </p:nvSpPr>
        <p:spPr>
          <a:xfrm>
            <a:off x="940526" y="172730"/>
            <a:ext cx="29391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路由与</a:t>
            </a:r>
            <a:r>
              <a:rPr lang="en-US" altLang="zh-CN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ARP</a:t>
            </a:r>
            <a:r>
              <a:rPr lang="zh-CN" alt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</a:rPr>
              <a:t>解析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F6794E-886F-3444-1ACE-5216AFE7D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86" y="3041780"/>
            <a:ext cx="4010262" cy="126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521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控制面CLI与IPC通信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CLI命令系统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23444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 ACL规则CRUD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305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23444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ACL命中统计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660904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60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acl6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234440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 ACL规则CRUD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191256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912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34440" y="3191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IPv4连接表查询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721608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721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234440" y="3721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IPv4拒绝日志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1600200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2606040" y="1600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00400" y="1600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端口收发包统计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2130552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606040" y="213055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ifcfg4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200400" y="2130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IPv4端口配置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2660904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606040" y="266090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00400" y="26609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IPv6路由管理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3191256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606040" y="31912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200400" y="31912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攻击防御配置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06040" y="3721608"/>
            <a:ext cx="502920" cy="27432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2606040" y="372160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ddos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200400" y="37216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DDoS限速配置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IPC通信机制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937760" y="160020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937760" y="1600200"/>
            <a:ext cx="73152" cy="8229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6636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rte_memzone 共享内存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166360" y="1984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15个共享结构体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配置/统计双向传输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260604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4937760" y="260604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516636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rte_ring 无锁队列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6636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ACL命令/响应环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MP/SC模式 1024容量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3611880"/>
            <a:ext cx="3566160" cy="822960"/>
          </a:xfrm>
          <a:prstGeom prst="roundRect">
            <a:avLst>
              <a:gd name="adj" fmla="val 6667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4937760" y="3611880"/>
            <a:ext cx="73152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1663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39959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rte_atomic64_t版本号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wmb/rmb保证一致性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Web管理平台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 (Vue 3)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1600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Composition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057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类型安全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5146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2514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企业级UI组件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29718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971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2971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轻量状态管理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4290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ECharts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0020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数据可视化图表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822960" cy="32004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8862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002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API客户端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Go后端架构</a:t>
            </a:r>
            <a:endParaRPr lang="en-US" sz="1400" dirty="0"/>
          </a:p>
        </p:txBody>
      </p:sp>
      <p:pic>
        <p:nvPicPr>
          <p:cNvPr id="30" name="Image 0" descr="./imgs/Go后端设计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26825" y="1586484"/>
            <a:ext cx="2188029" cy="1371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626824" y="3086100"/>
            <a:ext cx="218802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17个REST API端点</a:t>
            </a:r>
            <a:endParaRPr lang="en-US" sz="1000" dirty="0"/>
          </a:p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SQLite规则持久化(rules.db)</a:t>
            </a:r>
            <a:endParaRPr lang="en-US" sz="1000" dirty="0"/>
          </a:p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启动时自动同步规则到数据平面</a:t>
            </a:r>
            <a:endParaRPr lang="en-US" sz="1000" dirty="0"/>
          </a:p>
          <a:p>
            <a:pPr>
              <a:lnSpc>
                <a:spcPct val="13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TCP CLI连接控制平面(:8086)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0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10个功能页面：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 · 拓扑图 · ACL(IPv4/IPv6) · 路由表 · 端口配置 · DDoS防护 · 连接表 · 攻击演示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测试环境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功能测试环境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6002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Xeon E3-1230 v3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10312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031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1031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Realtek RTL8111/8168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606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PMD驱动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606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AF_PACKET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108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操作系统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Ubuntu 22.04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914400" cy="347472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DPDK版本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91640" y="361188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24.11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性能测试环境（虚拟化）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37760" y="1600200"/>
            <a:ext cx="3566160" cy="1234440"/>
          </a:xfrm>
          <a:prstGeom prst="roundRect">
            <a:avLst>
              <a:gd name="adj" fmla="val 3704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12064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防火墙VM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2011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vCPU / 6GB 内存</a:t>
            </a:r>
            <a:endParaRPr lang="en-US" sz="1000" dirty="0"/>
          </a:p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VMXNET3 </a:t>
            </a:r>
            <a:r>
              <a:rPr lang="en-US" sz="1000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</a:t>
            </a: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</a:p>
          <a:p>
            <a:pPr>
              <a:lnSpc>
                <a:spcPct val="12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24.11 + 数据面程序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2971800"/>
            <a:ext cx="3566160" cy="1371600"/>
          </a:xfrm>
          <a:prstGeom prst="roundRect">
            <a:avLst>
              <a:gd name="adj" fmla="val 3333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1206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发包器VM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20640" y="338328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vCPU / DPDK发包器</a:t>
            </a:r>
            <a:endParaRPr lang="en-US" sz="1000" dirty="0"/>
          </a:p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VMXNET3 网卡</a:t>
            </a:r>
            <a:endParaRPr lang="en-US" sz="1000" dirty="0"/>
          </a:p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VMnet2 / VMnet3 虚拟网络</a:t>
            </a:r>
            <a:endParaRPr lang="en-US" sz="1000" dirty="0"/>
          </a:p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可调节包大小/速率/协议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测试结果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ACL规则匹配：所有用例通过（allow/deny/优先级）</a:t>
            </a:r>
            <a:endParaRPr lang="en-US" sz="1000" dirty="0"/>
          </a:p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连接跟踪：TCP三次握手/四次挥手/RST/UDP超时清理</a:t>
            </a:r>
            <a:endParaRPr lang="en-US" sz="1000" dirty="0"/>
          </a:p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CLI命令：add/del/clear/list/port stats/session list 全部正确</a:t>
            </a:r>
            <a:endParaRPr lang="en-US" sz="1000" dirty="0"/>
          </a:p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Web管理：规则增删、实时刷新、图表展示均正常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全程无丢包，转发稳定</a:t>
            </a:r>
            <a:endParaRPr lang="en-US" sz="1000" dirty="0"/>
          </a:p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大包(≥512B)达到线速（VMXNET3）</a:t>
            </a:r>
            <a:endParaRPr lang="en-US" sz="1000" dirty="0"/>
          </a:p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小包(64B/128B)受虚拟交换机开销限制</a:t>
            </a:r>
            <a:endParaRPr lang="en-US" sz="1000" dirty="0"/>
          </a:p>
          <a:p>
            <a:pPr>
              <a:lnSpc>
                <a:spcPct val="13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相比内核防火墙，显著降低中断/拷贝开销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1940" y="3726181"/>
            <a:ext cx="1280160" cy="274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性能测试数据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508760" y="2954381"/>
            <a:ext cx="9144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508760" y="295438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包大小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2954381"/>
            <a:ext cx="1371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423160" y="29543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理论线速(Mpps)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794760" y="2954381"/>
            <a:ext cx="1371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794760" y="29543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吞吐量(Mpps)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66360" y="2954381"/>
            <a:ext cx="137160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166360" y="29543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带宽(Mbps)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2954381"/>
            <a:ext cx="1097280" cy="274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537960" y="295438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线速占比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08760" y="3228701"/>
            <a:ext cx="9144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508760" y="322870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423160" y="322870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423160" y="32287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1.488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322870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3794760" y="32287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0.449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66360" y="322870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166360" y="32287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230.0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37960" y="3228701"/>
            <a:ext cx="109728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537960" y="322870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508760" y="3503021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508760" y="350302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23160" y="350302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423160" y="3503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0.844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94760" y="350302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3794760" y="3503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0.411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66360" y="350302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66360" y="3503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421.3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37960" y="3503021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6537960" y="350302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42.1%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08760" y="3777341"/>
            <a:ext cx="9144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508760" y="377734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256B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423160" y="377734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2423160" y="377734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0.452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94760" y="377734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3794760" y="377734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166360" y="377734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5166360" y="377734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807.5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37960" y="3777341"/>
            <a:ext cx="109728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537960" y="377734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80.8%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508760" y="4051661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508760" y="405166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423160" y="405166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2423160" y="405166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4760" y="405166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3794760" y="405166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0.285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166360" y="405166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5166360" y="405166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1167.9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537960" y="4051661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6537960" y="405166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508760" y="4325981"/>
            <a:ext cx="9144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Text 66"/>
          <p:cNvSpPr/>
          <p:nvPr/>
        </p:nvSpPr>
        <p:spPr>
          <a:xfrm>
            <a:off x="1508760" y="432598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1024B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423160" y="432598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2423160" y="43259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0.119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794760" y="432598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3794760" y="43259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0.319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166360" y="4325981"/>
            <a:ext cx="137160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4" name="Text 72"/>
          <p:cNvSpPr/>
          <p:nvPr/>
        </p:nvSpPr>
        <p:spPr>
          <a:xfrm>
            <a:off x="5166360" y="432598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2613.8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37960" y="4325981"/>
            <a:ext cx="1097280" cy="274320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6" name="Text 74"/>
          <p:cNvSpPr/>
          <p:nvPr/>
        </p:nvSpPr>
        <p:spPr>
          <a:xfrm>
            <a:off x="6537960" y="432598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08760" y="4600301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8" name="Text 76"/>
          <p:cNvSpPr/>
          <p:nvPr/>
        </p:nvSpPr>
        <p:spPr>
          <a:xfrm>
            <a:off x="1508760" y="460030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1514B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423160" y="460030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0" name="Text 78"/>
          <p:cNvSpPr/>
          <p:nvPr/>
        </p:nvSpPr>
        <p:spPr>
          <a:xfrm>
            <a:off x="2423160" y="46003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0.081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794760" y="460030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2" name="Text 80"/>
          <p:cNvSpPr/>
          <p:nvPr/>
        </p:nvSpPr>
        <p:spPr>
          <a:xfrm>
            <a:off x="3794760" y="46003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0.262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5166360" y="4600301"/>
            <a:ext cx="13716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4" name="Text 82"/>
          <p:cNvSpPr/>
          <p:nvPr/>
        </p:nvSpPr>
        <p:spPr>
          <a:xfrm>
            <a:off x="5166360" y="460030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3179.9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537960" y="4600301"/>
            <a:ext cx="109728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6" name="Text 84"/>
          <p:cNvSpPr/>
          <p:nvPr/>
        </p:nvSpPr>
        <p:spPr>
          <a:xfrm>
            <a:off x="6537960" y="4600301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562100" y="4898570"/>
            <a:ext cx="2339340" cy="193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注：512B以上带宽超过1Gbps，网卡成为瓶颈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9" name="Text 8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系统亮点与改进方向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系统亮点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367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60120" y="1600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数据面/控制面分离架构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8379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PRIMARY/SECONDARY进程解耦，独立演进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11226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075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IPv4/IPv6双栈支持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3134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统一流水线，完整双栈覆盖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58775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60120" y="2551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状态化连接跟踪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88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 O(1)查找，支持TCP/UDP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60120" y="30266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+ CLI双管理接口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2644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Vue3前端/17个REST API/25项CLI命令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53872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60120" y="35021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配置持久化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7398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SQLite数据库，启动时自动同步规则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01421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60120" y="3977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无锁快速路径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42153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per-lcore数据隔离，零拷贝批量处理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00584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不足与改进方向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1600200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937760" y="1600200"/>
            <a:ext cx="54864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120640" y="16550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ACL线性遍历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189280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集成rte_acl (HyperSplit) 多模式匹配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313432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4937760" y="2313432"/>
            <a:ext cx="54864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5120640" y="23682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IPv6扩展头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20640" y="2606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完善NDP及IPv6扩展头部处理能力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3026664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937760" y="3026664"/>
            <a:ext cx="54864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5120640" y="30815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硬件测试环境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20640" y="33192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采用支持</a:t>
            </a:r>
            <a:r>
              <a:rPr lang="en-US" altLang="zh-CN" sz="9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</a:t>
            </a:r>
            <a:r>
              <a:rPr lang="zh-CN" alt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的网卡进行性能测试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739896"/>
            <a:ext cx="3566160" cy="566928"/>
          </a:xfrm>
          <a:prstGeom prst="roundRect">
            <a:avLst>
              <a:gd name="adj" fmla="val 8065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937760" y="3739896"/>
            <a:ext cx="54864" cy="5669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5120640" y="3794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网卡兼容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20640" y="4032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支持i40e、mlx5等高速网卡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性能优化设计要点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批量收发包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rte_eth_rx_burst 32包/次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TX缓冲约100μs定时排空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Per-lcore隔离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496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会话/扫描/限速表每核独立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消除跨核缓存行争用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4008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ACL双缓冲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3547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ctx[0]/ctx[1]双份上下文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读路径始终无锁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3444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DPDK LPM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599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Dir-24-8算法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O(1)最长前缀匹配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0058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4754880" y="100584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4937760" y="123444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4937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3212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rte_hash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14447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高速哈希会话表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per-lcore实例化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0574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754880" y="205740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4937760" y="228600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9377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321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无锁环队列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532120" y="24963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ACL命令/响应ring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MP/SC模式零开销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1089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4754880" y="3108960"/>
            <a:ext cx="54864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4937760" y="3337560"/>
            <a:ext cx="457200" cy="457200"/>
          </a:xfrm>
          <a:prstGeom prst="ellipse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9377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32120" y="32004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版本号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532120" y="35478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共享配置无锁读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原子版本号保证一致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性能分析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小包性能受限 (64B/128B)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受虚拟交换机 (vSwitch) + VMXNET3 驱动开销限制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每个包都需要穿越虚拟化层，额外开销显著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09360" y="1508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中断和拷贝操作累积导致吞吐量下降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大包达到线速 (≥512B)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VMXNET3 协商为 10Gbps 网卡成为瓶颈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防火墙自身处理能力充足，包处理流水线无瓶颈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743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512B以上带宽超过 1Gbps，实现线速转发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全程无丢包，转发稳定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系统在高负载下表现稳定，无丢包现象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批量处理和 TX 缓冲排空策略有效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977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 隔离避免了锁竞争带来的抖动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0000"/>
            </a:avLst>
          </a:prstGeom>
          <a:solidFill>
            <a:srgbClr val="F0FDF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相比传统内核防火墙，DPDK用户态路径显著降低中断/拷贝开销，在大包场景下可达到线速处理能力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72768"/>
            <a:ext cx="365760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基于DPDK设计实现了高性能数据包防火墙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支持IPv4/IPv6双栈，完整数据平面流水线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ACL过滤 + 连接跟踪 + 路由转发 + 攻击检测 + 速率限制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三层IPC：共享内存 + 无锁环 + 双缓冲机制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Go + C控制/数据平面完整管理链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Per-lcore无锁设计，验证了DPDK在高速网络环境下的可行性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72768"/>
            <a:ext cx="3566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集成rte_acl (HyperSplit) 提升ACL大规模规则性能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支持应用层协议深度包检测 (DPI)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多NUMA节点感知内存分配优化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引入eBPF/XDP辅助数据平面加速</a:t>
            </a:r>
            <a:endParaRPr lang="en-US" sz="1000" dirty="0"/>
          </a:p>
          <a:p>
            <a:pPr>
              <a:lnSpc>
                <a:spcPct val="145000"/>
              </a:lnSpc>
              <a:buSzPct val="100000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支持i40e、mlx5等高速物理网卡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84124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931F-7E72-8257-3C2A-EA680DC5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1B0D56-DE4A-D0DE-3ED8-CD41CEA86702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6D77A9-A859-90F3-A24A-A236CA1E5F61}"/>
              </a:ext>
            </a:extLst>
          </p:cNvPr>
          <p:cNvSpPr/>
          <p:nvPr/>
        </p:nvSpPr>
        <p:spPr>
          <a:xfrm>
            <a:off x="457200" y="228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zh-CN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0CC9346-76B4-CA58-A609-9051B490104E}"/>
              </a:ext>
            </a:extLst>
          </p:cNvPr>
          <p:cNvSpPr/>
          <p:nvPr/>
        </p:nvSpPr>
        <p:spPr>
          <a:xfrm>
            <a:off x="1005840" y="228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5A8A715-BD02-B8AE-085E-3979589BEC05}"/>
              </a:ext>
            </a:extLst>
          </p:cNvPr>
          <p:cNvSpPr/>
          <p:nvPr/>
        </p:nvSpPr>
        <p:spPr>
          <a:xfrm>
            <a:off x="1005840" y="749808"/>
            <a:ext cx="7680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D41917-E134-54A9-B1FA-1E40C277A149}"/>
              </a:ext>
            </a:extLst>
          </p:cNvPr>
          <p:cNvSpPr/>
          <p:nvPr/>
        </p:nvSpPr>
        <p:spPr>
          <a:xfrm>
            <a:off x="457200" y="23728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感谢各位老师的聆听与指导！</a:t>
            </a:r>
            <a:endParaRPr lang="en-US" sz="2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F3B2325-4F22-F493-490D-B5C7B587B78D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F3E6E2B-F496-05A6-E160-BE67553ABC90}"/>
              </a:ext>
            </a:extLst>
          </p:cNvPr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35167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1192</Words>
  <Application>Microsoft Office PowerPoint</Application>
  <PresentationFormat>全屏显示(16:9)</PresentationFormat>
  <Paragraphs>405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基于DPDK的高性能数据包防火墙设计与实现 - 毕业答辩</dc:title>
  <dc:subject>PptxGenJS Presentation</dc:subject>
  <dc:creator>杨毅</dc:creator>
  <cp:lastModifiedBy>idontknow 233</cp:lastModifiedBy>
  <cp:revision>6</cp:revision>
  <dcterms:created xsi:type="dcterms:W3CDTF">2026-05-29T07:55:19Z</dcterms:created>
  <dcterms:modified xsi:type="dcterms:W3CDTF">2026-05-29T19:16:19Z</dcterms:modified>
</cp:coreProperties>
</file>