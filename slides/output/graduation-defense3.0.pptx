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理论线速</c:v>
                </c:pt>
              </c:strCache>
            </c:strRef>
          </c:tx>
          <c:spPr>
            <a:solidFill>
              <a:srgbClr val="F0FD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64B</c:v>
                  </c:pt>
                  <c:pt idx="1">
                    <c:v>128B</c:v>
                  </c:pt>
                  <c:pt idx="2">
                    <c:v>256B</c:v>
                  </c:pt>
                  <c:pt idx="3">
                    <c:v>512B</c:v>
                  </c:pt>
                  <c:pt idx="4">
                    <c:v>1024B</c:v>
                  </c:pt>
                  <c:pt idx="5">
                    <c:v>1514B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1.488</c:v>
                </c:pt>
                <c:pt idx="1">
                  <c:v>0.844</c:v>
                </c:pt>
                <c:pt idx="2">
                  <c:v>0.452</c:v>
                </c:pt>
                <c:pt idx="3">
                  <c:v>0.234</c:v>
                </c:pt>
                <c:pt idx="4">
                  <c:v>0.119</c:v>
                </c:pt>
                <c:pt idx="5">
                  <c:v>0.081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实测吞吐量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64B</c:v>
                  </c:pt>
                  <c:pt idx="1">
                    <c:v>128B</c:v>
                  </c:pt>
                  <c:pt idx="2">
                    <c:v>256B</c:v>
                  </c:pt>
                  <c:pt idx="3">
                    <c:v>512B</c:v>
                  </c:pt>
                  <c:pt idx="4">
                    <c:v>1024B</c:v>
                  </c:pt>
                  <c:pt idx="5">
                    <c:v>1514B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0.449</c:v>
                </c:pt>
                <c:pt idx="1">
                  <c:v>0.411</c:v>
                </c:pt>
                <c:pt idx="2">
                  <c:v>0.394</c:v>
                </c:pt>
                <c:pt idx="3">
                  <c:v>0.285</c:v>
                </c:pt>
                <c:pt idx="4">
                  <c:v>0.319</c:v>
                </c:pt>
                <c:pt idx="5">
                  <c:v>0.262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Mpps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线速占比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64B</c:v>
                  </c:pt>
                  <c:pt idx="1">
                    <c:v>128B</c:v>
                  </c:pt>
                  <c:pt idx="2">
                    <c:v>256B</c:v>
                  </c:pt>
                  <c:pt idx="3">
                    <c:v>512B</c:v>
                  </c:pt>
                  <c:pt idx="4">
                    <c:v>1024B</c:v>
                  </c:pt>
                  <c:pt idx="5">
                    <c:v>1514B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42.1</c:v>
                </c:pt>
                <c:pt idx="2">
                  <c:v>80.8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本科毕业答辩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基于DPDK的高性能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数据包防火墙设计与实现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9728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Packet Firewall Based on DPDK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88620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86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14,500+ 行代码 · 4 子项目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8862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886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24.11 · IPv4/IPv6 双栈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343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答辩人：杨毅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指导教师：徐晶  教授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计算机科学与技术学院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8580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背景与意义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DPDK技术与系统目标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2103120"/>
            <a:ext cx="0" cy="11887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31520" y="2221992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219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221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项目规模与系统架构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代码量级 + 四层架构 + 流水线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2724912"/>
            <a:ext cx="0" cy="11887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1520" y="2843784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437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28437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核心模块实现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11810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· 会话跟踪 · 路由 · IPC · CLI/Web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3346704"/>
            <a:ext cx="0" cy="11887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31520" y="3465576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655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34655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性能优化与测试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373989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7大优化 + 功能测试 + 性能测试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3968496"/>
            <a:ext cx="0" cy="11887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31520" y="4087368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87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4087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43616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 + 不足与改进方向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背景与意义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传统防火墙性能瓶颈与DPDK技术优势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73152" cy="3246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传统内核防火墙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性能瓶颈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中断开销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350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频繁硬件中断消耗大量CPU资源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内存拷贝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DMA→内核→用户态多次拷贝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上下文切换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447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用户/内核态切换 + 缓存刷新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锁竞争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995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全局数据结构多核争用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297680"/>
            <a:ext cx="3566160" cy="201168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976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有效吞吐仅 30%~50%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325880"/>
            <a:ext cx="73152" cy="3246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技术优势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8348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六项关键优化技术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2402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1945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用户态轮询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3957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绕过中断，零系统调用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12280" y="22402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21945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大页内存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3957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2MB/1GB大页，降低TLB Miss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6974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26517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CPU亲和性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8529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线程绑核，避免缓存污染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26974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6517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28529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32包/批，摊薄函数调用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31546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31089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零拷贝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3101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网卡通写应用内存池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31546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0" y="31089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多队列RSS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3101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按流分散到多核并行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617720"/>
            <a:ext cx="804672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 + 可扩展 + 可管理  |  基于DPDK实现线速数据包处理 + 模块化设计 + Web/CLI双管理接口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项目规模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项目规模与工作量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14,500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行代码  </a:t>
            </a:r>
            <a:pPr algn="ctr" indent="0" marL="0">
              <a:buNone/>
            </a:pPr>
            <a:r>
              <a:rPr lang="en-US" sz="14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源文件  </a:t>
            </a:r>
            <a:pPr algn="ctr" indent="0" marL="0">
              <a:buNone/>
            </a:pPr>
            <a:r>
              <a:rPr lang="en-US" sz="14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pPr algn="ctr" indent="0" marL="0">
              <a:buNone/>
            </a:pPr>
            <a:r>
              <a:rPr lang="en-US" sz="5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子项目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87452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 (DPDK)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9,589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/ 会话 / 路由 / ARP / IPv6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233172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331720"/>
            <a:ext cx="187452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 (CLI)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834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2,451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743200" y="356616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3749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rte_cmdline + TCP 8086服务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331720"/>
            <a:ext cx="187452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后端 (Go)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8346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834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800600" y="356616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749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REST API + SQLite持久化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233172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2331720"/>
            <a:ext cx="187452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 (Vue)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28346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834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Vue/TS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2,350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858000" y="356616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749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页面 + ECharts可视化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25196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0080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端点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31136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231136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22192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22192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前端功能页面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13248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413248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并发会话容量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04304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004304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处理流水线阶段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系统架构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400" dirty="0"/>
          </a:p>
        </p:txBody>
      </p:sp>
      <p:pic>
        <p:nvPicPr>
          <p:cNvPr id="4" name="Image 0" descr="./imgs/整体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四层架构分离设计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600200"/>
            <a:ext cx="4572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600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5508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TS + Element Plus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20116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10个管理页面 · ECharts可视化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60720" y="2313432"/>
            <a:ext cx="4572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23134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5080" y="2313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5420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+ SQLite + TCP CLI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27249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API端点 · 25+命令 · 持久化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60720" y="3026664"/>
            <a:ext cx="45720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026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55080" y="30266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控制面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55080" y="325526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SECONDARY + rte_cmdline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5080" y="34381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8086 · 共享内存读写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60720" y="3739896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37398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5508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数据面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396849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PRIMARY + PMD 驱动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55080" y="41513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用户态轮询 · 批量处理 · 零拷贝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8640" y="45720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IPC通信：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共享内存 (rte_memzone)  +  无锁队列 (rte_ring)  +  版本号机制 (rte_atomic64_t)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核心模块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数据面处理流水线</a:t>
            </a:r>
            <a:endParaRPr lang="en-US" sz="2400" dirty="0"/>
          </a:p>
        </p:txBody>
      </p:sp>
      <p:pic>
        <p:nvPicPr>
          <p:cNvPr id="4" name="Image 0" descr="./imgs/数据包处理流水线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5720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1188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阶段流水线处理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162763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1627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59552" y="16002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59552" y="17830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 · 32包/批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040880" y="162763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1627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88352" y="16002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协议解析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88352" y="17830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IPv4/IPv6/ARP 分派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59552" y="1984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59552" y="21671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端口扫描封禁 · SYN/UDP统计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04088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88352" y="1984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88352" y="21671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令牌桶 · TCP SYN/UDP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12080" y="23957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59552" y="236829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ACL检查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59552" y="2551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五元组线性匹配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040880" y="23957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70408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88352" y="236829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88352" y="2551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 · per-lcore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212080" y="277977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59552" y="27523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路由转发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59552" y="29352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LPM查找 · ARP/ND解析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040880" y="277977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704088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88352" y="27523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批量发送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8352" y="29352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TX缓冲排空 · ~100μs周期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48640" y="45720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9" name="Text 3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多核处理模型：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收包核 + 处理核 + 发包核  ·  RSS保证流亲和性  ·  每核独立无锁快速路径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核心创新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数据包处理全流程技术创新时间线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60020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160020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5727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91440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86868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32包/批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摊薄函数调用开销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75688" y="15727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01168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91640" y="260604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端口扫描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封禁统计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3154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SYN/UDP Flood 实时感知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10128" y="15727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1325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91440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926080" y="86868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886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令牌桶限速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1097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 PPS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Burst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可配置速率限制策略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17136" y="1545336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01168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160520" y="260604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双缓冲无锁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ctx[0]/ctx[1]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原子切换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60520" y="3154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数据路径始终无锁读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751576" y="1545336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1325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97880" y="91440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394960" y="86868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886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1097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独立哈希表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消除跨核缓存争用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986016" y="1545336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32320" y="201168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629400" y="260604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NDP挂起队列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MAC未知时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暂存数据包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29400" y="3154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解析完成后批量转发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247888" y="15727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7863840" y="1325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66760" y="914400"/>
            <a:ext cx="0" cy="457200"/>
          </a:xfrm>
          <a:prstGeom prst="line">
            <a:avLst/>
          </a:prstGeom>
          <a:noFill/>
          <a:ln w="12700">
            <a:solidFill>
              <a:srgbClr val="F0FDF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7863840" y="868680"/>
            <a:ext cx="10058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886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TX缓冲排空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863840" y="1097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~100μs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定时flush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批量发送降低系统调用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8640" y="3657600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" y="3657600"/>
            <a:ext cx="10972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大核心创新点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ACL双缓冲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2960" y="4370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ctx[0]/ctx[1]双份上下文 + 原子切换，读路径零阻塞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42900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Per-lcore隔离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429000" y="4370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每核独立hash/scan/限速表，消除跨核缓存行争用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3504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NDP挂起队列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035040" y="4370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MAC未知时挂起包，解析完成后批量转发，避免丢包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核心模块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ACL与会话跟踪模块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五元组规则引擎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56232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56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源IP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8562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src_ip / src_mask (CIDR)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1488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dst_ip / dst_mask (CIDR)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414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源端口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4414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src_port_min ~ max (范围)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34056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340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目的端口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27340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dst_port_min ~ max (范围)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026664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266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0266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/ UDP / ICMP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319272"/>
            <a:ext cx="731520" cy="18288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192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33192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allow=1  /  deny=0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3657600" cy="777240"/>
          </a:xfrm>
          <a:prstGeom prst="roundRect">
            <a:avLst>
              <a:gd name="adj" fmla="val 4706"/>
            </a:avLst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39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动态管理命令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8862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886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add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11680" y="38862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3886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del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54680" y="38862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154680" y="3886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clear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8680" y="41148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1148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list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11680" y="41148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011680" y="41148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hits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118872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状态化连接跟踪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377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rte_hash · 5元组键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查找复杂度 O(1) · per-lcore独立实例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状态机跟踪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28803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8803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15000" y="28803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28803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28803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28803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28803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28803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FIN/RST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52360" y="28803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43800" y="28803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28803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TIME_WAIT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3776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伪状态跟踪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3776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无连接 → 基于五元组+超时机制伪跟踪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37760" y="3840480"/>
            <a:ext cx="3474720" cy="54864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40万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并发会话容量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548640" y="45720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双栈：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统一ACL + 独立session6会话表 + 共享per-lcore隔离策略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核心模块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路由查找与进程间通信机制</a:t>
            </a:r>
            <a:endParaRPr lang="en-US" sz="2400" dirty="0"/>
          </a:p>
        </p:txBody>
      </p:sp>
      <p:pic>
        <p:nvPicPr>
          <p:cNvPr id="4" name="Image 0" descr="./imgs/IPv4快速路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22860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0" y="118872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1188720"/>
            <a:ext cx="21031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283464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LPM 路由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80360" y="1691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 算法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80360" y="1892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rte_lpm O(1)查找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880360" y="2148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LPM 匹配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80360" y="2350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最长前缀匹配路由表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8036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双栈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880360" y="2807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统一查找接口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880360" y="3108960"/>
            <a:ext cx="1828800" cy="1280160"/>
          </a:xfrm>
          <a:prstGeom prst="roundRect">
            <a:avLst>
              <a:gd name="adj" fmla="val 2857"/>
            </a:avLst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3154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 / NDP 解析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哈希表维护 IP→MAC 映射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挂起队列暂存未知MAC包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老化机制定期清理无效项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IPv6使用NDP替代ARP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29200" y="118872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IPC 通信机制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66360" y="1737360"/>
            <a:ext cx="45720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5166360" y="1737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15000" y="1737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共享内存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15000" y="19933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rte_memzone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15000" y="2194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15个共享结构体 · 配置/统计双向传输 · 只读零锁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166360" y="2651760"/>
            <a:ext cx="45720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5166360" y="26517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71500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无锁队列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715000" y="29077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rte_ring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0" y="3108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ACL命令/响应环 · MP/SC模式 · 1024容量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66360" y="3566160"/>
            <a:ext cx="45720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16636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71500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715000" y="3822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rte_atomic64_t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15000" y="4023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wmb/rmb内存屏障 · 配置一致性保证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" y="45720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设计效果：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绕开复杂分布式锁  ·  保证一致性  ·  通信延迟压至最低  ·  控制面/数据面独立演进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管理接口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 CLI 命令系统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337560"/>
          </a:xfrm>
          <a:prstGeom prst="roundRect">
            <a:avLst>
              <a:gd name="adj" fmla="val 1644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2801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2801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2070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fw-cli — nc 127.0.0.1 8086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 add allow 192.168.1.0/24 any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801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rule idx=1, version=2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002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 add deny proto=17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203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rule idx=2, version=3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04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 list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606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idx prio  src          dst     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10   192.168.1.0/24 any    allow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20   any          any     deny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209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stats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10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0: RX=1.2Mpps  TX=1.1Mpps  drop=0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list 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8130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[ESTABLISHED] 10.0.0.1:80  10.0.0.2:1234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0142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25+ 条 CLI 命令 · 9 大类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DPDK rte_cmdline 库 · TCP 8086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83080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7830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7830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 ACL规则CRUD + 命中统计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075688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0756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20756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 ACL规则CRUD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368296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368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3682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IPv4连接表查询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660904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6609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6609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IPv6连接表查询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953512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9535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/ route6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9535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路由管理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246120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2461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2461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端口收发包统计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38728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5387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ifcfg4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3538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IPv4端口配置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831336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38313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/ deny6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35040" y="38313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拒绝日志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123944"/>
            <a:ext cx="1280160" cy="2377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41239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/ ddos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0" y="41239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攻击防御 + 限速配置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管理接口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管理平台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65960" y="15087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508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组件库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65960" y="192024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5.5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233172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96596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客户端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27889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83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平台规模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611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554480" y="40233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611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423160" y="40233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自动刷新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个页面：仪表盘 · 拓扑 · ACL · 路由 · 端口 · DDoS · 会话 · 攻击演示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11880" y="1188720"/>
            <a:ext cx="498348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1188720"/>
            <a:ext cx="4983480" cy="292608"/>
          </a:xfrm>
          <a:prstGeom prst="rect">
            <a:avLst>
              <a:gd name="adj" fmla="val 15625"/>
            </a:avLst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3703320" y="12801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3867912" y="1280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4032504" y="12801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4251960" y="1234440"/>
            <a:ext cx="4251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123444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http://localhost:5173/dashboard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11880" y="1481328"/>
            <a:ext cx="1005840" cy="30449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37033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防火墙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11880" y="1874520"/>
            <a:ext cx="10058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0" y="187452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仪表盘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0" y="21488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拓扑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24231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ACL规则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0" y="26974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路由表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0" y="29718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端口配置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0" y="324612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DDoS防护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5204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会话表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0" y="3794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攻击演示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17720" y="148132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46720" y="15727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8183880" y="1481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09160" y="1892808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1984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09160" y="2276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pps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0" y="1892808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1984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69280" y="2276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pps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629400" y="1892808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1984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29400" y="2276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ACL规则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589520" y="1892808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1984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589520" y="2276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丢包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709160" y="2578608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25968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流量趋势 (pps)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892040" y="3291840"/>
            <a:ext cx="315884" cy="-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07924" y="3127248"/>
            <a:ext cx="31588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23807" y="3182112"/>
            <a:ext cx="315884" cy="-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39691" y="3017520"/>
            <a:ext cx="31588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55575" y="3072384"/>
            <a:ext cx="315884" cy="-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71458" y="2935224"/>
            <a:ext cx="315884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87342" y="3017520"/>
            <a:ext cx="315884" cy="-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03225" y="2907792"/>
            <a:ext cx="315884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19109" y="2990088"/>
            <a:ext cx="315884" cy="-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34993" y="2880360"/>
            <a:ext cx="31588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50876" y="2935224"/>
            <a:ext cx="315884" cy="274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9160" y="3584448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0FDF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00600" y="36027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最近拦截记录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800600" y="38130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12:34:56  UDP  10.0.0.1 → 8.8.8.8:53  [DENY]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800600" y="3995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12:34:55  TCP  192.168.1.100 → 80  [DENY]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800600" y="4178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12:34:50  UDP  10.0.0.5 → 1.1.1.1:53  [DENY]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548640" y="45720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85" name="Text 8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SPA：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 + 路由 + Pinia + 5s轮询 + ECharts  ·  </a:t>
            </a:r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17 REST API + SQLite 持久化 + 启动自动同步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性能优化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性能优化设计 7 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批量收发包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 32包/次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缓冲 ~100μs 排空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25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隔离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82880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每核独立会话/扫描/限速表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零跨核缓存行争用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OPT-02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18872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325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084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双缓冲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ctx[0] / ctx[1] 双份上下文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读路径始终无锁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24231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OPT-03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83464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3444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LPM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" y="347472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 算法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最长前缀匹配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0690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00400" y="283464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83464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97764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37560" y="347472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高速哈希会话表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实例化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40690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943600" y="283464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283464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08076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72084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无锁环队列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080760" y="347472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rte_ring MP/SC 模式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076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命令/响应零开销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0" y="40690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26060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48056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4617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234440" y="4663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94360" y="5120640"/>
            <a:ext cx="2331720" cy="0"/>
          </a:xfrm>
          <a:prstGeom prst="line">
            <a:avLst/>
          </a:prstGeom>
          <a:noFill/>
          <a:ln w="6350">
            <a:solidFill>
              <a:srgbClr val="F0FD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5212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rte_atomic64_t 共享配置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4360" y="5486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wmb/rmb 一致性保证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86000" y="57150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0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OPT-07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测试环境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功能测试环境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目标部署硬件 (Xeon E3 · RTL8111)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6400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Xeon E3-1230 v3 (4核8线程, 3.30GHz)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121408"/>
            <a:ext cx="6400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214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21214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Realtek RTL8111/8168 双口千兆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414016"/>
            <a:ext cx="6400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140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24140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Kingston DDR3 8GB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06624"/>
            <a:ext cx="6400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066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7066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金泰克 S300 120GB SSD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软件环境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 LTS · 内核 6.8 · DPDK 24.11 · GCC 11.4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566160"/>
            <a:ext cx="3657600" cy="822960"/>
          </a:xfrm>
          <a:prstGeom prst="roundRect">
            <a:avLst>
              <a:gd name="adj" fmla="val 4444"/>
            </a:avLst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AF_PACKET PMD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Realtek 无原生PMD，使用AF_PACKET软件轮询驱动；功能API与原生PMD完全兼容，不影响逻辑正确性验证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88720"/>
            <a:ext cx="38404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性能测试环境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VMware + VMXNET3 (DPDK原生支持)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783080"/>
            <a:ext cx="1737360" cy="128016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 VM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vCPU / 6GB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VMXNET3 网卡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 × 2MB 大页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 LTS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1783080"/>
            <a:ext cx="1737360" cy="1280160"/>
          </a:xfrm>
          <a:prstGeom prst="roundRect">
            <a:avLst>
              <a:gd name="adj" fmla="val 2857"/>
            </a:avLst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发包器 VM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vCPU / 2GB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VMXNET3 网卡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× 2MB 大页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全速发包模式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测试拓扑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429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VMnet2 传输测试流量  ·  VMnet3 接收转发后流量 (避免回流)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3703320"/>
            <a:ext cx="3566160" cy="6858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测试包大小：6 档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64B · 128B · 256B · 512B · 1024B · 1514B  (各 30s)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功能测试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功能测试结果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 数据包过滤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642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默认allow-all / deny src / deny dst-port / deny proto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002536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11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 优先级高于 deny any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249424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579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规则按添加顺序匹配，先匹配先命中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49631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048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命中规则在Web拒绝日志有记录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91440" cy="1600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 连接跟踪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1280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75564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6642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三次握手 → ESTABLISHED 状态正确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2002536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11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四次挥手 → 会话条目被清除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249424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1579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RST 复位 → 会话条目立即清除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2496312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048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流 → 伪状态跟踪 + 300s 超时清理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26080"/>
            <a:ext cx="91440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 CLI 命令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023360" y="30175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3493008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add/del/clear/list/hits 全部正确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3739896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6484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 stats 显示 RX/TX/drop 计数 + 链路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" y="3986784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8953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deny list / session list / ddos show 正常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1422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配置下发后数据面行为与预期一致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926080"/>
            <a:ext cx="91440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 Web 管理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229600" y="30175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892040" y="349300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个页面数据展示 + 交互操作正常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373989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36484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5s 自动轮询 5 个 API 端点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92040" y="39867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8953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规则增删前端→后端→数据面全链路生效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423367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0" y="41422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图表挂载初始化/卸载销毁正确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57200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572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27 个测试用例通过  ·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7  ·  会话 4  ·  CLI 7  ·  Web 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性能测试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性能测试结果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 vs 理论线速 (Mpps)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233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数据包大小 (B)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线速占比 (%)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937760" y="160020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937760" y="4023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数据包大小 (B)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4434840"/>
            <a:ext cx="4389120" cy="50292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434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≥512B 大包：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 &gt; 1Gbps，达到线速
</a:t>
            </a:r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64B/128B 小包：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 vSwitch + VMXNET3 虚拟化开销限制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46320" y="4434840"/>
            <a:ext cx="3749040" cy="50292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4434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丢包  ·  </a:t>
            </a:r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0.449 Mpps  ·  </a:t>
            </a:r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230 Mbps  ·  </a:t>
            </a:r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3.18 Gbps (1514B)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总结与展望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系统亮点与不足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系统亮点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数据面/控制面分离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842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PRIMARY/SECONDARY 进程解耦，独立演进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2677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2219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双栈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统一流水线，完整双栈覆盖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70662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06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6609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状态化连接跟踪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8620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O(1)查找 + TCP/UDP 全状态跟踪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14553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09981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CLI 双管理接口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3009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+ 17 REST API + 25 项 CLI 命令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58444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5387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配置持久化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7398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数据库 + 启动时自动同步规则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40233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无锁快速路径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1788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数据隔离 + 零拷贝批量处理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118872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1188720"/>
            <a:ext cx="28346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  存在的不足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182880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线性遍历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千条以上规则性能线性下降，尚未集成 rte_acl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269748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 不完整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扩展头部处理不全，NDP 实现较基础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3566160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9360" y="3520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攻击检测简单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仅基础SYN Flood检测，缺少更丰富检测算法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572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相比传统内核防火墙，显著降低中断/拷贝开销，大包场景下达到线速处理能力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总结与展望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工作总结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高性能数据面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DPDK 实现线速数据包处理流水线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13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完整双栈支持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542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 + 五元组ACL + 状态化跟踪 + LPM路由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437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IPC 机制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723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共享内存 + 无锁环 + 双缓冲 + 版本号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74136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74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完整管理链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027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Go + C 控制/数据平面全栈打通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044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无锁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133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DPDK 在高速网络环境下的可行性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188720"/>
            <a:ext cx="393192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 未来展望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783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大规模优化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rte_acl (HyperSplit) 提升千条规则性能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359152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2313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DPI 深度包检测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5420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支持应用层协议识别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889504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8437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NUMA 感知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0723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NUMA 节点内存分配优化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419856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337413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eBPF/XDP 加速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60273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辅助数据平面加速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950208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39044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高速网卡支持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1330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i40e / mlx5 等 10G/40G 网卡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72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感谢各位老师的聆听与指导  ·  欢迎批评指正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 谢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9728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感谢指导老师 徐晶 教授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在毕业设计推进期间的悉心指导、耐心帮助与专业建议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感谢实验室同学 · 感谢贵州大学计算机科学与技术学院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感谢各位老师的聆听与指导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基于DPDK的高性能数据包防火墙设计与实现 - 毕业答辩 v3.0</dc:title>
  <dc:subject>PptxGenJS Presentation</dc:subject>
  <dc:creator>杨毅</dc:creator>
  <cp:lastModifiedBy>杨毅</cp:lastModifiedBy>
  <cp:revision>1</cp:revision>
  <dcterms:created xsi:type="dcterms:W3CDTF">2026-06-02T09:02:58Z</dcterms:created>
  <dcterms:modified xsi:type="dcterms:W3CDTF">2026-06-02T09:02:58Z</dcterms:modified>
</cp:coreProperties>
</file>